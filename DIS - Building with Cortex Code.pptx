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  <p:sldMasterId id="214748367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  <p:embeddedFont>
      <p:font typeface="Inter"/>
      <p:regular r:id="rId30"/>
      <p:bold r:id="rId31"/>
      <p:italic r:id="rId32"/>
      <p:boldItalic r:id="rId33"/>
    </p:embeddedFont>
    <p:embeddedFont>
      <p:font typeface="Arial Black"/>
      <p:regular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4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Lato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Lato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Inter-bold.fntdata"/><Relationship Id="rId30" Type="http://schemas.openxmlformats.org/officeDocument/2006/relationships/font" Target="fonts/Inter-regular.fntdata"/><Relationship Id="rId11" Type="http://schemas.openxmlformats.org/officeDocument/2006/relationships/slide" Target="slides/slide4.xml"/><Relationship Id="rId33" Type="http://schemas.openxmlformats.org/officeDocument/2006/relationships/font" Target="fonts/Inter-boldItalic.fntdata"/><Relationship Id="rId10" Type="http://schemas.openxmlformats.org/officeDocument/2006/relationships/slide" Target="slides/slide3.xml"/><Relationship Id="rId32" Type="http://schemas.openxmlformats.org/officeDocument/2006/relationships/font" Target="fonts/Inter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schemas.openxmlformats.org/officeDocument/2006/relationships/font" Target="fonts/ArialBlack-regular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f105dcac9_0_1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f105dcac9_0_1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bdf50c73e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bdf50c73e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sp>
        <p:nvSpPr>
          <p:cNvPr id="156" name="Google Shape;156;g3dbdf50c73e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bdf50c73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dbdf50c73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bdf50c73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dbdf50c73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Aware of all data, anywhere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Enterprise-ready: extensible &amp; governed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Empowers all users —from technical experts to non-technical teams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bdf50c73e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dbdf50c73e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bdf50c73e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dbdf50c73e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dde28155d6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dde28155d6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dde28155d6_1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dde28155d6_1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dde28155d6_1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dde28155d6_1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dde28155d6_1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dde28155d6_1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dde28155d6_1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dde28155d6_1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dde28155d6_1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dde28155d6_1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dde28155d6_1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dde28155d6_1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dde28155d6_1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dde28155d6_1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53" name="Google Shape;5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 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57" name="Google Shape;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it22 - Sky Background 1">
  <p:cSld name="Summit22 - Divider1_1_3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279" y="-9750"/>
            <a:ext cx="9178665" cy="516299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76225" y="1282900"/>
            <a:ext cx="2267400" cy="30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/>
            </a:lvl5pPr>
            <a:lvl6pPr indent="-3048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1" name="Google Shape;61;p15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2022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5"/>
          <p:cNvSpPr txBox="1"/>
          <p:nvPr>
            <p:ph idx="2" type="body"/>
          </p:nvPr>
        </p:nvSpPr>
        <p:spPr>
          <a:xfrm>
            <a:off x="345195" y="228600"/>
            <a:ext cx="84537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01">
  <p:cSld name="Thank You">
    <p:bg>
      <p:bgPr>
        <a:solidFill>
          <a:schemeClr val="accen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457200" y="4444162"/>
            <a:ext cx="1444930" cy="330450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b="1" sz="5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16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5917776" y="1776875"/>
            <a:ext cx="4395610" cy="4179094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>
              <a:alpha val="1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1 1">
  <p:cSld name="Data Cloud_1_1_1">
    <p:bg>
      <p:bgPr>
        <a:solidFill>
          <a:schemeClr val="accen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18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76" name="Google Shape;76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8"/>
            <p:cNvPicPr preferRelativeResize="0"/>
            <p:nvPr/>
          </p:nvPicPr>
          <p:blipFill rotWithShape="1">
            <a:blip r:embed="rId3">
              <a:alphaModFix/>
            </a:blip>
            <a:srcRect b="140" l="0" r="0" t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18"/>
            <p:cNvPicPr preferRelativeResize="0"/>
            <p:nvPr/>
          </p:nvPicPr>
          <p:blipFill rotWithShape="1">
            <a:blip r:embed="rId4">
              <a:alphaModFix/>
            </a:blip>
            <a:srcRect b="140" l="0" r="0" t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0" name="Google Shape;80;p18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81" name="Google Shape;81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8"/>
            <p:cNvPicPr preferRelativeResize="0"/>
            <p:nvPr/>
          </p:nvPicPr>
          <p:blipFill rotWithShape="1">
            <a:blip r:embed="rId3">
              <a:alphaModFix/>
            </a:blip>
            <a:srcRect b="140" l="0" r="0" t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8"/>
            <p:cNvPicPr preferRelativeResize="0"/>
            <p:nvPr/>
          </p:nvPicPr>
          <p:blipFill rotWithShape="1">
            <a:blip r:embed="rId4">
              <a:alphaModFix/>
            </a:blip>
            <a:srcRect b="140" l="0" r="0" t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" name="Google Shape;84;p18"/>
          <p:cNvSpPr txBox="1"/>
          <p:nvPr>
            <p:ph type="title"/>
          </p:nvPr>
        </p:nvSpPr>
        <p:spPr>
          <a:xfrm>
            <a:off x="366600" y="1188720"/>
            <a:ext cx="53949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Montserrat"/>
              <a:buNone/>
              <a:defRPr i="0" sz="4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5" name="Google Shape;85;p18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18"/>
          <p:cNvSpPr/>
          <p:nvPr/>
        </p:nvSpPr>
        <p:spPr>
          <a:xfrm>
            <a:off x="457200" y="371333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8"/>
          <p:cNvSpPr/>
          <p:nvPr/>
        </p:nvSpPr>
        <p:spPr>
          <a:xfrm>
            <a:off x="494456" y="4901423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274320" y="4880837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3">
  <p:cSld name="Quote - Violet_1_1_2_1_1">
    <p:bg>
      <p:bgPr>
        <a:solidFill>
          <a:schemeClr val="dk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9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91" name="Google Shape;91;p19"/>
            <p:cNvPicPr preferRelativeResize="0"/>
            <p:nvPr/>
          </p:nvPicPr>
          <p:blipFill>
            <a:blip r:embed="rId2">
              <a:alphaModFix amt="72000"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9"/>
            <p:cNvPicPr preferRelativeResize="0"/>
            <p:nvPr/>
          </p:nvPicPr>
          <p:blipFill rotWithShape="1">
            <a:blip r:embed="rId3">
              <a:alphaModFix amt="72000"/>
            </a:blip>
            <a:srcRect b="140" l="0" r="0" t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9"/>
            <p:cNvPicPr preferRelativeResize="0"/>
            <p:nvPr/>
          </p:nvPicPr>
          <p:blipFill rotWithShape="1">
            <a:blip r:embed="rId4">
              <a:alphaModFix amt="72000"/>
            </a:blip>
            <a:srcRect b="140" l="0" r="0" t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9"/>
          <p:cNvSpPr/>
          <p:nvPr/>
        </p:nvSpPr>
        <p:spPr>
          <a:xfrm>
            <a:off x="494456" y="4901423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274320" y="4880837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2 2">
  <p:cSld name="Multi-use layout_4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/>
          <p:nvPr/>
        </p:nvSpPr>
        <p:spPr>
          <a:xfrm>
            <a:off x="494456" y="4901423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8390386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20"/>
          <p:cNvSpPr/>
          <p:nvPr/>
        </p:nvSpPr>
        <p:spPr>
          <a:xfrm>
            <a:off x="0" y="248514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0"/>
          <p:cNvSpPr txBox="1"/>
          <p:nvPr/>
        </p:nvSpPr>
        <p:spPr>
          <a:xfrm>
            <a:off x="256432" y="227485"/>
            <a:ext cx="87435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1" i="0" sz="2700" u="none" cap="none" strike="noStrike">
              <a:solidFill>
                <a:srgbClr val="1156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20"/>
          <p:cNvSpPr/>
          <p:nvPr/>
        </p:nvSpPr>
        <p:spPr>
          <a:xfrm>
            <a:off x="274320" y="4880837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1 2">
  <p:cSld name="Data Cloud_1_1_3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21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105" name="Google Shape;105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21"/>
            <p:cNvPicPr preferRelativeResize="0"/>
            <p:nvPr/>
          </p:nvPicPr>
          <p:blipFill rotWithShape="1">
            <a:blip r:embed="rId3">
              <a:alphaModFix/>
            </a:blip>
            <a:srcRect b="140" l="0" r="0" t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21"/>
            <p:cNvPicPr preferRelativeResize="0"/>
            <p:nvPr/>
          </p:nvPicPr>
          <p:blipFill rotWithShape="1">
            <a:blip r:embed="rId4">
              <a:alphaModFix/>
            </a:blip>
            <a:srcRect b="140" l="0" r="0" t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" name="Google Shape;108;p21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109" name="Google Shape;109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21"/>
            <p:cNvPicPr preferRelativeResize="0"/>
            <p:nvPr/>
          </p:nvPicPr>
          <p:blipFill rotWithShape="1">
            <a:blip r:embed="rId3">
              <a:alphaModFix/>
            </a:blip>
            <a:srcRect b="140" l="0" r="0" t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21"/>
            <p:cNvPicPr preferRelativeResize="0"/>
            <p:nvPr/>
          </p:nvPicPr>
          <p:blipFill rotWithShape="1">
            <a:blip r:embed="rId4">
              <a:alphaModFix/>
            </a:blip>
            <a:srcRect b="140" l="0" r="0" t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p21"/>
          <p:cNvSpPr txBox="1"/>
          <p:nvPr>
            <p:ph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1"/>
          <p:cNvSpPr txBox="1"/>
          <p:nvPr>
            <p:ph idx="2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21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1"/>
          <p:cNvSpPr txBox="1"/>
          <p:nvPr>
            <p:ph idx="3" type="title"/>
          </p:nvPr>
        </p:nvSpPr>
        <p:spPr>
          <a:xfrm>
            <a:off x="366600" y="1188725"/>
            <a:ext cx="74109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i="0" sz="44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2pPr>
            <a:lvl3pPr lvl="2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3pPr>
            <a:lvl4pPr lvl="3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4pPr>
            <a:lvl5pPr lvl="4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5pPr>
            <a:lvl6pPr lvl="5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6pPr>
            <a:lvl7pPr lvl="6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7pPr>
            <a:lvl8pPr lvl="7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8pPr>
            <a:lvl9pPr lvl="8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16" name="Google Shape;116;p21"/>
          <p:cNvSpPr/>
          <p:nvPr/>
        </p:nvSpPr>
        <p:spPr>
          <a:xfrm>
            <a:off x="494456" y="4901423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1"/>
          <p:cNvSpPr/>
          <p:nvPr/>
        </p:nvSpPr>
        <p:spPr>
          <a:xfrm>
            <a:off x="274320" y="4880837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02">
  <p:cSld name="Thank You_1">
    <p:bg>
      <p:bgPr>
        <a:solidFill>
          <a:schemeClr val="accen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>
            <a:off x="457200" y="4444162"/>
            <a:ext cx="1444930" cy="330450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b="1" sz="52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22"/>
          <p:cNvSpPr/>
          <p:nvPr/>
        </p:nvSpPr>
        <p:spPr>
          <a:xfrm>
            <a:off x="494456" y="4901423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2"/>
          <p:cNvSpPr/>
          <p:nvPr/>
        </p:nvSpPr>
        <p:spPr>
          <a:xfrm>
            <a:off x="274320" y="4880837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">
  <p:cSld name="Multi-use layout_5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23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3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127" name="Google Shape;127;p23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3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3"/>
          <p:cNvSpPr txBox="1"/>
          <p:nvPr>
            <p:ph type="title"/>
          </p:nvPr>
        </p:nvSpPr>
        <p:spPr>
          <a:xfrm>
            <a:off x="36575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Layout">
  <p:cSld name="One Column Layout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65750" y="274323"/>
            <a:ext cx="83484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65750" y="1371600"/>
            <a:ext cx="41604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34" name="Google Shape;134;p24"/>
          <p:cNvSpPr txBox="1"/>
          <p:nvPr>
            <p:ph idx="2" type="body"/>
          </p:nvPr>
        </p:nvSpPr>
        <p:spPr>
          <a:xfrm>
            <a:off x="4617721" y="1371600"/>
            <a:ext cx="4160400" cy="33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b="0" i="0" lang="en" sz="60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4"/>
          <p:cNvSpPr txBox="1"/>
          <p:nvPr>
            <p:ph idx="3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139" name="Google Shape;139;p24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66550" y="228600"/>
            <a:ext cx="832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b="1" i="0" sz="2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65750" y="1280150"/>
            <a:ext cx="83202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Char char="•"/>
              <a:defRPr i="0" sz="18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Char char="•"/>
              <a:defRPr i="0" sz="18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•"/>
              <a:defRPr i="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•"/>
              <a:defRPr i="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•"/>
              <a:defRPr i="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•"/>
              <a:defRPr i="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•"/>
              <a:defRPr i="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•"/>
              <a:defRPr i="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400"/>
              <a:buFont typeface="Montserrat"/>
              <a:buChar char="•"/>
              <a:defRPr i="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1pPr>
            <a:lvl2pPr indent="0" lvl="1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2pPr>
            <a:lvl3pPr indent="0" lvl="2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3pPr>
            <a:lvl4pPr indent="0" lvl="3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4pPr>
            <a:lvl5pPr indent="0" lvl="4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5pPr>
            <a:lvl6pPr indent="0" lvl="5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6pPr>
            <a:lvl7pPr indent="0" lvl="6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7pPr>
            <a:lvl8pPr indent="0" lvl="7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8pPr>
            <a:lvl9pPr indent="0" lvl="8" marL="0" marR="0" algn="r">
              <a:spcBef>
                <a:spcPts val="0"/>
              </a:spcBef>
              <a:buNone/>
              <a:defRPr i="0" sz="600">
                <a:solidFill>
                  <a:srgbClr val="92929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</p:sldLayoutIdLst>
  <mc:AlternateContent>
    <mc:Choice Requires="p14">
      <p:transition spd="med" p14:dur="600">
        <p:fade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26B43"/>
          </p15:clr>
        </p15:guide>
        <p15:guide id="2" orient="horz" pos="403">
          <p15:clr>
            <a:srgbClr val="F26B43"/>
          </p15:clr>
        </p15:guide>
        <p15:guide id="3" orient="horz" pos="1620">
          <p15:clr>
            <a:srgbClr val="EA4335"/>
          </p15:clr>
        </p15:guide>
        <p15:guide id="4" orient="horz" pos="2952">
          <p15:clr>
            <a:srgbClr val="F26B43"/>
          </p15:clr>
        </p15:guide>
        <p15:guide id="5" pos="288">
          <p15:clr>
            <a:srgbClr val="EA4335"/>
          </p15:clr>
        </p15:guide>
        <p15:guide id="6" pos="5472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2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3.gif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gif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27"/>
          <p:cNvSpPr txBox="1"/>
          <p:nvPr>
            <p:ph type="title"/>
          </p:nvPr>
        </p:nvSpPr>
        <p:spPr>
          <a:xfrm>
            <a:off x="292825" y="132173"/>
            <a:ext cx="8221800" cy="185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chemeClr val="lt1"/>
                </a:solidFill>
              </a:rPr>
              <a:t>“Building with </a:t>
            </a:r>
            <a:r>
              <a:rPr lang="en" sz="4100"/>
              <a:t>Cortex </a:t>
            </a:r>
            <a:r>
              <a:rPr lang="en" sz="4100"/>
              <a:t>Code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27"/>
          <p:cNvSpPr txBox="1"/>
          <p:nvPr>
            <p:ph idx="4294967295" type="title"/>
          </p:nvPr>
        </p:nvSpPr>
        <p:spPr>
          <a:xfrm>
            <a:off x="329700" y="4045325"/>
            <a:ext cx="4516800" cy="7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100"/>
              <a:buFont typeface="Arial"/>
              <a:buNone/>
            </a:pPr>
            <a:r>
              <a:t/>
            </a:r>
            <a:endParaRPr b="0" sz="1300">
              <a:solidFill>
                <a:srgbClr val="5B5B5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100"/>
              <a:buFont typeface="Arial"/>
              <a:buNone/>
            </a:pPr>
            <a:r>
              <a:t/>
            </a:r>
            <a:endParaRPr b="0" sz="800">
              <a:solidFill>
                <a:srgbClr val="5B5B5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100"/>
              <a:buFont typeface="Arial"/>
              <a:buNone/>
            </a:pPr>
            <a:r>
              <a:rPr lang="en" sz="1300"/>
              <a:t>May</a:t>
            </a:r>
            <a:r>
              <a:rPr lang="en" sz="1300"/>
              <a:t> 2026</a:t>
            </a:r>
            <a:endParaRPr sz="1300"/>
          </a:p>
        </p:txBody>
      </p:sp>
      <p:sp>
        <p:nvSpPr>
          <p:cNvPr id="149" name="Google Shape;149;p27"/>
          <p:cNvSpPr txBox="1"/>
          <p:nvPr/>
        </p:nvSpPr>
        <p:spPr>
          <a:xfrm>
            <a:off x="3454322" y="3423956"/>
            <a:ext cx="34797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5900" lIns="85900" spcFirstLastPara="1" rIns="85900" wrap="square" tIns="85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9"/>
              <a:buFont typeface="Arial"/>
              <a:buNone/>
            </a:pPr>
            <a:r>
              <a:rPr b="1" lang="en" sz="2109">
                <a:solidFill>
                  <a:srgbClr val="FFFFFF"/>
                </a:solidFill>
              </a:rPr>
              <a:t>Thomas Dahlberg</a:t>
            </a:r>
            <a:endParaRPr b="1" i="0" sz="210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7"/>
          <p:cNvSpPr txBox="1"/>
          <p:nvPr/>
        </p:nvSpPr>
        <p:spPr>
          <a:xfrm>
            <a:off x="3454319" y="3886497"/>
            <a:ext cx="31140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900" lIns="85900" spcFirstLastPara="1" rIns="85900" wrap="square" tIns="85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1"/>
              <a:buFont typeface="Arial"/>
              <a:buNone/>
            </a:pPr>
            <a:r>
              <a:rPr lang="en" sz="1481">
                <a:solidFill>
                  <a:srgbClr val="FFFFFF"/>
                </a:solidFill>
              </a:rPr>
              <a:t>Senior </a:t>
            </a:r>
            <a:r>
              <a:rPr lang="en" sz="1481">
                <a:solidFill>
                  <a:srgbClr val="FFFFFF"/>
                </a:solidFill>
              </a:rPr>
              <a:t>Solution Engineer </a:t>
            </a:r>
            <a:endParaRPr sz="1481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1"/>
              <a:buFont typeface="Arial"/>
              <a:buNone/>
            </a:pPr>
            <a:r>
              <a:rPr lang="en" sz="1481">
                <a:solidFill>
                  <a:srgbClr val="FFFFFF"/>
                </a:solidFill>
              </a:rPr>
              <a:t>Snowflake</a:t>
            </a:r>
            <a:endParaRPr sz="1481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1"/>
              <a:buFont typeface="Arial"/>
              <a:buNone/>
            </a:pPr>
            <a:r>
              <a:t/>
            </a:r>
            <a:endParaRPr sz="1481">
              <a:solidFill>
                <a:srgbClr val="FFFFFF"/>
              </a:solidFill>
            </a:endParaRPr>
          </a:p>
        </p:txBody>
      </p:sp>
      <p:pic>
        <p:nvPicPr>
          <p:cNvPr id="151" name="Google Shape;15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2175" y="2307454"/>
            <a:ext cx="2134500" cy="2134500"/>
          </a:xfrm>
          <a:prstGeom prst="ellipse">
            <a:avLst/>
          </a:prstGeom>
          <a:noFill/>
          <a:ln cap="flat" cmpd="sng" w="234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2" name="Google Shape;15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950" y="2427923"/>
            <a:ext cx="1756345" cy="175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8" name="Google Shape;158;p28"/>
          <p:cNvPicPr preferRelativeResize="0"/>
          <p:nvPr/>
        </p:nvPicPr>
        <p:blipFill rotWithShape="1">
          <a:blip r:embed="rId3">
            <a:alphaModFix amt="10000"/>
          </a:blip>
          <a:srcRect b="0" l="-30" r="-20" t="0"/>
          <a:stretch/>
        </p:blipFill>
        <p:spPr>
          <a:xfrm>
            <a:off x="-50063" y="5997321"/>
            <a:ext cx="800329" cy="914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9" name="Google Shape;159;p28"/>
          <p:cNvPicPr preferRelativeResize="0"/>
          <p:nvPr/>
        </p:nvPicPr>
        <p:blipFill rotWithShape="1">
          <a:blip r:embed="rId4">
            <a:alphaModFix/>
          </a:blip>
          <a:srcRect b="0" l="-1282" r="-1282" t="0"/>
          <a:stretch/>
        </p:blipFill>
        <p:spPr>
          <a:xfrm>
            <a:off x="-845961" y="1250213"/>
            <a:ext cx="164592" cy="142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p28"/>
          <p:cNvPicPr preferRelativeResize="0"/>
          <p:nvPr/>
        </p:nvPicPr>
        <p:blipFill rotWithShape="1">
          <a:blip r:embed="rId5">
            <a:alphaModFix/>
          </a:blip>
          <a:srcRect b="-80" l="0" r="0" t="-80"/>
          <a:stretch/>
        </p:blipFill>
        <p:spPr>
          <a:xfrm>
            <a:off x="8046491" y="5722316"/>
            <a:ext cx="10698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8"/>
          <p:cNvSpPr txBox="1"/>
          <p:nvPr/>
        </p:nvSpPr>
        <p:spPr>
          <a:xfrm>
            <a:off x="8153477" y="5711342"/>
            <a:ext cx="400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Commit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8"/>
          <p:cNvSpPr txBox="1"/>
          <p:nvPr>
            <p:ph type="title"/>
          </p:nvPr>
        </p:nvSpPr>
        <p:spPr>
          <a:xfrm>
            <a:off x="365750" y="274323"/>
            <a:ext cx="834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Cortex Code: AI Coding Agent for Data Teams</a:t>
            </a:r>
            <a:endParaRPr b="1" sz="2000"/>
          </a:p>
        </p:txBody>
      </p:sp>
      <p:sp>
        <p:nvSpPr>
          <p:cNvPr id="163" name="Google Shape;163;p28"/>
          <p:cNvSpPr/>
          <p:nvPr/>
        </p:nvSpPr>
        <p:spPr>
          <a:xfrm>
            <a:off x="3400950" y="1164300"/>
            <a:ext cx="5424000" cy="3702600"/>
          </a:xfrm>
          <a:prstGeom prst="roundRect">
            <a:avLst>
              <a:gd fmla="val 7083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8"/>
          <p:cNvSpPr/>
          <p:nvPr/>
        </p:nvSpPr>
        <p:spPr>
          <a:xfrm>
            <a:off x="304800" y="1190275"/>
            <a:ext cx="2754300" cy="3011700"/>
          </a:xfrm>
          <a:prstGeom prst="roundRect">
            <a:avLst>
              <a:gd fmla="val 7083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8"/>
          <p:cNvSpPr txBox="1"/>
          <p:nvPr/>
        </p:nvSpPr>
        <p:spPr>
          <a:xfrm>
            <a:off x="487091" y="1311250"/>
            <a:ext cx="171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THE CURRENT STATE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419550" y="1770550"/>
            <a:ext cx="2639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Traditional Dev Friction</a:t>
            </a:r>
            <a:endParaRPr b="1" sz="1700">
              <a:solidFill>
                <a:schemeClr val="dk1"/>
              </a:solidFill>
            </a:endParaRPr>
          </a:p>
        </p:txBody>
      </p:sp>
      <p:cxnSp>
        <p:nvCxnSpPr>
          <p:cNvPr id="167" name="Google Shape;167;p28"/>
          <p:cNvCxnSpPr/>
          <p:nvPr/>
        </p:nvCxnSpPr>
        <p:spPr>
          <a:xfrm>
            <a:off x="499875" y="1718179"/>
            <a:ext cx="5163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8"/>
          <p:cNvSpPr txBox="1"/>
          <p:nvPr/>
        </p:nvSpPr>
        <p:spPr>
          <a:xfrm>
            <a:off x="520364" y="2269325"/>
            <a:ext cx="24444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1567F"/>
                </a:solidFill>
              </a:rPr>
              <a:t>FRAGMENTED TOOLCHAIN</a:t>
            </a:r>
            <a:endParaRPr b="1" sz="1100">
              <a:solidFill>
                <a:srgbClr val="11567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</a:rPr>
              <a:t>Workflows spanning dbt, Airflow, SQL, and Notebooks → constant context switching.</a:t>
            </a:r>
            <a:endParaRPr sz="1000">
              <a:solidFill>
                <a:srgbClr val="666666"/>
              </a:solidFill>
            </a:endParaRPr>
          </a:p>
        </p:txBody>
      </p:sp>
      <p:sp>
        <p:nvSpPr>
          <p:cNvPr id="169" name="Google Shape;169;p28"/>
          <p:cNvSpPr txBox="1"/>
          <p:nvPr/>
        </p:nvSpPr>
        <p:spPr>
          <a:xfrm>
            <a:off x="520364" y="2884600"/>
            <a:ext cx="24444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1567F"/>
                </a:solidFill>
              </a:rPr>
              <a:t>SLOW ITERATION</a:t>
            </a:r>
            <a:endParaRPr b="1" sz="1100">
              <a:solidFill>
                <a:srgbClr val="11567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</a:rPr>
              <a:t>Manual refactoring and tribal knowledge slow debugging and deployments.</a:t>
            </a:r>
            <a:endParaRPr sz="1000">
              <a:solidFill>
                <a:srgbClr val="666666"/>
              </a:solidFill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520364" y="3499875"/>
            <a:ext cx="24444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1567F"/>
                </a:solidFill>
              </a:rPr>
              <a:t>GOVERNANCE FRICTION</a:t>
            </a:r>
            <a:endParaRPr b="1" sz="1100">
              <a:solidFill>
                <a:srgbClr val="11567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</a:rPr>
              <a:t>Access controls and policies bottleneck rapid prototyping.</a:t>
            </a:r>
            <a:endParaRPr sz="1000">
              <a:solidFill>
                <a:srgbClr val="666666"/>
              </a:solidFill>
            </a:endParaRPr>
          </a:p>
        </p:txBody>
      </p:sp>
      <p:sp>
        <p:nvSpPr>
          <p:cNvPr id="171" name="Google Shape;171;p28"/>
          <p:cNvSpPr txBox="1"/>
          <p:nvPr/>
        </p:nvSpPr>
        <p:spPr>
          <a:xfrm>
            <a:off x="3616050" y="1771100"/>
            <a:ext cx="5208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AI-Powered Development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</a:rPr>
              <a:t>From natural language to production-ready code across your entire data stack. </a:t>
            </a:r>
            <a:r>
              <a:rPr b="1" lang="en" sz="1100">
                <a:solidFill>
                  <a:srgbClr val="666666"/>
                </a:solidFill>
              </a:rPr>
              <a:t>CLI &amp; in Snowsight.</a:t>
            </a:r>
            <a:endParaRPr b="1" sz="1100">
              <a:solidFill>
                <a:srgbClr val="666666"/>
              </a:solidFill>
            </a:endParaRPr>
          </a:p>
        </p:txBody>
      </p:sp>
      <p:sp>
        <p:nvSpPr>
          <p:cNvPr id="172" name="Google Shape;172;p28"/>
          <p:cNvSpPr txBox="1"/>
          <p:nvPr/>
        </p:nvSpPr>
        <p:spPr>
          <a:xfrm>
            <a:off x="3717805" y="1311250"/>
            <a:ext cx="171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accent1"/>
                </a:solidFill>
              </a:rPr>
              <a:t>THE SOLUTION</a:t>
            </a:r>
            <a:endParaRPr b="1" sz="1100">
              <a:solidFill>
                <a:schemeClr val="accent1"/>
              </a:solidFill>
            </a:endParaRPr>
          </a:p>
        </p:txBody>
      </p:sp>
      <p:cxnSp>
        <p:nvCxnSpPr>
          <p:cNvPr id="173" name="Google Shape;173;p28"/>
          <p:cNvCxnSpPr/>
          <p:nvPr/>
        </p:nvCxnSpPr>
        <p:spPr>
          <a:xfrm>
            <a:off x="3730589" y="1718179"/>
            <a:ext cx="5163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4" name="Google Shape;174;p28"/>
          <p:cNvPicPr preferRelativeResize="0"/>
          <p:nvPr/>
        </p:nvPicPr>
        <p:blipFill rotWithShape="1">
          <a:blip r:embed="rId6">
            <a:alphaModFix/>
          </a:blip>
          <a:srcRect b="12952" l="725" r="0" t="7392"/>
          <a:stretch/>
        </p:blipFill>
        <p:spPr>
          <a:xfrm>
            <a:off x="3765225" y="2609125"/>
            <a:ext cx="4663651" cy="2017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/>
        </p:nvSpPr>
        <p:spPr>
          <a:xfrm>
            <a:off x="240403" y="221213"/>
            <a:ext cx="8080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" sz="2400">
                <a:solidFill>
                  <a:srgbClr val="11567F"/>
                </a:solidFill>
                <a:latin typeface="Montserrat"/>
                <a:ea typeface="Montserrat"/>
                <a:cs typeface="Montserrat"/>
                <a:sym typeface="Montserrat"/>
              </a:rPr>
              <a:t>The Right Tool for Data Teams</a:t>
            </a:r>
            <a:endParaRPr b="1" sz="2400">
              <a:solidFill>
                <a:srgbClr val="11567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An AI Coding Agent built to get you to production faster</a:t>
            </a:r>
            <a:endParaRPr b="1" sz="17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1" sz="2400">
              <a:solidFill>
                <a:srgbClr val="1156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0" name="Google Shape;18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5" y="1983519"/>
            <a:ext cx="8969597" cy="128003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9"/>
          <p:cNvSpPr/>
          <p:nvPr/>
        </p:nvSpPr>
        <p:spPr>
          <a:xfrm>
            <a:off x="952504" y="907125"/>
            <a:ext cx="7064400" cy="3466800"/>
          </a:xfrm>
          <a:prstGeom prst="roundRect">
            <a:avLst>
              <a:gd fmla="val 3111" name="adj"/>
            </a:avLst>
          </a:prstGeom>
          <a:solidFill>
            <a:srgbClr val="FFFFFF"/>
          </a:solidFill>
          <a:ln cap="flat" cmpd="sng" w="24925">
            <a:solidFill>
              <a:srgbClr val="29B5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89675" lIns="89675" spcFirstLastPara="1" rIns="89675" wrap="square" tIns="896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6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29"/>
          <p:cNvSpPr/>
          <p:nvPr/>
        </p:nvSpPr>
        <p:spPr>
          <a:xfrm>
            <a:off x="1310589" y="4216874"/>
            <a:ext cx="1168800" cy="299700"/>
          </a:xfrm>
          <a:prstGeom prst="roundRect">
            <a:avLst>
              <a:gd fmla="val 50000" name="adj"/>
            </a:avLst>
          </a:prstGeom>
          <a:solidFill>
            <a:srgbClr val="29B5E8"/>
          </a:solidFill>
          <a:ln cap="flat" cmpd="sng" w="9350">
            <a:solidFill>
              <a:srgbClr val="29B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675" lIns="89675" spcFirstLastPara="1" rIns="89675" wrap="square" tIns="89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85">
                <a:solidFill>
                  <a:srgbClr val="FFFFFF"/>
                </a:solidFill>
              </a:rPr>
              <a:t>INTELLIGENCE</a:t>
            </a:r>
            <a:endParaRPr b="1" sz="785">
              <a:solidFill>
                <a:srgbClr val="FFFFFF"/>
              </a:solidFill>
            </a:endParaRPr>
          </a:p>
        </p:txBody>
      </p:sp>
      <p:sp>
        <p:nvSpPr>
          <p:cNvPr id="183" name="Google Shape;183;p29"/>
          <p:cNvSpPr/>
          <p:nvPr/>
        </p:nvSpPr>
        <p:spPr>
          <a:xfrm>
            <a:off x="3037071" y="4225427"/>
            <a:ext cx="1168800" cy="299700"/>
          </a:xfrm>
          <a:prstGeom prst="roundRect">
            <a:avLst>
              <a:gd fmla="val 50000" name="adj"/>
            </a:avLst>
          </a:prstGeom>
          <a:solidFill>
            <a:srgbClr val="29B5E8"/>
          </a:solidFill>
          <a:ln cap="flat" cmpd="sng" w="9350">
            <a:solidFill>
              <a:srgbClr val="29B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675" lIns="89675" spcFirstLastPara="1" rIns="89675" wrap="square" tIns="89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85">
                <a:solidFill>
                  <a:srgbClr val="FFFFFF"/>
                </a:solidFill>
              </a:rPr>
              <a:t>RELEVANCE</a:t>
            </a:r>
            <a:endParaRPr b="1" sz="785">
              <a:solidFill>
                <a:srgbClr val="FFFFFF"/>
              </a:solidFill>
            </a:endParaRPr>
          </a:p>
        </p:txBody>
      </p:sp>
      <p:sp>
        <p:nvSpPr>
          <p:cNvPr id="184" name="Google Shape;184;p29"/>
          <p:cNvSpPr/>
          <p:nvPr/>
        </p:nvSpPr>
        <p:spPr>
          <a:xfrm>
            <a:off x="4811385" y="4225427"/>
            <a:ext cx="1168800" cy="299700"/>
          </a:xfrm>
          <a:prstGeom prst="roundRect">
            <a:avLst>
              <a:gd fmla="val 50000" name="adj"/>
            </a:avLst>
          </a:prstGeom>
          <a:solidFill>
            <a:srgbClr val="29B5E8"/>
          </a:solidFill>
          <a:ln cap="flat" cmpd="sng" w="9350">
            <a:solidFill>
              <a:srgbClr val="29B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675" lIns="89675" spcFirstLastPara="1" rIns="89675" wrap="square" tIns="89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85">
                <a:solidFill>
                  <a:srgbClr val="FFFFFF"/>
                </a:solidFill>
              </a:rPr>
              <a:t>INTEGRATION</a:t>
            </a:r>
            <a:endParaRPr b="1" sz="785">
              <a:solidFill>
                <a:srgbClr val="FFFFFF"/>
              </a:solidFill>
            </a:endParaRPr>
          </a:p>
        </p:txBody>
      </p:sp>
      <p:sp>
        <p:nvSpPr>
          <p:cNvPr id="185" name="Google Shape;185;p29"/>
          <p:cNvSpPr/>
          <p:nvPr/>
        </p:nvSpPr>
        <p:spPr>
          <a:xfrm>
            <a:off x="6490058" y="4235575"/>
            <a:ext cx="1168800" cy="299700"/>
          </a:xfrm>
          <a:prstGeom prst="roundRect">
            <a:avLst>
              <a:gd fmla="val 50000" name="adj"/>
            </a:avLst>
          </a:prstGeom>
          <a:solidFill>
            <a:srgbClr val="29B5E8"/>
          </a:solidFill>
          <a:ln cap="flat" cmpd="sng" w="9350">
            <a:solidFill>
              <a:srgbClr val="29B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675" lIns="89675" spcFirstLastPara="1" rIns="89675" wrap="square" tIns="89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85">
                <a:solidFill>
                  <a:srgbClr val="FFFFFF"/>
                </a:solidFill>
              </a:rPr>
              <a:t>GOVERNANCE</a:t>
            </a:r>
            <a:endParaRPr b="1" sz="785">
              <a:solidFill>
                <a:srgbClr val="FFFFFF"/>
              </a:solidFill>
            </a:endParaRPr>
          </a:p>
        </p:txBody>
      </p:sp>
      <p:sp>
        <p:nvSpPr>
          <p:cNvPr id="186" name="Google Shape;186;p29"/>
          <p:cNvSpPr/>
          <p:nvPr/>
        </p:nvSpPr>
        <p:spPr>
          <a:xfrm>
            <a:off x="1085591" y="1050418"/>
            <a:ext cx="1542900" cy="3087900"/>
          </a:xfrm>
          <a:prstGeom prst="roundRect">
            <a:avLst>
              <a:gd fmla="val 3277" name="adj"/>
            </a:avLst>
          </a:prstGeom>
          <a:solidFill>
            <a:srgbClr val="F6F8FA"/>
          </a:solidFill>
          <a:ln>
            <a:noFill/>
          </a:ln>
        </p:spPr>
        <p:txBody>
          <a:bodyPr anchorCtr="0" anchor="b" bIns="89675" lIns="89675" spcFirstLastPara="1" rIns="89675" wrap="square" tIns="89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</p:txBody>
      </p:sp>
      <p:sp>
        <p:nvSpPr>
          <p:cNvPr id="187" name="Google Shape;187;p29"/>
          <p:cNvSpPr/>
          <p:nvPr/>
        </p:nvSpPr>
        <p:spPr>
          <a:xfrm>
            <a:off x="2838636" y="1050418"/>
            <a:ext cx="1542900" cy="3087900"/>
          </a:xfrm>
          <a:prstGeom prst="roundRect">
            <a:avLst>
              <a:gd fmla="val 3277" name="adj"/>
            </a:avLst>
          </a:prstGeom>
          <a:solidFill>
            <a:srgbClr val="F6F8FA"/>
          </a:solidFill>
          <a:ln>
            <a:noFill/>
          </a:ln>
        </p:spPr>
        <p:txBody>
          <a:bodyPr anchorCtr="0" anchor="b" bIns="89675" lIns="89675" spcFirstLastPara="1" rIns="89675" wrap="square" tIns="89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</p:txBody>
      </p:sp>
      <p:sp>
        <p:nvSpPr>
          <p:cNvPr id="188" name="Google Shape;188;p29"/>
          <p:cNvSpPr/>
          <p:nvPr/>
        </p:nvSpPr>
        <p:spPr>
          <a:xfrm>
            <a:off x="4595351" y="1050418"/>
            <a:ext cx="1542900" cy="3087900"/>
          </a:xfrm>
          <a:prstGeom prst="roundRect">
            <a:avLst>
              <a:gd fmla="val 3277" name="adj"/>
            </a:avLst>
          </a:prstGeom>
          <a:solidFill>
            <a:srgbClr val="F6F8FA"/>
          </a:solidFill>
          <a:ln>
            <a:noFill/>
          </a:ln>
        </p:spPr>
        <p:txBody>
          <a:bodyPr anchorCtr="0" anchor="b" bIns="89675" lIns="89675" spcFirstLastPara="1" rIns="89675" wrap="square" tIns="89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</p:txBody>
      </p:sp>
      <p:sp>
        <p:nvSpPr>
          <p:cNvPr id="189" name="Google Shape;189;p29"/>
          <p:cNvSpPr/>
          <p:nvPr/>
        </p:nvSpPr>
        <p:spPr>
          <a:xfrm>
            <a:off x="6355770" y="1050418"/>
            <a:ext cx="1542900" cy="3087900"/>
          </a:xfrm>
          <a:prstGeom prst="roundRect">
            <a:avLst>
              <a:gd fmla="val 3277" name="adj"/>
            </a:avLst>
          </a:prstGeom>
          <a:solidFill>
            <a:srgbClr val="F6F8FA"/>
          </a:solidFill>
          <a:ln>
            <a:noFill/>
          </a:ln>
        </p:spPr>
        <p:txBody>
          <a:bodyPr anchorCtr="0" anchor="b" bIns="89675" lIns="89675" spcFirstLastPara="1" rIns="89675" wrap="square" tIns="89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7"/>
          </a:p>
        </p:txBody>
      </p:sp>
      <p:sp>
        <p:nvSpPr>
          <p:cNvPr id="190" name="Google Shape;190;p29"/>
          <p:cNvSpPr txBox="1"/>
          <p:nvPr/>
        </p:nvSpPr>
        <p:spPr>
          <a:xfrm>
            <a:off x="1102953" y="1139460"/>
            <a:ext cx="15255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89675" lIns="89675" spcFirstLastPara="1" rIns="89675" wrap="square" tIns="896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77"/>
              <a:t>UNDERSTANDS SNOWFLAKE</a:t>
            </a:r>
            <a:endParaRPr sz="1177"/>
          </a:p>
        </p:txBody>
      </p:sp>
      <p:sp>
        <p:nvSpPr>
          <p:cNvPr id="191" name="Google Shape;191;p29"/>
          <p:cNvSpPr txBox="1"/>
          <p:nvPr/>
        </p:nvSpPr>
        <p:spPr>
          <a:xfrm>
            <a:off x="2847317" y="1139460"/>
            <a:ext cx="15255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89675" lIns="89675" spcFirstLastPara="1" rIns="89675" wrap="square" tIns="896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77"/>
              <a:t>CONTEXT </a:t>
            </a:r>
            <a:endParaRPr b="1" sz="1177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77"/>
              <a:t>AWARE</a:t>
            </a:r>
            <a:endParaRPr sz="1177"/>
          </a:p>
        </p:txBody>
      </p:sp>
      <p:sp>
        <p:nvSpPr>
          <p:cNvPr id="192" name="Google Shape;192;p29"/>
          <p:cNvSpPr txBox="1"/>
          <p:nvPr/>
        </p:nvSpPr>
        <p:spPr>
          <a:xfrm>
            <a:off x="4604032" y="1139460"/>
            <a:ext cx="15255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89675" lIns="89675" spcFirstLastPara="1" rIns="89675" wrap="square" tIns="896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77"/>
              <a:t>AUTOMATES</a:t>
            </a:r>
            <a:endParaRPr b="1" sz="1177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77"/>
              <a:t>COMPLEX TASKS</a:t>
            </a:r>
            <a:endParaRPr b="1" sz="1177"/>
          </a:p>
        </p:txBody>
      </p:sp>
      <p:sp>
        <p:nvSpPr>
          <p:cNvPr id="193" name="Google Shape;193;p29"/>
          <p:cNvSpPr txBox="1"/>
          <p:nvPr/>
        </p:nvSpPr>
        <p:spPr>
          <a:xfrm>
            <a:off x="6364452" y="1142869"/>
            <a:ext cx="15255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89675" lIns="89675" spcFirstLastPara="1" rIns="89675" wrap="square" tIns="896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77"/>
              <a:t>SECURE BY </a:t>
            </a:r>
            <a:endParaRPr b="1" sz="1177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77"/>
              <a:t>DESIGN</a:t>
            </a:r>
            <a:endParaRPr b="1" sz="1177"/>
          </a:p>
        </p:txBody>
      </p:sp>
      <p:sp>
        <p:nvSpPr>
          <p:cNvPr id="194" name="Google Shape;194;p29"/>
          <p:cNvSpPr txBox="1"/>
          <p:nvPr/>
        </p:nvSpPr>
        <p:spPr>
          <a:xfrm>
            <a:off x="1078209" y="2587811"/>
            <a:ext cx="1542900" cy="1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89675" lIns="89675" spcFirstLastPara="1" rIns="89675" wrap="square" tIns="896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81">
                <a:solidFill>
                  <a:srgbClr val="5B5B5B"/>
                </a:solidFill>
              </a:rPr>
              <a:t>A built-in expert on Snowflake, it has up-to-the-minute knowledge of your specific data catalog: databases, schemas, semantic models and more.</a:t>
            </a:r>
            <a:endParaRPr sz="981">
              <a:solidFill>
                <a:srgbClr val="5B5B5B"/>
              </a:solidFill>
            </a:endParaRPr>
          </a:p>
        </p:txBody>
      </p:sp>
      <p:sp>
        <p:nvSpPr>
          <p:cNvPr id="195" name="Google Shape;195;p29"/>
          <p:cNvSpPr txBox="1"/>
          <p:nvPr/>
        </p:nvSpPr>
        <p:spPr>
          <a:xfrm>
            <a:off x="2838636" y="2587811"/>
            <a:ext cx="1542900" cy="10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675" lIns="89675" spcFirstLastPara="1" rIns="89675" wrap="square" tIns="896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81">
                <a:solidFill>
                  <a:srgbClr val="5B5B5B"/>
                </a:solidFill>
              </a:rPr>
              <a:t>The agent knows where you are in the UI, what data you're working with, and retains your conversational history as you navigate.</a:t>
            </a:r>
            <a:endParaRPr sz="981">
              <a:solidFill>
                <a:srgbClr val="5B5B5B"/>
              </a:solidFill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4595351" y="2587811"/>
            <a:ext cx="15429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89675" lIns="89675" spcFirstLastPara="1" rIns="89675" wrap="square" tIns="89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81">
                <a:solidFill>
                  <a:srgbClr val="5B5B5B"/>
                </a:solidFill>
              </a:rPr>
              <a:t>Integrates natively with your stack. dbt, Git, SQL, Python, and Streamlit. No changes to how you work.</a:t>
            </a:r>
            <a:endParaRPr sz="981">
              <a:solidFill>
                <a:srgbClr val="5B5B5B"/>
              </a:solidFill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6364452" y="2587811"/>
            <a:ext cx="1525500" cy="10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675" lIns="89675" spcFirstLastPara="1" rIns="89675" wrap="square" tIns="89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81">
                <a:solidFill>
                  <a:srgbClr val="5B5B5B"/>
                </a:solidFill>
              </a:rPr>
              <a:t>Cortex Code uses Snowflake RBAC, </a:t>
            </a:r>
            <a:r>
              <a:rPr lang="en" sz="981">
                <a:solidFill>
                  <a:srgbClr val="5B5B5B"/>
                </a:solidFill>
              </a:rPr>
              <a:t>ensuring</a:t>
            </a:r>
            <a:r>
              <a:rPr lang="en" sz="981">
                <a:solidFill>
                  <a:srgbClr val="5B5B5B"/>
                </a:solidFill>
              </a:rPr>
              <a:t> it only sees and acts on the data and objects you have access to</a:t>
            </a:r>
            <a:endParaRPr sz="981">
              <a:solidFill>
                <a:srgbClr val="5B5B5B"/>
              </a:solidFill>
            </a:endParaRPr>
          </a:p>
        </p:txBody>
      </p:sp>
      <p:sp>
        <p:nvSpPr>
          <p:cNvPr id="198" name="Google Shape;198;p29"/>
          <p:cNvSpPr/>
          <p:nvPr/>
        </p:nvSpPr>
        <p:spPr>
          <a:xfrm>
            <a:off x="1549692" y="1764961"/>
            <a:ext cx="603230" cy="738306"/>
          </a:xfrm>
          <a:custGeom>
            <a:rect b="b" l="l" r="r" t="t"/>
            <a:pathLst>
              <a:path extrusionOk="0" h="3394509" w="3351275">
                <a:moveTo>
                  <a:pt x="649700" y="597254"/>
                </a:moveTo>
                <a:cubicBezTo>
                  <a:pt x="685895" y="575218"/>
                  <a:pt x="766382" y="567715"/>
                  <a:pt x="829437" y="580347"/>
                </a:cubicBezTo>
                <a:lnTo>
                  <a:pt x="1276350" y="670771"/>
                </a:lnTo>
                <a:cubicBezTo>
                  <a:pt x="1307783" y="677040"/>
                  <a:pt x="1328738" y="687108"/>
                  <a:pt x="1337596" y="698316"/>
                </a:cubicBezTo>
                <a:cubicBezTo>
                  <a:pt x="1340177" y="701440"/>
                  <a:pt x="1341834" y="705225"/>
                  <a:pt x="1342358" y="709240"/>
                </a:cubicBezTo>
                <a:cubicBezTo>
                  <a:pt x="1342615" y="714870"/>
                  <a:pt x="1340434" y="720340"/>
                  <a:pt x="1336358" y="724247"/>
                </a:cubicBezTo>
                <a:cubicBezTo>
                  <a:pt x="1326833" y="734980"/>
                  <a:pt x="1306544" y="744478"/>
                  <a:pt x="1276350" y="750557"/>
                </a:cubicBezTo>
                <a:lnTo>
                  <a:pt x="829437" y="840886"/>
                </a:lnTo>
                <a:cubicBezTo>
                  <a:pt x="766382" y="853614"/>
                  <a:pt x="685895" y="846110"/>
                  <a:pt x="649700" y="824074"/>
                </a:cubicBezTo>
                <a:cubicBezTo>
                  <a:pt x="613505" y="802038"/>
                  <a:pt x="634746" y="773923"/>
                  <a:pt x="697802" y="761100"/>
                </a:cubicBezTo>
                <a:lnTo>
                  <a:pt x="947547" y="710759"/>
                </a:lnTo>
                <a:lnTo>
                  <a:pt x="697802" y="660133"/>
                </a:lnTo>
                <a:cubicBezTo>
                  <a:pt x="634746" y="647406"/>
                  <a:pt x="613124" y="619290"/>
                  <a:pt x="649700" y="597254"/>
                </a:cubicBezTo>
                <a:close/>
                <a:moveTo>
                  <a:pt x="934117" y="516139"/>
                </a:moveTo>
                <a:lnTo>
                  <a:pt x="1381792" y="606468"/>
                </a:lnTo>
                <a:cubicBezTo>
                  <a:pt x="1406890" y="611288"/>
                  <a:pt x="1432446" y="613295"/>
                  <a:pt x="1457992" y="612452"/>
                </a:cubicBezTo>
                <a:cubicBezTo>
                  <a:pt x="1526000" y="610742"/>
                  <a:pt x="1579817" y="590796"/>
                  <a:pt x="1579817" y="566575"/>
                </a:cubicBezTo>
                <a:lnTo>
                  <a:pt x="1579817" y="386107"/>
                </a:lnTo>
                <a:cubicBezTo>
                  <a:pt x="1579817" y="360746"/>
                  <a:pt x="1520762" y="340135"/>
                  <a:pt x="1448181" y="340135"/>
                </a:cubicBezTo>
                <a:cubicBezTo>
                  <a:pt x="1375601" y="340135"/>
                  <a:pt x="1316355" y="360936"/>
                  <a:pt x="1316355" y="385822"/>
                </a:cubicBezTo>
                <a:lnTo>
                  <a:pt x="1316355" y="486979"/>
                </a:lnTo>
                <a:lnTo>
                  <a:pt x="1065657" y="436353"/>
                </a:lnTo>
                <a:cubicBezTo>
                  <a:pt x="1002792" y="423625"/>
                  <a:pt x="922782" y="431129"/>
                  <a:pt x="886015" y="453165"/>
                </a:cubicBezTo>
                <a:cubicBezTo>
                  <a:pt x="849249" y="475201"/>
                  <a:pt x="871157" y="503411"/>
                  <a:pt x="934117" y="516139"/>
                </a:cubicBezTo>
                <a:close/>
                <a:moveTo>
                  <a:pt x="1915954" y="612452"/>
                </a:moveTo>
                <a:cubicBezTo>
                  <a:pt x="1941500" y="613319"/>
                  <a:pt x="1967055" y="611312"/>
                  <a:pt x="1992154" y="606468"/>
                </a:cubicBezTo>
                <a:lnTo>
                  <a:pt x="2439829" y="516139"/>
                </a:lnTo>
                <a:cubicBezTo>
                  <a:pt x="2502789" y="503411"/>
                  <a:pt x="2524220" y="475296"/>
                  <a:pt x="2488025" y="453165"/>
                </a:cubicBezTo>
                <a:cubicBezTo>
                  <a:pt x="2451830" y="431034"/>
                  <a:pt x="2371249" y="423625"/>
                  <a:pt x="2308289" y="436353"/>
                </a:cubicBezTo>
                <a:lnTo>
                  <a:pt x="2057400" y="486979"/>
                </a:lnTo>
                <a:lnTo>
                  <a:pt x="2057400" y="385822"/>
                </a:lnTo>
                <a:cubicBezTo>
                  <a:pt x="2057400" y="360461"/>
                  <a:pt x="1998536" y="339850"/>
                  <a:pt x="1925669" y="339850"/>
                </a:cubicBezTo>
                <a:cubicBezTo>
                  <a:pt x="1852803" y="339850"/>
                  <a:pt x="1794034" y="360936"/>
                  <a:pt x="1794034" y="385822"/>
                </a:cubicBezTo>
                <a:lnTo>
                  <a:pt x="1794034" y="566290"/>
                </a:lnTo>
                <a:cubicBezTo>
                  <a:pt x="1794034" y="590796"/>
                  <a:pt x="1847850" y="610742"/>
                  <a:pt x="1915954" y="612452"/>
                </a:cubicBezTo>
                <a:close/>
                <a:moveTo>
                  <a:pt x="1457801" y="808877"/>
                </a:moveTo>
                <a:cubicBezTo>
                  <a:pt x="1432255" y="808033"/>
                  <a:pt x="1406700" y="810040"/>
                  <a:pt x="1381601" y="814861"/>
                </a:cubicBezTo>
                <a:lnTo>
                  <a:pt x="933926" y="905190"/>
                </a:lnTo>
                <a:cubicBezTo>
                  <a:pt x="870966" y="917918"/>
                  <a:pt x="849535" y="946128"/>
                  <a:pt x="886301" y="968259"/>
                </a:cubicBezTo>
                <a:cubicBezTo>
                  <a:pt x="923068" y="990390"/>
                  <a:pt x="1003078" y="997799"/>
                  <a:pt x="1065943" y="984976"/>
                </a:cubicBezTo>
                <a:lnTo>
                  <a:pt x="1316641" y="934445"/>
                </a:lnTo>
                <a:lnTo>
                  <a:pt x="1316641" y="1035317"/>
                </a:lnTo>
                <a:cubicBezTo>
                  <a:pt x="1316641" y="1060772"/>
                  <a:pt x="1375505" y="1081384"/>
                  <a:pt x="1448276" y="1081384"/>
                </a:cubicBezTo>
                <a:cubicBezTo>
                  <a:pt x="1521047" y="1081384"/>
                  <a:pt x="1579912" y="1060772"/>
                  <a:pt x="1579912" y="1035317"/>
                </a:cubicBezTo>
                <a:lnTo>
                  <a:pt x="1579912" y="854849"/>
                </a:lnTo>
                <a:cubicBezTo>
                  <a:pt x="1579626" y="830533"/>
                  <a:pt x="1525810" y="810587"/>
                  <a:pt x="1457801" y="808877"/>
                </a:cubicBezTo>
                <a:close/>
                <a:moveTo>
                  <a:pt x="1450181" y="693377"/>
                </a:moveTo>
                <a:lnTo>
                  <a:pt x="1636014" y="628409"/>
                </a:lnTo>
                <a:cubicBezTo>
                  <a:pt x="1643596" y="626192"/>
                  <a:pt x="1651454" y="625041"/>
                  <a:pt x="1659350" y="624989"/>
                </a:cubicBezTo>
                <a:lnTo>
                  <a:pt x="1714500" y="624989"/>
                </a:lnTo>
                <a:cubicBezTo>
                  <a:pt x="1722406" y="625018"/>
                  <a:pt x="1730264" y="626169"/>
                  <a:pt x="1737836" y="628409"/>
                </a:cubicBezTo>
                <a:lnTo>
                  <a:pt x="1923288" y="693377"/>
                </a:lnTo>
                <a:cubicBezTo>
                  <a:pt x="1928622" y="695277"/>
                  <a:pt x="1932813" y="698981"/>
                  <a:pt x="1932813" y="701641"/>
                </a:cubicBezTo>
                <a:lnTo>
                  <a:pt x="1932813" y="720638"/>
                </a:lnTo>
                <a:cubicBezTo>
                  <a:pt x="1932813" y="723202"/>
                  <a:pt x="1928527" y="726906"/>
                  <a:pt x="1923288" y="728806"/>
                </a:cubicBezTo>
                <a:lnTo>
                  <a:pt x="1737360" y="793395"/>
                </a:lnTo>
                <a:cubicBezTo>
                  <a:pt x="1729788" y="795649"/>
                  <a:pt x="1721930" y="796800"/>
                  <a:pt x="1714024" y="796814"/>
                </a:cubicBezTo>
                <a:lnTo>
                  <a:pt x="1659350" y="796814"/>
                </a:lnTo>
                <a:cubicBezTo>
                  <a:pt x="1651454" y="796763"/>
                  <a:pt x="1643596" y="795612"/>
                  <a:pt x="1636014" y="793395"/>
                </a:cubicBezTo>
                <a:lnTo>
                  <a:pt x="1450181" y="728426"/>
                </a:lnTo>
                <a:cubicBezTo>
                  <a:pt x="1444943" y="726526"/>
                  <a:pt x="1440656" y="722822"/>
                  <a:pt x="1440656" y="720258"/>
                </a:cubicBezTo>
                <a:lnTo>
                  <a:pt x="1440656" y="701261"/>
                </a:lnTo>
                <a:cubicBezTo>
                  <a:pt x="1440561" y="698506"/>
                  <a:pt x="1444943" y="694802"/>
                  <a:pt x="1450181" y="693377"/>
                </a:cubicBezTo>
                <a:close/>
                <a:moveTo>
                  <a:pt x="1599152" y="711519"/>
                </a:moveTo>
                <a:cubicBezTo>
                  <a:pt x="1599152" y="714179"/>
                  <a:pt x="1603248" y="717788"/>
                  <a:pt x="1608677" y="719688"/>
                </a:cubicBezTo>
                <a:lnTo>
                  <a:pt x="1662493" y="738684"/>
                </a:lnTo>
                <a:cubicBezTo>
                  <a:pt x="1670056" y="740829"/>
                  <a:pt x="1677876" y="741948"/>
                  <a:pt x="1685735" y="742009"/>
                </a:cubicBezTo>
                <a:lnTo>
                  <a:pt x="1687735" y="742009"/>
                </a:lnTo>
                <a:cubicBezTo>
                  <a:pt x="1695593" y="741955"/>
                  <a:pt x="1703413" y="740837"/>
                  <a:pt x="1710976" y="738684"/>
                </a:cubicBezTo>
                <a:lnTo>
                  <a:pt x="1764887" y="719688"/>
                </a:lnTo>
                <a:cubicBezTo>
                  <a:pt x="1770126" y="717788"/>
                  <a:pt x="1774412" y="714179"/>
                  <a:pt x="1774412" y="711519"/>
                </a:cubicBezTo>
                <a:lnTo>
                  <a:pt x="1774412" y="710854"/>
                </a:lnTo>
                <a:cubicBezTo>
                  <a:pt x="1774412" y="708195"/>
                  <a:pt x="1769840" y="704490"/>
                  <a:pt x="1764887" y="702591"/>
                </a:cubicBezTo>
                <a:lnTo>
                  <a:pt x="1710976" y="683594"/>
                </a:lnTo>
                <a:cubicBezTo>
                  <a:pt x="1703432" y="681362"/>
                  <a:pt x="1695603" y="680211"/>
                  <a:pt x="1687735" y="680175"/>
                </a:cubicBezTo>
                <a:lnTo>
                  <a:pt x="1685925" y="680175"/>
                </a:lnTo>
                <a:cubicBezTo>
                  <a:pt x="1678057" y="680211"/>
                  <a:pt x="1670228" y="681362"/>
                  <a:pt x="1662684" y="683594"/>
                </a:cubicBezTo>
                <a:lnTo>
                  <a:pt x="1608868" y="702591"/>
                </a:lnTo>
                <a:cubicBezTo>
                  <a:pt x="1603439" y="704490"/>
                  <a:pt x="1599343" y="708195"/>
                  <a:pt x="1599343" y="710854"/>
                </a:cubicBezTo>
                <a:close/>
                <a:moveTo>
                  <a:pt x="2439353" y="905190"/>
                </a:moveTo>
                <a:lnTo>
                  <a:pt x="1991678" y="814861"/>
                </a:lnTo>
                <a:cubicBezTo>
                  <a:pt x="1966579" y="810017"/>
                  <a:pt x="1941024" y="808010"/>
                  <a:pt x="1915478" y="808877"/>
                </a:cubicBezTo>
                <a:cubicBezTo>
                  <a:pt x="1847183" y="810587"/>
                  <a:pt x="1793558" y="830533"/>
                  <a:pt x="1793558" y="854754"/>
                </a:cubicBezTo>
                <a:lnTo>
                  <a:pt x="1793558" y="1035222"/>
                </a:lnTo>
                <a:cubicBezTo>
                  <a:pt x="1793558" y="1060677"/>
                  <a:pt x="1852327" y="1081289"/>
                  <a:pt x="1925193" y="1081289"/>
                </a:cubicBezTo>
                <a:cubicBezTo>
                  <a:pt x="1998059" y="1081289"/>
                  <a:pt x="2057400" y="1060962"/>
                  <a:pt x="2057400" y="1035317"/>
                </a:cubicBezTo>
                <a:lnTo>
                  <a:pt x="2057400" y="934445"/>
                </a:lnTo>
                <a:lnTo>
                  <a:pt x="2307812" y="984976"/>
                </a:lnTo>
                <a:cubicBezTo>
                  <a:pt x="2370773" y="997799"/>
                  <a:pt x="2451259" y="990200"/>
                  <a:pt x="2487549" y="968259"/>
                </a:cubicBezTo>
                <a:cubicBezTo>
                  <a:pt x="2523839" y="946318"/>
                  <a:pt x="2502313" y="917918"/>
                  <a:pt x="2439353" y="905190"/>
                </a:cubicBezTo>
                <a:close/>
                <a:moveTo>
                  <a:pt x="2035969" y="698316"/>
                </a:moveTo>
                <a:cubicBezTo>
                  <a:pt x="2029225" y="705851"/>
                  <a:pt x="2029778" y="717386"/>
                  <a:pt x="2037207" y="724247"/>
                </a:cubicBezTo>
                <a:cubicBezTo>
                  <a:pt x="2046732" y="734980"/>
                  <a:pt x="2067116" y="744478"/>
                  <a:pt x="2096929" y="750557"/>
                </a:cubicBezTo>
                <a:lnTo>
                  <a:pt x="2544604" y="840886"/>
                </a:lnTo>
                <a:cubicBezTo>
                  <a:pt x="2607469" y="853614"/>
                  <a:pt x="2687955" y="846110"/>
                  <a:pt x="2724341" y="824074"/>
                </a:cubicBezTo>
                <a:cubicBezTo>
                  <a:pt x="2760726" y="802038"/>
                  <a:pt x="2739295" y="773923"/>
                  <a:pt x="2676239" y="761100"/>
                </a:cubicBezTo>
                <a:lnTo>
                  <a:pt x="2426399" y="710759"/>
                </a:lnTo>
                <a:lnTo>
                  <a:pt x="2676239" y="660133"/>
                </a:lnTo>
                <a:cubicBezTo>
                  <a:pt x="2739295" y="647406"/>
                  <a:pt x="2760916" y="619290"/>
                  <a:pt x="2724341" y="597254"/>
                </a:cubicBezTo>
                <a:cubicBezTo>
                  <a:pt x="2687765" y="575218"/>
                  <a:pt x="2607469" y="567715"/>
                  <a:pt x="2544604" y="580347"/>
                </a:cubicBezTo>
                <a:lnTo>
                  <a:pt x="2096929" y="670771"/>
                </a:lnTo>
                <a:cubicBezTo>
                  <a:pt x="2065877" y="677040"/>
                  <a:pt x="2044827" y="687108"/>
                  <a:pt x="2035969" y="698316"/>
                </a:cubicBezTo>
                <a:close/>
                <a:moveTo>
                  <a:pt x="3351276" y="713039"/>
                </a:moveTo>
                <a:lnTo>
                  <a:pt x="3351276" y="2681660"/>
                </a:lnTo>
                <a:cubicBezTo>
                  <a:pt x="3351276" y="3144704"/>
                  <a:pt x="2487835" y="3394510"/>
                  <a:pt x="1675638" y="3394510"/>
                </a:cubicBezTo>
                <a:cubicBezTo>
                  <a:pt x="863441" y="3394510"/>
                  <a:pt x="0" y="3144704"/>
                  <a:pt x="0" y="2681660"/>
                </a:cubicBezTo>
                <a:lnTo>
                  <a:pt x="0" y="713039"/>
                </a:lnTo>
                <a:cubicBezTo>
                  <a:pt x="0" y="249901"/>
                  <a:pt x="863346" y="0"/>
                  <a:pt x="1675638" y="0"/>
                </a:cubicBezTo>
                <a:cubicBezTo>
                  <a:pt x="2487930" y="0"/>
                  <a:pt x="3351276" y="249901"/>
                  <a:pt x="3351276" y="713039"/>
                </a:cubicBezTo>
                <a:close/>
                <a:moveTo>
                  <a:pt x="3118866" y="1722235"/>
                </a:moveTo>
                <a:cubicBezTo>
                  <a:pt x="2807494" y="1943261"/>
                  <a:pt x="2229898" y="2059901"/>
                  <a:pt x="1675638" y="2059901"/>
                </a:cubicBezTo>
                <a:cubicBezTo>
                  <a:pt x="1121378" y="2059901"/>
                  <a:pt x="543687" y="1943261"/>
                  <a:pt x="232315" y="1722235"/>
                </a:cubicBezTo>
                <a:lnTo>
                  <a:pt x="232315" y="2028556"/>
                </a:lnTo>
                <a:cubicBezTo>
                  <a:pt x="232315" y="2229541"/>
                  <a:pt x="781431" y="2509931"/>
                  <a:pt x="1675638" y="2509931"/>
                </a:cubicBezTo>
                <a:cubicBezTo>
                  <a:pt x="2569845" y="2509931"/>
                  <a:pt x="3118866" y="2229541"/>
                  <a:pt x="3118866" y="2028556"/>
                </a:cubicBezTo>
                <a:close/>
                <a:moveTo>
                  <a:pt x="3118866" y="1088318"/>
                </a:moveTo>
                <a:cubicBezTo>
                  <a:pt x="2807494" y="1309438"/>
                  <a:pt x="2229898" y="1425983"/>
                  <a:pt x="1675638" y="1425983"/>
                </a:cubicBezTo>
                <a:cubicBezTo>
                  <a:pt x="1121378" y="1425983"/>
                  <a:pt x="543687" y="1309438"/>
                  <a:pt x="232315" y="1088318"/>
                </a:cubicBezTo>
                <a:lnTo>
                  <a:pt x="232315" y="1346862"/>
                </a:lnTo>
                <a:cubicBezTo>
                  <a:pt x="232315" y="1547751"/>
                  <a:pt x="781431" y="1828142"/>
                  <a:pt x="1675638" y="1828142"/>
                </a:cubicBezTo>
                <a:cubicBezTo>
                  <a:pt x="2569845" y="1828142"/>
                  <a:pt x="3118866" y="1548226"/>
                  <a:pt x="3118866" y="1346862"/>
                </a:cubicBezTo>
                <a:close/>
                <a:moveTo>
                  <a:pt x="232791" y="713039"/>
                </a:moveTo>
                <a:cubicBezTo>
                  <a:pt x="232791" y="913928"/>
                  <a:pt x="781907" y="1194319"/>
                  <a:pt x="1676114" y="1194319"/>
                </a:cubicBezTo>
                <a:cubicBezTo>
                  <a:pt x="2570321" y="1194319"/>
                  <a:pt x="3118866" y="913928"/>
                  <a:pt x="3118866" y="713039"/>
                </a:cubicBezTo>
                <a:cubicBezTo>
                  <a:pt x="3118866" y="512149"/>
                  <a:pt x="2569750" y="231664"/>
                  <a:pt x="1675638" y="231664"/>
                </a:cubicBezTo>
                <a:cubicBezTo>
                  <a:pt x="781526" y="231664"/>
                  <a:pt x="232315" y="512054"/>
                  <a:pt x="232315" y="713039"/>
                </a:cubicBezTo>
                <a:close/>
                <a:moveTo>
                  <a:pt x="3118866" y="2681660"/>
                </a:moveTo>
                <a:lnTo>
                  <a:pt x="3118866" y="2403930"/>
                </a:lnTo>
                <a:cubicBezTo>
                  <a:pt x="2807494" y="2625051"/>
                  <a:pt x="2229898" y="2741595"/>
                  <a:pt x="1675638" y="2741595"/>
                </a:cubicBezTo>
                <a:cubicBezTo>
                  <a:pt x="1121378" y="2741595"/>
                  <a:pt x="543687" y="2625051"/>
                  <a:pt x="232315" y="2403930"/>
                </a:cubicBezTo>
                <a:lnTo>
                  <a:pt x="232315" y="2681660"/>
                </a:lnTo>
                <a:cubicBezTo>
                  <a:pt x="232315" y="2882550"/>
                  <a:pt x="781050" y="3162940"/>
                  <a:pt x="1675638" y="3162940"/>
                </a:cubicBezTo>
                <a:cubicBezTo>
                  <a:pt x="2570226" y="3162940"/>
                  <a:pt x="3118866" y="2882550"/>
                  <a:pt x="3118866" y="2681660"/>
                </a:cubicBezTo>
                <a:close/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33625" lIns="67275" spcFirstLastPara="1" rIns="67275" wrap="square" tIns="33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373"/>
              <a:buFont typeface="Arial"/>
              <a:buNone/>
            </a:pPr>
            <a:r>
              <a:t/>
            </a:r>
            <a:endParaRPr sz="1373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26344" y="1789929"/>
            <a:ext cx="601754" cy="694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29"/>
          <p:cNvGrpSpPr/>
          <p:nvPr/>
        </p:nvGrpSpPr>
        <p:grpSpPr>
          <a:xfrm>
            <a:off x="3170148" y="1764632"/>
            <a:ext cx="900233" cy="740766"/>
            <a:chOff x="24489028" y="6811827"/>
            <a:chExt cx="2414141" cy="1986501"/>
          </a:xfrm>
        </p:grpSpPr>
        <p:grpSp>
          <p:nvGrpSpPr>
            <p:cNvPr id="201" name="Google Shape;201;p29"/>
            <p:cNvGrpSpPr/>
            <p:nvPr/>
          </p:nvGrpSpPr>
          <p:grpSpPr>
            <a:xfrm>
              <a:off x="24489028" y="6811827"/>
              <a:ext cx="2073339" cy="1986501"/>
              <a:chOff x="24489028" y="6811827"/>
              <a:chExt cx="2073339" cy="1986501"/>
            </a:xfrm>
          </p:grpSpPr>
          <p:sp>
            <p:nvSpPr>
              <p:cNvPr id="202" name="Google Shape;202;p29"/>
              <p:cNvSpPr/>
              <p:nvPr/>
            </p:nvSpPr>
            <p:spPr>
              <a:xfrm>
                <a:off x="24789245" y="7671540"/>
                <a:ext cx="980224" cy="1126788"/>
              </a:xfrm>
              <a:custGeom>
                <a:rect b="b" l="l" r="r" t="t"/>
                <a:pathLst>
                  <a:path extrusionOk="0" h="1126788" w="980224">
                    <a:moveTo>
                      <a:pt x="591573" y="953109"/>
                    </a:moveTo>
                    <a:lnTo>
                      <a:pt x="591573" y="717933"/>
                    </a:lnTo>
                    <a:cubicBezTo>
                      <a:pt x="591573" y="626663"/>
                      <a:pt x="517316" y="552406"/>
                      <a:pt x="426046" y="552406"/>
                    </a:cubicBezTo>
                    <a:lnTo>
                      <a:pt x="207883" y="552406"/>
                    </a:lnTo>
                    <a:cubicBezTo>
                      <a:pt x="169780" y="552406"/>
                      <a:pt x="138943" y="521392"/>
                      <a:pt x="138943" y="483289"/>
                    </a:cubicBezTo>
                    <a:lnTo>
                      <a:pt x="138943" y="69472"/>
                    </a:lnTo>
                    <a:cubicBezTo>
                      <a:pt x="138943" y="31014"/>
                      <a:pt x="107752" y="0"/>
                      <a:pt x="69472" y="0"/>
                    </a:cubicBezTo>
                    <a:cubicBezTo>
                      <a:pt x="31191" y="0"/>
                      <a:pt x="0" y="31191"/>
                      <a:pt x="0" y="69472"/>
                    </a:cubicBezTo>
                    <a:lnTo>
                      <a:pt x="0" y="483289"/>
                    </a:lnTo>
                    <a:cubicBezTo>
                      <a:pt x="0" y="598130"/>
                      <a:pt x="93397" y="691527"/>
                      <a:pt x="208061" y="691527"/>
                    </a:cubicBezTo>
                    <a:lnTo>
                      <a:pt x="426223" y="691527"/>
                    </a:lnTo>
                    <a:cubicBezTo>
                      <a:pt x="440755" y="691527"/>
                      <a:pt x="452629" y="703401"/>
                      <a:pt x="452629" y="717933"/>
                    </a:cubicBezTo>
                    <a:lnTo>
                      <a:pt x="452629" y="1010353"/>
                    </a:lnTo>
                    <a:cubicBezTo>
                      <a:pt x="452629" y="1055013"/>
                      <a:pt x="479745" y="1107826"/>
                      <a:pt x="532026" y="1122004"/>
                    </a:cubicBezTo>
                    <a:cubicBezTo>
                      <a:pt x="542836" y="1124839"/>
                      <a:pt x="555419" y="1126789"/>
                      <a:pt x="568357" y="1126789"/>
                    </a:cubicBezTo>
                    <a:cubicBezTo>
                      <a:pt x="594586" y="1126789"/>
                      <a:pt x="622941" y="1119168"/>
                      <a:pt x="643677" y="1098433"/>
                    </a:cubicBezTo>
                    <a:cubicBezTo>
                      <a:pt x="644386" y="1097901"/>
                      <a:pt x="645094" y="1097369"/>
                      <a:pt x="645803" y="1096838"/>
                    </a:cubicBezTo>
                    <a:lnTo>
                      <a:pt x="980225" y="758340"/>
                    </a:lnTo>
                    <a:cubicBezTo>
                      <a:pt x="954173" y="716693"/>
                      <a:pt x="932906" y="671855"/>
                      <a:pt x="916778" y="624536"/>
                    </a:cubicBezTo>
                    <a:lnTo>
                      <a:pt x="591927" y="953287"/>
                    </a:lnTo>
                    <a:close/>
                  </a:path>
                </a:pathLst>
              </a:custGeom>
              <a:solidFill>
                <a:srgbClr val="28B5E8"/>
              </a:solidFill>
              <a:ln>
                <a:noFill/>
              </a:ln>
            </p:spPr>
            <p:txBody>
              <a:bodyPr anchorCtr="0" anchor="ctr" bIns="120025" lIns="240125" spcFirstLastPara="1" rIns="240125" wrap="square" tIns="1200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52525"/>
                  </a:buClr>
                  <a:buSzPts val="15600"/>
                  <a:buFont typeface="Arial"/>
                  <a:buNone/>
                </a:pPr>
                <a:r>
                  <a:t/>
                </a:r>
                <a:endParaRPr sz="156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3" name="Google Shape;203;p29"/>
              <p:cNvSpPr/>
              <p:nvPr/>
            </p:nvSpPr>
            <p:spPr>
              <a:xfrm>
                <a:off x="25414667" y="7082803"/>
                <a:ext cx="1147700" cy="411867"/>
              </a:xfrm>
              <a:custGeom>
                <a:rect b="b" l="l" r="r" t="t"/>
                <a:pathLst>
                  <a:path extrusionOk="0" h="411867" w="1147700">
                    <a:moveTo>
                      <a:pt x="1147701" y="208061"/>
                    </a:moveTo>
                    <a:cubicBezTo>
                      <a:pt x="1147701" y="93220"/>
                      <a:pt x="1054304" y="0"/>
                      <a:pt x="939640" y="0"/>
                    </a:cubicBezTo>
                    <a:lnTo>
                      <a:pt x="69472" y="0"/>
                    </a:lnTo>
                    <a:cubicBezTo>
                      <a:pt x="31014" y="0"/>
                      <a:pt x="0" y="31191"/>
                      <a:pt x="0" y="69472"/>
                    </a:cubicBezTo>
                    <a:cubicBezTo>
                      <a:pt x="0" y="107752"/>
                      <a:pt x="31191" y="138943"/>
                      <a:pt x="69472" y="138943"/>
                    </a:cubicBezTo>
                    <a:lnTo>
                      <a:pt x="939640" y="138943"/>
                    </a:lnTo>
                    <a:cubicBezTo>
                      <a:pt x="977743" y="138943"/>
                      <a:pt x="1008580" y="169958"/>
                      <a:pt x="1008580" y="207883"/>
                    </a:cubicBezTo>
                    <a:lnTo>
                      <a:pt x="1008580" y="371815"/>
                    </a:lnTo>
                    <a:cubicBezTo>
                      <a:pt x="1056962" y="379968"/>
                      <a:pt x="1103572" y="393614"/>
                      <a:pt x="1147701" y="411868"/>
                    </a:cubicBezTo>
                    <a:lnTo>
                      <a:pt x="1147701" y="207706"/>
                    </a:lnTo>
                    <a:close/>
                  </a:path>
                </a:pathLst>
              </a:custGeom>
              <a:solidFill>
                <a:srgbClr val="28B5E8"/>
              </a:solidFill>
              <a:ln>
                <a:noFill/>
              </a:ln>
            </p:spPr>
            <p:txBody>
              <a:bodyPr anchorCtr="0" anchor="ctr" bIns="120025" lIns="240125" spcFirstLastPara="1" rIns="240125" wrap="square" tIns="1200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52525"/>
                  </a:buClr>
                  <a:buSzPts val="15600"/>
                  <a:buFont typeface="Arial"/>
                  <a:buNone/>
                </a:pPr>
                <a:r>
                  <a:t/>
                </a:r>
                <a:endParaRPr sz="156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4" name="Google Shape;204;p29"/>
              <p:cNvSpPr/>
              <p:nvPr/>
            </p:nvSpPr>
            <p:spPr>
              <a:xfrm>
                <a:off x="24489028" y="6811827"/>
                <a:ext cx="760428" cy="759350"/>
              </a:xfrm>
              <a:custGeom>
                <a:rect b="b" l="l" r="r" t="t"/>
                <a:pathLst>
                  <a:path extrusionOk="0" h="759350" w="760428">
                    <a:moveTo>
                      <a:pt x="318117" y="704819"/>
                    </a:moveTo>
                    <a:cubicBezTo>
                      <a:pt x="322902" y="746821"/>
                      <a:pt x="369334" y="772164"/>
                      <a:pt x="409032" y="752670"/>
                    </a:cubicBezTo>
                    <a:cubicBezTo>
                      <a:pt x="433489" y="740618"/>
                      <a:pt x="444654" y="719352"/>
                      <a:pt x="444832" y="692591"/>
                    </a:cubicBezTo>
                    <a:cubicBezTo>
                      <a:pt x="444832" y="657323"/>
                      <a:pt x="452452" y="623651"/>
                      <a:pt x="466985" y="591750"/>
                    </a:cubicBezTo>
                    <a:cubicBezTo>
                      <a:pt x="484884" y="552407"/>
                      <a:pt x="511113" y="519443"/>
                      <a:pt x="546026" y="493568"/>
                    </a:cubicBezTo>
                    <a:cubicBezTo>
                      <a:pt x="577749" y="469998"/>
                      <a:pt x="612840" y="454048"/>
                      <a:pt x="651829" y="447667"/>
                    </a:cubicBezTo>
                    <a:cubicBezTo>
                      <a:pt x="669906" y="444832"/>
                      <a:pt x="688337" y="444123"/>
                      <a:pt x="706414" y="441996"/>
                    </a:cubicBezTo>
                    <a:cubicBezTo>
                      <a:pt x="746289" y="437389"/>
                      <a:pt x="771632" y="394323"/>
                      <a:pt x="755505" y="355334"/>
                    </a:cubicBezTo>
                    <a:cubicBezTo>
                      <a:pt x="743985" y="327510"/>
                      <a:pt x="721478" y="315636"/>
                      <a:pt x="692413" y="315459"/>
                    </a:cubicBezTo>
                    <a:cubicBezTo>
                      <a:pt x="656791" y="315104"/>
                      <a:pt x="622942" y="307661"/>
                      <a:pt x="590864" y="292597"/>
                    </a:cubicBezTo>
                    <a:cubicBezTo>
                      <a:pt x="538937" y="268317"/>
                      <a:pt x="499239" y="230568"/>
                      <a:pt x="472479" y="179705"/>
                    </a:cubicBezTo>
                    <a:cubicBezTo>
                      <a:pt x="458655" y="153476"/>
                      <a:pt x="449617" y="125475"/>
                      <a:pt x="446427" y="96056"/>
                    </a:cubicBezTo>
                    <a:cubicBezTo>
                      <a:pt x="445009" y="82587"/>
                      <a:pt x="444832" y="69118"/>
                      <a:pt x="443414" y="55649"/>
                    </a:cubicBezTo>
                    <a:cubicBezTo>
                      <a:pt x="438629" y="14001"/>
                      <a:pt x="395386" y="-11696"/>
                      <a:pt x="355156" y="5317"/>
                    </a:cubicBezTo>
                    <a:cubicBezTo>
                      <a:pt x="329813" y="16128"/>
                      <a:pt x="318117" y="36863"/>
                      <a:pt x="316522" y="64155"/>
                    </a:cubicBezTo>
                    <a:cubicBezTo>
                      <a:pt x="315636" y="80814"/>
                      <a:pt x="314749" y="97473"/>
                      <a:pt x="311737" y="113778"/>
                    </a:cubicBezTo>
                    <a:cubicBezTo>
                      <a:pt x="306597" y="141248"/>
                      <a:pt x="296495" y="166945"/>
                      <a:pt x="282317" y="191047"/>
                    </a:cubicBezTo>
                    <a:cubicBezTo>
                      <a:pt x="262646" y="224543"/>
                      <a:pt x="236948" y="252190"/>
                      <a:pt x="204693" y="273634"/>
                    </a:cubicBezTo>
                    <a:cubicBezTo>
                      <a:pt x="162337" y="301812"/>
                      <a:pt x="115727" y="315636"/>
                      <a:pt x="64687" y="315990"/>
                    </a:cubicBezTo>
                    <a:cubicBezTo>
                      <a:pt x="28179" y="316345"/>
                      <a:pt x="1595" y="343814"/>
                      <a:pt x="0" y="379968"/>
                    </a:cubicBezTo>
                    <a:cubicBezTo>
                      <a:pt x="2304" y="388829"/>
                      <a:pt x="3190" y="398045"/>
                      <a:pt x="6912" y="406197"/>
                    </a:cubicBezTo>
                    <a:cubicBezTo>
                      <a:pt x="18963" y="432249"/>
                      <a:pt x="40761" y="443591"/>
                      <a:pt x="68586" y="443769"/>
                    </a:cubicBezTo>
                    <a:cubicBezTo>
                      <a:pt x="104916" y="443946"/>
                      <a:pt x="139475" y="451921"/>
                      <a:pt x="172084" y="467339"/>
                    </a:cubicBezTo>
                    <a:cubicBezTo>
                      <a:pt x="217276" y="488783"/>
                      <a:pt x="253253" y="520684"/>
                      <a:pt x="279659" y="563217"/>
                    </a:cubicBezTo>
                    <a:cubicBezTo>
                      <a:pt x="294546" y="587497"/>
                      <a:pt x="306065" y="613194"/>
                      <a:pt x="311028" y="641373"/>
                    </a:cubicBezTo>
                    <a:cubicBezTo>
                      <a:pt x="314749" y="662285"/>
                      <a:pt x="315990" y="683375"/>
                      <a:pt x="318294" y="704465"/>
                    </a:cubicBezTo>
                    <a:close/>
                  </a:path>
                </a:pathLst>
              </a:custGeom>
              <a:solidFill>
                <a:srgbClr val="28B5E8"/>
              </a:solidFill>
              <a:ln>
                <a:noFill/>
              </a:ln>
            </p:spPr>
            <p:txBody>
              <a:bodyPr anchorCtr="0" anchor="ctr" bIns="120025" lIns="240125" spcFirstLastPara="1" rIns="240125" wrap="square" tIns="1200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52525"/>
                  </a:buClr>
                  <a:buSzPts val="15600"/>
                  <a:buFont typeface="Arial"/>
                  <a:buNone/>
                </a:pPr>
                <a:r>
                  <a:t/>
                </a:r>
                <a:endParaRPr sz="156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5" name="Google Shape;205;p29"/>
              <p:cNvSpPr/>
              <p:nvPr/>
            </p:nvSpPr>
            <p:spPr>
              <a:xfrm>
                <a:off x="25106251" y="7428212"/>
                <a:ext cx="475097" cy="474961"/>
              </a:xfrm>
              <a:custGeom>
                <a:rect b="b" l="l" r="r" t="t"/>
                <a:pathLst>
                  <a:path extrusionOk="0" h="474961" w="475097">
                    <a:moveTo>
                      <a:pt x="47" y="234467"/>
                    </a:moveTo>
                    <a:cubicBezTo>
                      <a:pt x="-1017" y="259456"/>
                      <a:pt x="16174" y="277532"/>
                      <a:pt x="41163" y="277710"/>
                    </a:cubicBezTo>
                    <a:cubicBezTo>
                      <a:pt x="64733" y="277710"/>
                      <a:pt x="87418" y="282672"/>
                      <a:pt x="108330" y="293483"/>
                    </a:cubicBezTo>
                    <a:cubicBezTo>
                      <a:pt x="165574" y="323256"/>
                      <a:pt x="195525" y="370752"/>
                      <a:pt x="197474" y="435439"/>
                    </a:cubicBezTo>
                    <a:cubicBezTo>
                      <a:pt x="198183" y="457946"/>
                      <a:pt x="215728" y="475137"/>
                      <a:pt x="238235" y="474960"/>
                    </a:cubicBezTo>
                    <a:cubicBezTo>
                      <a:pt x="260034" y="474960"/>
                      <a:pt x="277047" y="457237"/>
                      <a:pt x="277756" y="435084"/>
                    </a:cubicBezTo>
                    <a:cubicBezTo>
                      <a:pt x="278111" y="423742"/>
                      <a:pt x="278820" y="412222"/>
                      <a:pt x="281301" y="401235"/>
                    </a:cubicBezTo>
                    <a:cubicBezTo>
                      <a:pt x="298137" y="327864"/>
                      <a:pt x="361406" y="277887"/>
                      <a:pt x="434068" y="277532"/>
                    </a:cubicBezTo>
                    <a:cubicBezTo>
                      <a:pt x="449132" y="277532"/>
                      <a:pt x="461006" y="270975"/>
                      <a:pt x="469158" y="258038"/>
                    </a:cubicBezTo>
                    <a:cubicBezTo>
                      <a:pt x="483513" y="234999"/>
                      <a:pt x="470576" y="203453"/>
                      <a:pt x="443992" y="197959"/>
                    </a:cubicBezTo>
                    <a:cubicBezTo>
                      <a:pt x="436017" y="196364"/>
                      <a:pt x="427688" y="196718"/>
                      <a:pt x="419535" y="196009"/>
                    </a:cubicBezTo>
                    <a:cubicBezTo>
                      <a:pt x="393838" y="193883"/>
                      <a:pt x="369913" y="185730"/>
                      <a:pt x="348646" y="171198"/>
                    </a:cubicBezTo>
                    <a:cubicBezTo>
                      <a:pt x="302390" y="139475"/>
                      <a:pt x="278465" y="95524"/>
                      <a:pt x="277402" y="39167"/>
                    </a:cubicBezTo>
                    <a:cubicBezTo>
                      <a:pt x="277047" y="16836"/>
                      <a:pt x="259857" y="0"/>
                      <a:pt x="237527" y="0"/>
                    </a:cubicBezTo>
                    <a:cubicBezTo>
                      <a:pt x="219272" y="0"/>
                      <a:pt x="204917" y="9393"/>
                      <a:pt x="199955" y="26938"/>
                    </a:cubicBezTo>
                    <a:cubicBezTo>
                      <a:pt x="197120" y="37040"/>
                      <a:pt x="197120" y="47850"/>
                      <a:pt x="196056" y="58307"/>
                    </a:cubicBezTo>
                    <a:cubicBezTo>
                      <a:pt x="192866" y="89144"/>
                      <a:pt x="180992" y="116613"/>
                      <a:pt x="161143" y="140184"/>
                    </a:cubicBezTo>
                    <a:cubicBezTo>
                      <a:pt x="129066" y="178110"/>
                      <a:pt x="87595" y="196896"/>
                      <a:pt x="37973" y="197427"/>
                    </a:cubicBezTo>
                    <a:cubicBezTo>
                      <a:pt x="18124" y="197605"/>
                      <a:pt x="1110" y="214618"/>
                      <a:pt x="401" y="234467"/>
                    </a:cubicBezTo>
                    <a:close/>
                  </a:path>
                </a:pathLst>
              </a:custGeom>
              <a:solidFill>
                <a:srgbClr val="28B5E8"/>
              </a:solidFill>
              <a:ln>
                <a:noFill/>
              </a:ln>
            </p:spPr>
            <p:txBody>
              <a:bodyPr anchorCtr="0" anchor="ctr" bIns="120025" lIns="240125" spcFirstLastPara="1" rIns="240125" wrap="square" tIns="1200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52525"/>
                  </a:buClr>
                  <a:buSzPts val="15600"/>
                  <a:buFont typeface="Arial"/>
                  <a:buNone/>
                </a:pPr>
                <a:r>
                  <a:t/>
                </a:r>
                <a:endParaRPr sz="156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206" name="Google Shape;206;p29"/>
            <p:cNvSpPr/>
            <p:nvPr/>
          </p:nvSpPr>
          <p:spPr>
            <a:xfrm>
              <a:off x="25732075" y="7502468"/>
              <a:ext cx="1171094" cy="1170917"/>
            </a:xfrm>
            <a:custGeom>
              <a:rect b="b" l="l" r="r" t="t"/>
              <a:pathLst>
                <a:path extrusionOk="0" h="1170917" w="1171094">
                  <a:moveTo>
                    <a:pt x="585547" y="1170917"/>
                  </a:moveTo>
                  <a:cubicBezTo>
                    <a:pt x="262646" y="1170917"/>
                    <a:pt x="0" y="908272"/>
                    <a:pt x="0" y="585370"/>
                  </a:cubicBezTo>
                  <a:cubicBezTo>
                    <a:pt x="0" y="262468"/>
                    <a:pt x="262646" y="0"/>
                    <a:pt x="585547" y="0"/>
                  </a:cubicBezTo>
                  <a:cubicBezTo>
                    <a:pt x="908449" y="0"/>
                    <a:pt x="1171095" y="262646"/>
                    <a:pt x="1171095" y="585370"/>
                  </a:cubicBezTo>
                  <a:cubicBezTo>
                    <a:pt x="1171095" y="908094"/>
                    <a:pt x="908449" y="1170917"/>
                    <a:pt x="585547" y="1170917"/>
                  </a:cubicBezTo>
                  <a:close/>
                  <a:moveTo>
                    <a:pt x="585547" y="77978"/>
                  </a:moveTo>
                  <a:cubicBezTo>
                    <a:pt x="305711" y="77978"/>
                    <a:pt x="78156" y="305534"/>
                    <a:pt x="78156" y="585370"/>
                  </a:cubicBezTo>
                  <a:cubicBezTo>
                    <a:pt x="78156" y="865206"/>
                    <a:pt x="305888" y="1092762"/>
                    <a:pt x="585547" y="1092762"/>
                  </a:cubicBezTo>
                  <a:cubicBezTo>
                    <a:pt x="865206" y="1092762"/>
                    <a:pt x="1092939" y="865029"/>
                    <a:pt x="1092939" y="585370"/>
                  </a:cubicBezTo>
                  <a:cubicBezTo>
                    <a:pt x="1092939" y="305711"/>
                    <a:pt x="865206" y="77978"/>
                    <a:pt x="585547" y="77978"/>
                  </a:cubicBezTo>
                  <a:close/>
                </a:path>
              </a:pathLst>
            </a:custGeom>
            <a:solidFill>
              <a:srgbClr val="28B5E8"/>
            </a:solidFill>
            <a:ln>
              <a:noFill/>
            </a:ln>
          </p:spPr>
          <p:txBody>
            <a:bodyPr anchorCtr="0" anchor="ctr" bIns="120025" lIns="240125" spcFirstLastPara="1" rIns="240125" wrap="square" tIns="120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5600"/>
                <a:buFont typeface="Arial"/>
                <a:buNone/>
              </a:pPr>
              <a:r>
                <a:t/>
              </a:r>
              <a:endParaRPr sz="15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207" name="Google Shape;207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29950" y="2127657"/>
            <a:ext cx="260951" cy="241187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9"/>
          <p:cNvSpPr/>
          <p:nvPr/>
        </p:nvSpPr>
        <p:spPr>
          <a:xfrm>
            <a:off x="5006689" y="1817122"/>
            <a:ext cx="653768" cy="694346"/>
          </a:xfrm>
          <a:custGeom>
            <a:rect b="b" l="l" r="r" t="t"/>
            <a:pathLst>
              <a:path extrusionOk="0" h="478035" w="504840">
                <a:moveTo>
                  <a:pt x="503304" y="230386"/>
                </a:moveTo>
                <a:cubicBezTo>
                  <a:pt x="503209" y="226195"/>
                  <a:pt x="500828" y="222385"/>
                  <a:pt x="497208" y="220289"/>
                </a:cubicBezTo>
                <a:lnTo>
                  <a:pt x="444725" y="191238"/>
                </a:lnTo>
                <a:lnTo>
                  <a:pt x="499399" y="155996"/>
                </a:lnTo>
                <a:cubicBezTo>
                  <a:pt x="502923" y="153710"/>
                  <a:pt x="505019" y="149804"/>
                  <a:pt x="504828" y="145613"/>
                </a:cubicBezTo>
                <a:cubicBezTo>
                  <a:pt x="504733" y="141422"/>
                  <a:pt x="502352" y="137612"/>
                  <a:pt x="498732" y="135612"/>
                </a:cubicBezTo>
                <a:lnTo>
                  <a:pt x="256130" y="1500"/>
                </a:lnTo>
                <a:cubicBezTo>
                  <a:pt x="252511" y="-500"/>
                  <a:pt x="248129" y="-500"/>
                  <a:pt x="244605" y="1500"/>
                </a:cubicBezTo>
                <a:lnTo>
                  <a:pt x="6480" y="134374"/>
                </a:lnTo>
                <a:cubicBezTo>
                  <a:pt x="2861" y="136374"/>
                  <a:pt x="575" y="140184"/>
                  <a:pt x="384" y="144375"/>
                </a:cubicBezTo>
                <a:cubicBezTo>
                  <a:pt x="194" y="148566"/>
                  <a:pt x="2289" y="152471"/>
                  <a:pt x="5813" y="154757"/>
                </a:cubicBezTo>
                <a:lnTo>
                  <a:pt x="60296" y="190286"/>
                </a:lnTo>
                <a:lnTo>
                  <a:pt x="6099" y="220289"/>
                </a:lnTo>
                <a:cubicBezTo>
                  <a:pt x="2384" y="222290"/>
                  <a:pt x="98" y="226195"/>
                  <a:pt x="3" y="230386"/>
                </a:cubicBezTo>
                <a:cubicBezTo>
                  <a:pt x="-92" y="234577"/>
                  <a:pt x="2003" y="238577"/>
                  <a:pt x="5528" y="240768"/>
                </a:cubicBezTo>
                <a:lnTo>
                  <a:pt x="58677" y="274487"/>
                </a:lnTo>
                <a:lnTo>
                  <a:pt x="6099" y="303633"/>
                </a:lnTo>
                <a:cubicBezTo>
                  <a:pt x="2384" y="305633"/>
                  <a:pt x="98" y="309539"/>
                  <a:pt x="3" y="313730"/>
                </a:cubicBezTo>
                <a:cubicBezTo>
                  <a:pt x="-92" y="317921"/>
                  <a:pt x="2003" y="321921"/>
                  <a:pt x="5528" y="324112"/>
                </a:cubicBezTo>
                <a:lnTo>
                  <a:pt x="245653" y="476226"/>
                </a:lnTo>
                <a:cubicBezTo>
                  <a:pt x="247558" y="477464"/>
                  <a:pt x="249844" y="478036"/>
                  <a:pt x="252035" y="478036"/>
                </a:cubicBezTo>
                <a:cubicBezTo>
                  <a:pt x="254225" y="478036"/>
                  <a:pt x="256511" y="477369"/>
                  <a:pt x="258416" y="476131"/>
                </a:cubicBezTo>
                <a:lnTo>
                  <a:pt x="497875" y="324017"/>
                </a:lnTo>
                <a:cubicBezTo>
                  <a:pt x="501399" y="321731"/>
                  <a:pt x="503495" y="317825"/>
                  <a:pt x="503399" y="313634"/>
                </a:cubicBezTo>
                <a:cubicBezTo>
                  <a:pt x="503304" y="309443"/>
                  <a:pt x="500923" y="305633"/>
                  <a:pt x="497303" y="303538"/>
                </a:cubicBezTo>
                <a:lnTo>
                  <a:pt x="444821" y="274487"/>
                </a:lnTo>
                <a:lnTo>
                  <a:pt x="497970" y="240768"/>
                </a:lnTo>
                <a:cubicBezTo>
                  <a:pt x="501494" y="238482"/>
                  <a:pt x="503590" y="234577"/>
                  <a:pt x="503495" y="230386"/>
                </a:cubicBezTo>
                <a:close/>
                <a:moveTo>
                  <a:pt x="250320" y="25503"/>
                </a:moveTo>
                <a:lnTo>
                  <a:pt x="469681" y="146756"/>
                </a:lnTo>
                <a:lnTo>
                  <a:pt x="252225" y="287060"/>
                </a:lnTo>
                <a:lnTo>
                  <a:pt x="35341" y="145613"/>
                </a:lnTo>
                <a:lnTo>
                  <a:pt x="250320" y="25598"/>
                </a:lnTo>
                <a:close/>
                <a:moveTo>
                  <a:pt x="421770" y="289060"/>
                </a:moveTo>
                <a:lnTo>
                  <a:pt x="468062" y="314682"/>
                </a:lnTo>
                <a:lnTo>
                  <a:pt x="251939" y="452033"/>
                </a:lnTo>
                <a:lnTo>
                  <a:pt x="35150" y="314682"/>
                </a:lnTo>
                <a:lnTo>
                  <a:pt x="81537" y="288965"/>
                </a:lnTo>
                <a:lnTo>
                  <a:pt x="245558" y="392882"/>
                </a:lnTo>
                <a:cubicBezTo>
                  <a:pt x="247463" y="394121"/>
                  <a:pt x="249749" y="394692"/>
                  <a:pt x="251939" y="394692"/>
                </a:cubicBezTo>
                <a:cubicBezTo>
                  <a:pt x="254130" y="394692"/>
                  <a:pt x="256416" y="394025"/>
                  <a:pt x="258321" y="392787"/>
                </a:cubicBezTo>
                <a:lnTo>
                  <a:pt x="421770" y="288965"/>
                </a:lnTo>
                <a:lnTo>
                  <a:pt x="421770" y="288965"/>
                </a:lnTo>
                <a:close/>
                <a:moveTo>
                  <a:pt x="251939" y="368784"/>
                </a:moveTo>
                <a:lnTo>
                  <a:pt x="35150" y="231434"/>
                </a:lnTo>
                <a:lnTo>
                  <a:pt x="82871" y="205049"/>
                </a:lnTo>
                <a:lnTo>
                  <a:pt x="245653" y="311253"/>
                </a:lnTo>
                <a:cubicBezTo>
                  <a:pt x="247653" y="312587"/>
                  <a:pt x="249939" y="313158"/>
                  <a:pt x="252130" y="313158"/>
                </a:cubicBezTo>
                <a:cubicBezTo>
                  <a:pt x="254321" y="313158"/>
                  <a:pt x="256607" y="312491"/>
                  <a:pt x="258607" y="311253"/>
                </a:cubicBezTo>
                <a:lnTo>
                  <a:pt x="421961" y="205907"/>
                </a:lnTo>
                <a:lnTo>
                  <a:pt x="468062" y="231434"/>
                </a:lnTo>
                <a:lnTo>
                  <a:pt x="251939" y="368784"/>
                </a:lnTo>
                <a:close/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44825" lIns="89675" spcFirstLastPara="1" rIns="89675" wrap="square" tIns="44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7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/>
          <p:nvPr/>
        </p:nvSpPr>
        <p:spPr>
          <a:xfrm>
            <a:off x="537425" y="1051725"/>
            <a:ext cx="8113200" cy="3502800"/>
          </a:xfrm>
          <a:prstGeom prst="roundRect">
            <a:avLst>
              <a:gd fmla="val 3111" name="adj"/>
            </a:avLst>
          </a:prstGeom>
          <a:solidFill>
            <a:srgbClr val="FFFFFF"/>
          </a:solidFill>
          <a:ln cap="flat" cmpd="sng" w="25400">
            <a:solidFill>
              <a:srgbClr val="29B5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30"/>
          <p:cNvSpPr txBox="1"/>
          <p:nvPr>
            <p:ph type="title"/>
          </p:nvPr>
        </p:nvSpPr>
        <p:spPr>
          <a:xfrm>
            <a:off x="365750" y="274323"/>
            <a:ext cx="834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Accelerate Your Data and AI Workflows</a:t>
            </a:r>
            <a:endParaRPr b="1" sz="2000"/>
          </a:p>
        </p:txBody>
      </p:sp>
      <p:sp>
        <p:nvSpPr>
          <p:cNvPr id="215" name="Google Shape;215;p30"/>
          <p:cNvSpPr/>
          <p:nvPr/>
        </p:nvSpPr>
        <p:spPr>
          <a:xfrm>
            <a:off x="1225353" y="1316584"/>
            <a:ext cx="641400" cy="6165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29B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450" lIns="43450" spcFirstLastPara="1" rIns="43450" wrap="square" tIns="4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6"/>
          </a:p>
        </p:txBody>
      </p:sp>
      <p:sp>
        <p:nvSpPr>
          <p:cNvPr id="216" name="Google Shape;216;p30"/>
          <p:cNvSpPr/>
          <p:nvPr/>
        </p:nvSpPr>
        <p:spPr>
          <a:xfrm>
            <a:off x="1225353" y="2831509"/>
            <a:ext cx="641400" cy="6165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29B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450" lIns="43450" spcFirstLastPara="1" rIns="43450" wrap="square" tIns="4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6"/>
          </a:p>
        </p:txBody>
      </p:sp>
      <p:sp>
        <p:nvSpPr>
          <p:cNvPr id="217" name="Google Shape;217;p30"/>
          <p:cNvSpPr txBox="1"/>
          <p:nvPr/>
        </p:nvSpPr>
        <p:spPr>
          <a:xfrm>
            <a:off x="1004722" y="1972378"/>
            <a:ext cx="10827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525" lIns="50525" spcFirstLastPara="1" rIns="50525" wrap="square" tIns="505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5">
                <a:solidFill>
                  <a:schemeClr val="dk1"/>
                </a:solidFill>
              </a:rPr>
              <a:t>DATA DISCOVERY</a:t>
            </a:r>
            <a:endParaRPr b="1" sz="1105">
              <a:solidFill>
                <a:schemeClr val="dk1"/>
              </a:solidFill>
            </a:endParaRPr>
          </a:p>
        </p:txBody>
      </p:sp>
      <p:sp>
        <p:nvSpPr>
          <p:cNvPr id="218" name="Google Shape;218;p30"/>
          <p:cNvSpPr txBox="1"/>
          <p:nvPr/>
        </p:nvSpPr>
        <p:spPr>
          <a:xfrm>
            <a:off x="1004722" y="3493932"/>
            <a:ext cx="1082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525" lIns="50525" spcFirstLastPara="1" rIns="50525" wrap="square" tIns="505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5">
                <a:solidFill>
                  <a:schemeClr val="dk1"/>
                </a:solidFill>
              </a:rPr>
              <a:t>ML &amp; DATA</a:t>
            </a:r>
            <a:endParaRPr b="1" sz="1005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5">
                <a:solidFill>
                  <a:schemeClr val="dk1"/>
                </a:solidFill>
              </a:rPr>
              <a:t>SCIENCE</a:t>
            </a:r>
            <a:endParaRPr b="1" sz="1005">
              <a:solidFill>
                <a:schemeClr val="dk1"/>
              </a:solidFill>
            </a:endParaRPr>
          </a:p>
        </p:txBody>
      </p:sp>
      <p:grpSp>
        <p:nvGrpSpPr>
          <p:cNvPr id="219" name="Google Shape;219;p30"/>
          <p:cNvGrpSpPr/>
          <p:nvPr/>
        </p:nvGrpSpPr>
        <p:grpSpPr>
          <a:xfrm>
            <a:off x="1368969" y="1425025"/>
            <a:ext cx="354187" cy="399628"/>
            <a:chOff x="9859686" y="1354399"/>
            <a:chExt cx="469370" cy="529589"/>
          </a:xfrm>
        </p:grpSpPr>
        <p:sp>
          <p:nvSpPr>
            <p:cNvPr id="220" name="Google Shape;220;p30"/>
            <p:cNvSpPr/>
            <p:nvPr/>
          </p:nvSpPr>
          <p:spPr>
            <a:xfrm>
              <a:off x="10083417" y="1762070"/>
              <a:ext cx="22964" cy="60007"/>
            </a:xfrm>
            <a:custGeom>
              <a:rect b="b" l="l" r="r" t="t"/>
              <a:pathLst>
                <a:path extrusionOk="0" h="60007" w="22964">
                  <a:moveTo>
                    <a:pt x="11430" y="60007"/>
                  </a:moveTo>
                  <a:cubicBezTo>
                    <a:pt x="4763" y="60007"/>
                    <a:pt x="0" y="54293"/>
                    <a:pt x="0" y="48577"/>
                  </a:cubicBezTo>
                  <a:lnTo>
                    <a:pt x="0" y="11430"/>
                  </a:lnTo>
                  <a:cubicBezTo>
                    <a:pt x="0" y="4763"/>
                    <a:pt x="5715" y="0"/>
                    <a:pt x="11430" y="0"/>
                  </a:cubicBezTo>
                  <a:cubicBezTo>
                    <a:pt x="17145" y="0"/>
                    <a:pt x="22860" y="5715"/>
                    <a:pt x="22860" y="11430"/>
                  </a:cubicBezTo>
                  <a:lnTo>
                    <a:pt x="22860" y="48577"/>
                  </a:lnTo>
                  <a:cubicBezTo>
                    <a:pt x="23813" y="55245"/>
                    <a:pt x="18098" y="60007"/>
                    <a:pt x="11430" y="60007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anchorCtr="0" anchor="ctr" bIns="42125" lIns="84300" spcFirstLastPara="1" rIns="84300" wrap="square" tIns="4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56"/>
                <a:buFont typeface="Arial"/>
                <a:buNone/>
              </a:pPr>
              <a:r>
                <a:t/>
              </a:r>
              <a:endParaRPr b="0" i="0" sz="4056" u="none" cap="none" strike="noStrike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30"/>
            <p:cNvSpPr/>
            <p:nvPr/>
          </p:nvSpPr>
          <p:spPr>
            <a:xfrm>
              <a:off x="9859686" y="1354399"/>
              <a:ext cx="469370" cy="529589"/>
            </a:xfrm>
            <a:custGeom>
              <a:rect b="b" l="l" r="r" t="t"/>
              <a:pathLst>
                <a:path extrusionOk="0" h="529589" w="469370">
                  <a:moveTo>
                    <a:pt x="235162" y="449580"/>
                  </a:moveTo>
                  <a:cubicBezTo>
                    <a:pt x="213254" y="449580"/>
                    <a:pt x="195157" y="467678"/>
                    <a:pt x="195157" y="489585"/>
                  </a:cubicBezTo>
                  <a:cubicBezTo>
                    <a:pt x="195157" y="511493"/>
                    <a:pt x="213254" y="529590"/>
                    <a:pt x="235162" y="529590"/>
                  </a:cubicBezTo>
                  <a:cubicBezTo>
                    <a:pt x="257069" y="529590"/>
                    <a:pt x="275167" y="511493"/>
                    <a:pt x="275167" y="489585"/>
                  </a:cubicBezTo>
                  <a:cubicBezTo>
                    <a:pt x="275167" y="467678"/>
                    <a:pt x="257069" y="449580"/>
                    <a:pt x="235162" y="449580"/>
                  </a:cubicBezTo>
                  <a:close/>
                  <a:moveTo>
                    <a:pt x="235162" y="505778"/>
                  </a:moveTo>
                  <a:cubicBezTo>
                    <a:pt x="226589" y="505778"/>
                    <a:pt x="218969" y="498158"/>
                    <a:pt x="218969" y="489585"/>
                  </a:cubicBezTo>
                  <a:cubicBezTo>
                    <a:pt x="218969" y="481013"/>
                    <a:pt x="226589" y="473393"/>
                    <a:pt x="235162" y="473393"/>
                  </a:cubicBezTo>
                  <a:cubicBezTo>
                    <a:pt x="243734" y="473393"/>
                    <a:pt x="251354" y="481013"/>
                    <a:pt x="251354" y="489585"/>
                  </a:cubicBezTo>
                  <a:cubicBezTo>
                    <a:pt x="251354" y="498158"/>
                    <a:pt x="243734" y="505778"/>
                    <a:pt x="235162" y="505778"/>
                  </a:cubicBezTo>
                  <a:close/>
                  <a:moveTo>
                    <a:pt x="449474" y="342900"/>
                  </a:moveTo>
                  <a:cubicBezTo>
                    <a:pt x="449474" y="342900"/>
                    <a:pt x="449474" y="342900"/>
                    <a:pt x="449474" y="342900"/>
                  </a:cubicBezTo>
                  <a:cubicBezTo>
                    <a:pt x="434234" y="334328"/>
                    <a:pt x="415184" y="336233"/>
                    <a:pt x="402802" y="347663"/>
                  </a:cubicBezTo>
                  <a:lnTo>
                    <a:pt x="380894" y="334328"/>
                  </a:lnTo>
                  <a:cubicBezTo>
                    <a:pt x="390419" y="313373"/>
                    <a:pt x="396134" y="290513"/>
                    <a:pt x="396134" y="265748"/>
                  </a:cubicBezTo>
                  <a:cubicBezTo>
                    <a:pt x="396134" y="240030"/>
                    <a:pt x="390419" y="216218"/>
                    <a:pt x="379942" y="194310"/>
                  </a:cubicBezTo>
                  <a:lnTo>
                    <a:pt x="400897" y="180975"/>
                  </a:lnTo>
                  <a:cubicBezTo>
                    <a:pt x="408517" y="188595"/>
                    <a:pt x="418994" y="192405"/>
                    <a:pt x="429472" y="192405"/>
                  </a:cubicBezTo>
                  <a:cubicBezTo>
                    <a:pt x="436139" y="192405"/>
                    <a:pt x="442807" y="190500"/>
                    <a:pt x="449474" y="186690"/>
                  </a:cubicBezTo>
                  <a:cubicBezTo>
                    <a:pt x="468524" y="175260"/>
                    <a:pt x="475192" y="151448"/>
                    <a:pt x="463762" y="132398"/>
                  </a:cubicBezTo>
                  <a:cubicBezTo>
                    <a:pt x="452332" y="113348"/>
                    <a:pt x="428519" y="106680"/>
                    <a:pt x="409469" y="118110"/>
                  </a:cubicBezTo>
                  <a:cubicBezTo>
                    <a:pt x="394229" y="126683"/>
                    <a:pt x="387562" y="143828"/>
                    <a:pt x="390419" y="160020"/>
                  </a:cubicBezTo>
                  <a:lnTo>
                    <a:pt x="368512" y="173355"/>
                  </a:lnTo>
                  <a:cubicBezTo>
                    <a:pt x="341842" y="134303"/>
                    <a:pt x="298027" y="107633"/>
                    <a:pt x="247544" y="103823"/>
                  </a:cubicBezTo>
                  <a:lnTo>
                    <a:pt x="247544" y="78105"/>
                  </a:lnTo>
                  <a:cubicBezTo>
                    <a:pt x="263737" y="73343"/>
                    <a:pt x="275167" y="58103"/>
                    <a:pt x="275167" y="40005"/>
                  </a:cubicBezTo>
                  <a:cubicBezTo>
                    <a:pt x="275167" y="18098"/>
                    <a:pt x="257069" y="0"/>
                    <a:pt x="235162" y="0"/>
                  </a:cubicBezTo>
                  <a:cubicBezTo>
                    <a:pt x="213254" y="0"/>
                    <a:pt x="195157" y="18098"/>
                    <a:pt x="195157" y="40005"/>
                  </a:cubicBezTo>
                  <a:cubicBezTo>
                    <a:pt x="195157" y="58103"/>
                    <a:pt x="207539" y="73343"/>
                    <a:pt x="223732" y="78105"/>
                  </a:cubicBezTo>
                  <a:lnTo>
                    <a:pt x="223732" y="103823"/>
                  </a:lnTo>
                  <a:cubicBezTo>
                    <a:pt x="173249" y="107633"/>
                    <a:pt x="128482" y="134303"/>
                    <a:pt x="100859" y="174308"/>
                  </a:cubicBezTo>
                  <a:lnTo>
                    <a:pt x="78952" y="160973"/>
                  </a:lnTo>
                  <a:cubicBezTo>
                    <a:pt x="82762" y="144780"/>
                    <a:pt x="76094" y="126683"/>
                    <a:pt x="59902" y="117158"/>
                  </a:cubicBezTo>
                  <a:cubicBezTo>
                    <a:pt x="40852" y="105728"/>
                    <a:pt x="16087" y="112395"/>
                    <a:pt x="5609" y="131445"/>
                  </a:cubicBezTo>
                  <a:cubicBezTo>
                    <a:pt x="-5821" y="150495"/>
                    <a:pt x="847" y="175260"/>
                    <a:pt x="19897" y="185738"/>
                  </a:cubicBezTo>
                  <a:cubicBezTo>
                    <a:pt x="26564" y="189548"/>
                    <a:pt x="33232" y="191453"/>
                    <a:pt x="39899" y="191453"/>
                  </a:cubicBezTo>
                  <a:cubicBezTo>
                    <a:pt x="49424" y="191453"/>
                    <a:pt x="59902" y="187643"/>
                    <a:pt x="66569" y="180975"/>
                  </a:cubicBezTo>
                  <a:lnTo>
                    <a:pt x="88477" y="194310"/>
                  </a:lnTo>
                  <a:cubicBezTo>
                    <a:pt x="78952" y="216218"/>
                    <a:pt x="73237" y="240030"/>
                    <a:pt x="73237" y="264795"/>
                  </a:cubicBezTo>
                  <a:cubicBezTo>
                    <a:pt x="73237" y="288608"/>
                    <a:pt x="78952" y="311468"/>
                    <a:pt x="88477" y="332423"/>
                  </a:cubicBezTo>
                  <a:lnTo>
                    <a:pt x="65617" y="346710"/>
                  </a:lnTo>
                  <a:cubicBezTo>
                    <a:pt x="53234" y="336233"/>
                    <a:pt x="35137" y="334328"/>
                    <a:pt x="20849" y="342900"/>
                  </a:cubicBezTo>
                  <a:cubicBezTo>
                    <a:pt x="20849" y="342900"/>
                    <a:pt x="20849" y="342900"/>
                    <a:pt x="20849" y="342900"/>
                  </a:cubicBezTo>
                  <a:cubicBezTo>
                    <a:pt x="1799" y="354330"/>
                    <a:pt x="-4868" y="378143"/>
                    <a:pt x="6562" y="397193"/>
                  </a:cubicBezTo>
                  <a:cubicBezTo>
                    <a:pt x="14182" y="409575"/>
                    <a:pt x="27517" y="417195"/>
                    <a:pt x="40852" y="417195"/>
                  </a:cubicBezTo>
                  <a:cubicBezTo>
                    <a:pt x="47519" y="417195"/>
                    <a:pt x="54187" y="415290"/>
                    <a:pt x="60854" y="411480"/>
                  </a:cubicBezTo>
                  <a:cubicBezTo>
                    <a:pt x="77047" y="401955"/>
                    <a:pt x="84667" y="382905"/>
                    <a:pt x="78952" y="365760"/>
                  </a:cubicBezTo>
                  <a:lnTo>
                    <a:pt x="99907" y="352425"/>
                  </a:lnTo>
                  <a:cubicBezTo>
                    <a:pt x="128482" y="396240"/>
                    <a:pt x="178964" y="425768"/>
                    <a:pt x="235162" y="425768"/>
                  </a:cubicBezTo>
                  <a:cubicBezTo>
                    <a:pt x="291359" y="425768"/>
                    <a:pt x="340889" y="397193"/>
                    <a:pt x="369464" y="353378"/>
                  </a:cubicBezTo>
                  <a:lnTo>
                    <a:pt x="390419" y="366713"/>
                  </a:lnTo>
                  <a:cubicBezTo>
                    <a:pt x="386609" y="383858"/>
                    <a:pt x="393277" y="401955"/>
                    <a:pt x="409469" y="410528"/>
                  </a:cubicBezTo>
                  <a:cubicBezTo>
                    <a:pt x="416137" y="414338"/>
                    <a:pt x="422804" y="416243"/>
                    <a:pt x="429472" y="416243"/>
                  </a:cubicBezTo>
                  <a:cubicBezTo>
                    <a:pt x="443759" y="416243"/>
                    <a:pt x="457094" y="408623"/>
                    <a:pt x="463762" y="396240"/>
                  </a:cubicBezTo>
                  <a:cubicBezTo>
                    <a:pt x="475192" y="378143"/>
                    <a:pt x="468524" y="353378"/>
                    <a:pt x="449474" y="342900"/>
                  </a:cubicBezTo>
                  <a:close/>
                  <a:moveTo>
                    <a:pt x="421852" y="138113"/>
                  </a:moveTo>
                  <a:cubicBezTo>
                    <a:pt x="424709" y="136208"/>
                    <a:pt x="427567" y="136208"/>
                    <a:pt x="429472" y="136208"/>
                  </a:cubicBezTo>
                  <a:cubicBezTo>
                    <a:pt x="435187" y="136208"/>
                    <a:pt x="440902" y="139065"/>
                    <a:pt x="443759" y="143828"/>
                  </a:cubicBezTo>
                  <a:cubicBezTo>
                    <a:pt x="448522" y="151448"/>
                    <a:pt x="445664" y="161925"/>
                    <a:pt x="438044" y="165735"/>
                  </a:cubicBezTo>
                  <a:cubicBezTo>
                    <a:pt x="430424" y="170498"/>
                    <a:pt x="419947" y="167640"/>
                    <a:pt x="416137" y="160020"/>
                  </a:cubicBezTo>
                  <a:cubicBezTo>
                    <a:pt x="411374" y="152400"/>
                    <a:pt x="414232" y="142875"/>
                    <a:pt x="421852" y="138113"/>
                  </a:cubicBezTo>
                  <a:close/>
                  <a:moveTo>
                    <a:pt x="54187" y="160973"/>
                  </a:moveTo>
                  <a:cubicBezTo>
                    <a:pt x="49424" y="168593"/>
                    <a:pt x="39899" y="171450"/>
                    <a:pt x="32279" y="166688"/>
                  </a:cubicBezTo>
                  <a:cubicBezTo>
                    <a:pt x="24659" y="161925"/>
                    <a:pt x="21802" y="152400"/>
                    <a:pt x="26564" y="144780"/>
                  </a:cubicBezTo>
                  <a:cubicBezTo>
                    <a:pt x="29422" y="140018"/>
                    <a:pt x="35137" y="137160"/>
                    <a:pt x="40852" y="137160"/>
                  </a:cubicBezTo>
                  <a:cubicBezTo>
                    <a:pt x="43709" y="137160"/>
                    <a:pt x="46567" y="138113"/>
                    <a:pt x="48472" y="139065"/>
                  </a:cubicBezTo>
                  <a:cubicBezTo>
                    <a:pt x="56092" y="142875"/>
                    <a:pt x="58949" y="152400"/>
                    <a:pt x="54187" y="160973"/>
                  </a:cubicBezTo>
                  <a:close/>
                  <a:moveTo>
                    <a:pt x="48472" y="391478"/>
                  </a:moveTo>
                  <a:cubicBezTo>
                    <a:pt x="40852" y="396240"/>
                    <a:pt x="30374" y="393383"/>
                    <a:pt x="26564" y="385763"/>
                  </a:cubicBezTo>
                  <a:cubicBezTo>
                    <a:pt x="22754" y="378143"/>
                    <a:pt x="24659" y="367665"/>
                    <a:pt x="32279" y="363855"/>
                  </a:cubicBezTo>
                  <a:cubicBezTo>
                    <a:pt x="39899" y="359093"/>
                    <a:pt x="50377" y="361950"/>
                    <a:pt x="54187" y="369570"/>
                  </a:cubicBezTo>
                  <a:cubicBezTo>
                    <a:pt x="58949" y="377190"/>
                    <a:pt x="56092" y="386715"/>
                    <a:pt x="48472" y="391478"/>
                  </a:cubicBezTo>
                  <a:close/>
                  <a:moveTo>
                    <a:pt x="218969" y="40005"/>
                  </a:moveTo>
                  <a:cubicBezTo>
                    <a:pt x="218969" y="31433"/>
                    <a:pt x="226589" y="23813"/>
                    <a:pt x="235162" y="23813"/>
                  </a:cubicBezTo>
                  <a:cubicBezTo>
                    <a:pt x="243734" y="23813"/>
                    <a:pt x="251354" y="31433"/>
                    <a:pt x="251354" y="40005"/>
                  </a:cubicBezTo>
                  <a:cubicBezTo>
                    <a:pt x="251354" y="48578"/>
                    <a:pt x="243734" y="56198"/>
                    <a:pt x="235162" y="56198"/>
                  </a:cubicBezTo>
                  <a:cubicBezTo>
                    <a:pt x="226589" y="56198"/>
                    <a:pt x="218969" y="49530"/>
                    <a:pt x="218969" y="40005"/>
                  </a:cubicBezTo>
                  <a:close/>
                  <a:moveTo>
                    <a:pt x="235162" y="402908"/>
                  </a:moveTo>
                  <a:cubicBezTo>
                    <a:pt x="158962" y="402908"/>
                    <a:pt x="97049" y="340995"/>
                    <a:pt x="97049" y="264795"/>
                  </a:cubicBezTo>
                  <a:cubicBezTo>
                    <a:pt x="97049" y="188595"/>
                    <a:pt x="158962" y="126683"/>
                    <a:pt x="235162" y="126683"/>
                  </a:cubicBezTo>
                  <a:cubicBezTo>
                    <a:pt x="311362" y="126683"/>
                    <a:pt x="373274" y="188595"/>
                    <a:pt x="373274" y="264795"/>
                  </a:cubicBezTo>
                  <a:cubicBezTo>
                    <a:pt x="373274" y="340995"/>
                    <a:pt x="311362" y="402908"/>
                    <a:pt x="235162" y="402908"/>
                  </a:cubicBezTo>
                  <a:close/>
                  <a:moveTo>
                    <a:pt x="443759" y="384810"/>
                  </a:moveTo>
                  <a:cubicBezTo>
                    <a:pt x="438997" y="392430"/>
                    <a:pt x="429472" y="395288"/>
                    <a:pt x="421852" y="390525"/>
                  </a:cubicBezTo>
                  <a:cubicBezTo>
                    <a:pt x="414232" y="385763"/>
                    <a:pt x="411374" y="376238"/>
                    <a:pt x="416137" y="368618"/>
                  </a:cubicBezTo>
                  <a:cubicBezTo>
                    <a:pt x="418994" y="363855"/>
                    <a:pt x="424709" y="360998"/>
                    <a:pt x="430424" y="360998"/>
                  </a:cubicBezTo>
                  <a:cubicBezTo>
                    <a:pt x="433282" y="360998"/>
                    <a:pt x="436139" y="361950"/>
                    <a:pt x="438044" y="362903"/>
                  </a:cubicBezTo>
                  <a:cubicBezTo>
                    <a:pt x="445664" y="367665"/>
                    <a:pt x="448522" y="377190"/>
                    <a:pt x="443759" y="384810"/>
                  </a:cubicBezTo>
                  <a:close/>
                  <a:moveTo>
                    <a:pt x="40852" y="322898"/>
                  </a:moveTo>
                  <a:cubicBezTo>
                    <a:pt x="34184" y="322898"/>
                    <a:pt x="29422" y="317183"/>
                    <a:pt x="29422" y="311468"/>
                  </a:cubicBezTo>
                  <a:lnTo>
                    <a:pt x="29422" y="218123"/>
                  </a:lnTo>
                  <a:cubicBezTo>
                    <a:pt x="29422" y="211455"/>
                    <a:pt x="35137" y="206693"/>
                    <a:pt x="40852" y="206693"/>
                  </a:cubicBezTo>
                  <a:cubicBezTo>
                    <a:pt x="46567" y="206693"/>
                    <a:pt x="52282" y="212408"/>
                    <a:pt x="52282" y="218123"/>
                  </a:cubicBezTo>
                  <a:lnTo>
                    <a:pt x="52282" y="311468"/>
                  </a:lnTo>
                  <a:cubicBezTo>
                    <a:pt x="52282" y="318135"/>
                    <a:pt x="47519" y="322898"/>
                    <a:pt x="40852" y="322898"/>
                  </a:cubicBezTo>
                  <a:close/>
                  <a:moveTo>
                    <a:pt x="429472" y="206693"/>
                  </a:moveTo>
                  <a:cubicBezTo>
                    <a:pt x="436139" y="206693"/>
                    <a:pt x="440902" y="212408"/>
                    <a:pt x="440902" y="218123"/>
                  </a:cubicBezTo>
                  <a:lnTo>
                    <a:pt x="440902" y="310515"/>
                  </a:lnTo>
                  <a:cubicBezTo>
                    <a:pt x="440902" y="317183"/>
                    <a:pt x="435187" y="321945"/>
                    <a:pt x="429472" y="321945"/>
                  </a:cubicBezTo>
                  <a:cubicBezTo>
                    <a:pt x="423757" y="321945"/>
                    <a:pt x="418042" y="316230"/>
                    <a:pt x="418042" y="310515"/>
                  </a:cubicBezTo>
                  <a:lnTo>
                    <a:pt x="418042" y="218123"/>
                  </a:lnTo>
                  <a:cubicBezTo>
                    <a:pt x="418042" y="212408"/>
                    <a:pt x="422804" y="206693"/>
                    <a:pt x="429472" y="206693"/>
                  </a:cubicBezTo>
                  <a:close/>
                  <a:moveTo>
                    <a:pt x="188489" y="461963"/>
                  </a:moveTo>
                  <a:cubicBezTo>
                    <a:pt x="186584" y="465773"/>
                    <a:pt x="181822" y="467678"/>
                    <a:pt x="178012" y="467678"/>
                  </a:cubicBezTo>
                  <a:cubicBezTo>
                    <a:pt x="176107" y="467678"/>
                    <a:pt x="174202" y="466725"/>
                    <a:pt x="172297" y="465773"/>
                  </a:cubicBezTo>
                  <a:lnTo>
                    <a:pt x="92287" y="419100"/>
                  </a:lnTo>
                  <a:cubicBezTo>
                    <a:pt x="86572" y="416243"/>
                    <a:pt x="84667" y="408623"/>
                    <a:pt x="87524" y="402908"/>
                  </a:cubicBezTo>
                  <a:cubicBezTo>
                    <a:pt x="90382" y="397193"/>
                    <a:pt x="98002" y="395288"/>
                    <a:pt x="103717" y="398145"/>
                  </a:cubicBezTo>
                  <a:lnTo>
                    <a:pt x="183727" y="444818"/>
                  </a:lnTo>
                  <a:cubicBezTo>
                    <a:pt x="189442" y="449580"/>
                    <a:pt x="191347" y="456248"/>
                    <a:pt x="188489" y="461963"/>
                  </a:cubicBezTo>
                  <a:close/>
                  <a:moveTo>
                    <a:pt x="282787" y="67628"/>
                  </a:moveTo>
                  <a:cubicBezTo>
                    <a:pt x="285644" y="61913"/>
                    <a:pt x="293264" y="60008"/>
                    <a:pt x="298979" y="62865"/>
                  </a:cubicBezTo>
                  <a:lnTo>
                    <a:pt x="378989" y="108585"/>
                  </a:lnTo>
                  <a:cubicBezTo>
                    <a:pt x="384704" y="111443"/>
                    <a:pt x="386609" y="119063"/>
                    <a:pt x="383752" y="124777"/>
                  </a:cubicBezTo>
                  <a:cubicBezTo>
                    <a:pt x="381847" y="128588"/>
                    <a:pt x="377084" y="130493"/>
                    <a:pt x="373274" y="130493"/>
                  </a:cubicBezTo>
                  <a:cubicBezTo>
                    <a:pt x="371369" y="130493"/>
                    <a:pt x="369464" y="129540"/>
                    <a:pt x="367559" y="128588"/>
                  </a:cubicBezTo>
                  <a:lnTo>
                    <a:pt x="286597" y="83820"/>
                  </a:lnTo>
                  <a:cubicBezTo>
                    <a:pt x="280882" y="80963"/>
                    <a:pt x="278977" y="73343"/>
                    <a:pt x="282787" y="67628"/>
                  </a:cubicBezTo>
                  <a:close/>
                  <a:moveTo>
                    <a:pt x="382799" y="403860"/>
                  </a:moveTo>
                  <a:cubicBezTo>
                    <a:pt x="385657" y="409575"/>
                    <a:pt x="383752" y="417195"/>
                    <a:pt x="378037" y="420053"/>
                  </a:cubicBezTo>
                  <a:lnTo>
                    <a:pt x="298027" y="465773"/>
                  </a:lnTo>
                  <a:cubicBezTo>
                    <a:pt x="296122" y="466725"/>
                    <a:pt x="294217" y="467678"/>
                    <a:pt x="292312" y="467678"/>
                  </a:cubicBezTo>
                  <a:cubicBezTo>
                    <a:pt x="288502" y="467678"/>
                    <a:pt x="283739" y="465773"/>
                    <a:pt x="281834" y="461963"/>
                  </a:cubicBezTo>
                  <a:cubicBezTo>
                    <a:pt x="278977" y="456248"/>
                    <a:pt x="280882" y="448628"/>
                    <a:pt x="286597" y="445770"/>
                  </a:cubicBezTo>
                  <a:lnTo>
                    <a:pt x="366607" y="400050"/>
                  </a:lnTo>
                  <a:cubicBezTo>
                    <a:pt x="372322" y="396240"/>
                    <a:pt x="378989" y="398145"/>
                    <a:pt x="382799" y="403860"/>
                  </a:cubicBezTo>
                  <a:close/>
                  <a:moveTo>
                    <a:pt x="87524" y="125730"/>
                  </a:moveTo>
                  <a:cubicBezTo>
                    <a:pt x="84667" y="120015"/>
                    <a:pt x="86572" y="112395"/>
                    <a:pt x="92287" y="109538"/>
                  </a:cubicBezTo>
                  <a:lnTo>
                    <a:pt x="172297" y="63818"/>
                  </a:lnTo>
                  <a:cubicBezTo>
                    <a:pt x="178012" y="60960"/>
                    <a:pt x="185632" y="62865"/>
                    <a:pt x="188489" y="68580"/>
                  </a:cubicBezTo>
                  <a:cubicBezTo>
                    <a:pt x="191347" y="74295"/>
                    <a:pt x="189442" y="81915"/>
                    <a:pt x="183727" y="84773"/>
                  </a:cubicBezTo>
                  <a:lnTo>
                    <a:pt x="103717" y="130493"/>
                  </a:lnTo>
                  <a:cubicBezTo>
                    <a:pt x="101812" y="131445"/>
                    <a:pt x="99907" y="131445"/>
                    <a:pt x="98002" y="131445"/>
                  </a:cubicBezTo>
                  <a:cubicBezTo>
                    <a:pt x="93239" y="131445"/>
                    <a:pt x="89429" y="129540"/>
                    <a:pt x="87524" y="125730"/>
                  </a:cubicBezTo>
                  <a:close/>
                  <a:moveTo>
                    <a:pt x="284692" y="220028"/>
                  </a:moveTo>
                  <a:lnTo>
                    <a:pt x="337079" y="254318"/>
                  </a:lnTo>
                  <a:cubicBezTo>
                    <a:pt x="340889" y="256223"/>
                    <a:pt x="342794" y="260033"/>
                    <a:pt x="342794" y="264795"/>
                  </a:cubicBezTo>
                  <a:cubicBezTo>
                    <a:pt x="342794" y="269558"/>
                    <a:pt x="340889" y="272415"/>
                    <a:pt x="337079" y="275273"/>
                  </a:cubicBezTo>
                  <a:lnTo>
                    <a:pt x="284692" y="309563"/>
                  </a:lnTo>
                  <a:cubicBezTo>
                    <a:pt x="282787" y="310515"/>
                    <a:pt x="280882" y="311468"/>
                    <a:pt x="278024" y="311468"/>
                  </a:cubicBezTo>
                  <a:cubicBezTo>
                    <a:pt x="274214" y="311468"/>
                    <a:pt x="270404" y="309563"/>
                    <a:pt x="267547" y="305753"/>
                  </a:cubicBezTo>
                  <a:cubicBezTo>
                    <a:pt x="263737" y="300038"/>
                    <a:pt x="265642" y="292418"/>
                    <a:pt x="271357" y="289560"/>
                  </a:cubicBezTo>
                  <a:lnTo>
                    <a:pt x="308504" y="265748"/>
                  </a:lnTo>
                  <a:lnTo>
                    <a:pt x="271357" y="241935"/>
                  </a:lnTo>
                  <a:cubicBezTo>
                    <a:pt x="265642" y="238125"/>
                    <a:pt x="264689" y="231458"/>
                    <a:pt x="267547" y="225743"/>
                  </a:cubicBezTo>
                  <a:cubicBezTo>
                    <a:pt x="271357" y="218123"/>
                    <a:pt x="278977" y="216218"/>
                    <a:pt x="284692" y="220028"/>
                  </a:cubicBezTo>
                  <a:close/>
                  <a:moveTo>
                    <a:pt x="198967" y="240030"/>
                  </a:moveTo>
                  <a:lnTo>
                    <a:pt x="161819" y="263843"/>
                  </a:lnTo>
                  <a:lnTo>
                    <a:pt x="198967" y="287655"/>
                  </a:lnTo>
                  <a:cubicBezTo>
                    <a:pt x="204682" y="291465"/>
                    <a:pt x="205634" y="298133"/>
                    <a:pt x="202777" y="303848"/>
                  </a:cubicBezTo>
                  <a:cubicBezTo>
                    <a:pt x="200872" y="307658"/>
                    <a:pt x="197062" y="309563"/>
                    <a:pt x="192299" y="309563"/>
                  </a:cubicBezTo>
                  <a:cubicBezTo>
                    <a:pt x="190394" y="309563"/>
                    <a:pt x="187537" y="308610"/>
                    <a:pt x="185632" y="307658"/>
                  </a:cubicBezTo>
                  <a:lnTo>
                    <a:pt x="133244" y="274320"/>
                  </a:lnTo>
                  <a:cubicBezTo>
                    <a:pt x="129434" y="272415"/>
                    <a:pt x="127529" y="268605"/>
                    <a:pt x="127529" y="263843"/>
                  </a:cubicBezTo>
                  <a:cubicBezTo>
                    <a:pt x="127529" y="259080"/>
                    <a:pt x="129434" y="256223"/>
                    <a:pt x="133244" y="253365"/>
                  </a:cubicBezTo>
                  <a:lnTo>
                    <a:pt x="185632" y="219075"/>
                  </a:lnTo>
                  <a:cubicBezTo>
                    <a:pt x="191347" y="215265"/>
                    <a:pt x="198967" y="217170"/>
                    <a:pt x="201824" y="222885"/>
                  </a:cubicBezTo>
                  <a:cubicBezTo>
                    <a:pt x="205634" y="229553"/>
                    <a:pt x="204682" y="236220"/>
                    <a:pt x="198967" y="240030"/>
                  </a:cubicBezTo>
                  <a:close/>
                  <a:moveTo>
                    <a:pt x="258022" y="218123"/>
                  </a:moveTo>
                  <a:lnTo>
                    <a:pt x="236114" y="317183"/>
                  </a:lnTo>
                  <a:cubicBezTo>
                    <a:pt x="235162" y="322898"/>
                    <a:pt x="230399" y="326708"/>
                    <a:pt x="224684" y="326708"/>
                  </a:cubicBezTo>
                  <a:cubicBezTo>
                    <a:pt x="223732" y="326708"/>
                    <a:pt x="222779" y="326708"/>
                    <a:pt x="221827" y="326708"/>
                  </a:cubicBezTo>
                  <a:cubicBezTo>
                    <a:pt x="215159" y="324803"/>
                    <a:pt x="211349" y="319088"/>
                    <a:pt x="213254" y="312420"/>
                  </a:cubicBezTo>
                  <a:lnTo>
                    <a:pt x="235162" y="212408"/>
                  </a:lnTo>
                  <a:cubicBezTo>
                    <a:pt x="237067" y="205740"/>
                    <a:pt x="242782" y="201930"/>
                    <a:pt x="249449" y="203835"/>
                  </a:cubicBezTo>
                  <a:cubicBezTo>
                    <a:pt x="255164" y="204788"/>
                    <a:pt x="259927" y="211455"/>
                    <a:pt x="258022" y="218123"/>
                  </a:cubicBezTo>
                  <a:close/>
                </a:path>
              </a:pathLst>
            </a:custGeom>
            <a:solidFill>
              <a:srgbClr val="29B5E8"/>
            </a:solidFill>
            <a:ln>
              <a:noFill/>
            </a:ln>
          </p:spPr>
          <p:txBody>
            <a:bodyPr anchorCtr="0" anchor="ctr" bIns="42125" lIns="84300" spcFirstLastPara="1" rIns="84300" wrap="square" tIns="42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56"/>
                <a:buFont typeface="Arial"/>
                <a:buNone/>
              </a:pPr>
              <a:r>
                <a:t/>
              </a:r>
              <a:endParaRPr b="0" i="0" sz="4056" u="none" cap="none" strike="noStrike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" name="Google Shape;222;p30"/>
          <p:cNvGrpSpPr/>
          <p:nvPr/>
        </p:nvGrpSpPr>
        <p:grpSpPr>
          <a:xfrm>
            <a:off x="1416124" y="2965707"/>
            <a:ext cx="259893" cy="348121"/>
            <a:chOff x="1831175" y="238125"/>
            <a:chExt cx="3896450" cy="5219200"/>
          </a:xfrm>
        </p:grpSpPr>
        <p:sp>
          <p:nvSpPr>
            <p:cNvPr id="223" name="Google Shape;223;p30"/>
            <p:cNvSpPr/>
            <p:nvPr/>
          </p:nvSpPr>
          <p:spPr>
            <a:xfrm>
              <a:off x="1831175" y="1622825"/>
              <a:ext cx="3863025" cy="2710725"/>
            </a:xfrm>
            <a:custGeom>
              <a:rect b="b" l="l" r="r" t="t"/>
              <a:pathLst>
                <a:path extrusionOk="0" h="108429" w="154521">
                  <a:moveTo>
                    <a:pt x="74667" y="9591"/>
                  </a:moveTo>
                  <a:cubicBezTo>
                    <a:pt x="106569" y="9591"/>
                    <a:pt x="132600" y="26325"/>
                    <a:pt x="142582" y="53301"/>
                  </a:cubicBezTo>
                  <a:cubicBezTo>
                    <a:pt x="144474" y="58357"/>
                    <a:pt x="143886" y="63479"/>
                    <a:pt x="140951" y="67687"/>
                  </a:cubicBezTo>
                  <a:cubicBezTo>
                    <a:pt x="138145" y="71699"/>
                    <a:pt x="133872" y="73721"/>
                    <a:pt x="128262" y="73721"/>
                  </a:cubicBezTo>
                  <a:cubicBezTo>
                    <a:pt x="123108" y="73721"/>
                    <a:pt x="118737" y="75483"/>
                    <a:pt x="115638" y="78810"/>
                  </a:cubicBezTo>
                  <a:cubicBezTo>
                    <a:pt x="111919" y="82757"/>
                    <a:pt x="110027" y="88824"/>
                    <a:pt x="110027" y="96882"/>
                  </a:cubicBezTo>
                  <a:lnTo>
                    <a:pt x="109929" y="98839"/>
                  </a:lnTo>
                  <a:lnTo>
                    <a:pt x="101513" y="98839"/>
                  </a:lnTo>
                  <a:cubicBezTo>
                    <a:pt x="101122" y="89020"/>
                    <a:pt x="96033" y="82268"/>
                    <a:pt x="86313" y="78778"/>
                  </a:cubicBezTo>
                  <a:cubicBezTo>
                    <a:pt x="77570" y="75613"/>
                    <a:pt x="65273" y="74961"/>
                    <a:pt x="49550" y="74961"/>
                  </a:cubicBezTo>
                  <a:lnTo>
                    <a:pt x="36861" y="74961"/>
                  </a:lnTo>
                  <a:cubicBezTo>
                    <a:pt x="27173" y="74961"/>
                    <a:pt x="18561" y="69677"/>
                    <a:pt x="14419" y="61195"/>
                  </a:cubicBezTo>
                  <a:cubicBezTo>
                    <a:pt x="10243" y="52649"/>
                    <a:pt x="11287" y="42667"/>
                    <a:pt x="17159" y="35100"/>
                  </a:cubicBezTo>
                  <a:cubicBezTo>
                    <a:pt x="29978" y="18659"/>
                    <a:pt x="50398" y="9591"/>
                    <a:pt x="74667" y="9591"/>
                  </a:cubicBezTo>
                  <a:close/>
                  <a:moveTo>
                    <a:pt x="74667" y="1"/>
                  </a:moveTo>
                  <a:cubicBezTo>
                    <a:pt x="47365" y="1"/>
                    <a:pt x="24237" y="10374"/>
                    <a:pt x="9591" y="29228"/>
                  </a:cubicBezTo>
                  <a:cubicBezTo>
                    <a:pt x="1468" y="39699"/>
                    <a:pt x="1" y="53562"/>
                    <a:pt x="5807" y="65403"/>
                  </a:cubicBezTo>
                  <a:cubicBezTo>
                    <a:pt x="11581" y="77212"/>
                    <a:pt x="23454" y="84551"/>
                    <a:pt x="36828" y="84551"/>
                  </a:cubicBezTo>
                  <a:lnTo>
                    <a:pt x="49550" y="84551"/>
                  </a:lnTo>
                  <a:cubicBezTo>
                    <a:pt x="85823" y="84551"/>
                    <a:pt x="91956" y="89346"/>
                    <a:pt x="91956" y="100078"/>
                  </a:cubicBezTo>
                  <a:lnTo>
                    <a:pt x="91956" y="103634"/>
                  </a:lnTo>
                  <a:cubicBezTo>
                    <a:pt x="91956" y="106276"/>
                    <a:pt x="94109" y="108429"/>
                    <a:pt x="96751" y="108429"/>
                  </a:cubicBezTo>
                  <a:lnTo>
                    <a:pt x="114561" y="108429"/>
                  </a:lnTo>
                  <a:cubicBezTo>
                    <a:pt x="117138" y="108429"/>
                    <a:pt x="119259" y="106374"/>
                    <a:pt x="119356" y="103797"/>
                  </a:cubicBezTo>
                  <a:lnTo>
                    <a:pt x="119585" y="97175"/>
                  </a:lnTo>
                  <a:lnTo>
                    <a:pt x="119585" y="96979"/>
                  </a:lnTo>
                  <a:cubicBezTo>
                    <a:pt x="119585" y="83312"/>
                    <a:pt x="125652" y="83312"/>
                    <a:pt x="128229" y="83312"/>
                  </a:cubicBezTo>
                  <a:cubicBezTo>
                    <a:pt x="137069" y="83312"/>
                    <a:pt x="144180" y="79789"/>
                    <a:pt x="148812" y="73134"/>
                  </a:cubicBezTo>
                  <a:cubicBezTo>
                    <a:pt x="153509" y="66382"/>
                    <a:pt x="154521" y="57966"/>
                    <a:pt x="151585" y="49974"/>
                  </a:cubicBezTo>
                  <a:cubicBezTo>
                    <a:pt x="140168" y="19148"/>
                    <a:pt x="110680" y="1"/>
                    <a:pt x="74667" y="1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30"/>
            <p:cNvSpPr/>
            <p:nvPr/>
          </p:nvSpPr>
          <p:spPr>
            <a:xfrm>
              <a:off x="4370625" y="2470650"/>
              <a:ext cx="848950" cy="434975"/>
            </a:xfrm>
            <a:custGeom>
              <a:rect b="b" l="l" r="r" t="t"/>
              <a:pathLst>
                <a:path extrusionOk="0" h="17399" w="33958">
                  <a:moveTo>
                    <a:pt x="31241" y="0"/>
                  </a:moveTo>
                  <a:cubicBezTo>
                    <a:pt x="30419" y="0"/>
                    <a:pt x="29618" y="428"/>
                    <a:pt x="29163" y="1187"/>
                  </a:cubicBezTo>
                  <a:cubicBezTo>
                    <a:pt x="23172" y="11211"/>
                    <a:pt x="10513" y="12596"/>
                    <a:pt x="4007" y="12596"/>
                  </a:cubicBezTo>
                  <a:cubicBezTo>
                    <a:pt x="3463" y="12596"/>
                    <a:pt x="2963" y="12586"/>
                    <a:pt x="2512" y="12571"/>
                  </a:cubicBezTo>
                  <a:cubicBezTo>
                    <a:pt x="2492" y="12570"/>
                    <a:pt x="2473" y="12570"/>
                    <a:pt x="2453" y="12570"/>
                  </a:cubicBezTo>
                  <a:cubicBezTo>
                    <a:pt x="1174" y="12570"/>
                    <a:pt x="97" y="13602"/>
                    <a:pt x="33" y="14887"/>
                  </a:cubicBezTo>
                  <a:cubicBezTo>
                    <a:pt x="1" y="16224"/>
                    <a:pt x="1044" y="17333"/>
                    <a:pt x="2349" y="17366"/>
                  </a:cubicBezTo>
                  <a:cubicBezTo>
                    <a:pt x="2969" y="17399"/>
                    <a:pt x="3589" y="17399"/>
                    <a:pt x="4209" y="17399"/>
                  </a:cubicBezTo>
                  <a:cubicBezTo>
                    <a:pt x="17485" y="17399"/>
                    <a:pt x="28021" y="12440"/>
                    <a:pt x="33273" y="3633"/>
                  </a:cubicBezTo>
                  <a:cubicBezTo>
                    <a:pt x="33958" y="2491"/>
                    <a:pt x="33599" y="1023"/>
                    <a:pt x="32457" y="338"/>
                  </a:cubicBezTo>
                  <a:cubicBezTo>
                    <a:pt x="32075" y="109"/>
                    <a:pt x="31655" y="0"/>
                    <a:pt x="31241" y="0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30"/>
            <p:cNvSpPr/>
            <p:nvPr/>
          </p:nvSpPr>
          <p:spPr>
            <a:xfrm>
              <a:off x="3730475" y="1948950"/>
              <a:ext cx="786975" cy="955850"/>
            </a:xfrm>
            <a:custGeom>
              <a:rect b="b" l="l" r="r" t="t"/>
              <a:pathLst>
                <a:path extrusionOk="0" h="38234" w="31479">
                  <a:moveTo>
                    <a:pt x="27702" y="0"/>
                  </a:moveTo>
                  <a:cubicBezTo>
                    <a:pt x="26420" y="0"/>
                    <a:pt x="25375" y="989"/>
                    <a:pt x="25280" y="2254"/>
                  </a:cubicBezTo>
                  <a:cubicBezTo>
                    <a:pt x="25117" y="5321"/>
                    <a:pt x="25509" y="8061"/>
                    <a:pt x="25835" y="10246"/>
                  </a:cubicBezTo>
                  <a:cubicBezTo>
                    <a:pt x="26161" y="12562"/>
                    <a:pt x="26422" y="14454"/>
                    <a:pt x="25900" y="15433"/>
                  </a:cubicBezTo>
                  <a:cubicBezTo>
                    <a:pt x="25324" y="15663"/>
                    <a:pt x="24136" y="15743"/>
                    <a:pt x="22705" y="15743"/>
                  </a:cubicBezTo>
                  <a:cubicBezTo>
                    <a:pt x="20489" y="15743"/>
                    <a:pt x="17692" y="15552"/>
                    <a:pt x="15690" y="15433"/>
                  </a:cubicBezTo>
                  <a:cubicBezTo>
                    <a:pt x="13077" y="15256"/>
                    <a:pt x="10918" y="15125"/>
                    <a:pt x="9153" y="15125"/>
                  </a:cubicBezTo>
                  <a:cubicBezTo>
                    <a:pt x="5699" y="15125"/>
                    <a:pt x="3756" y="15629"/>
                    <a:pt x="2871" y="17292"/>
                  </a:cubicBezTo>
                  <a:cubicBezTo>
                    <a:pt x="0" y="22707"/>
                    <a:pt x="2186" y="34907"/>
                    <a:pt x="2447" y="36277"/>
                  </a:cubicBezTo>
                  <a:cubicBezTo>
                    <a:pt x="2642" y="37451"/>
                    <a:pt x="3653" y="38234"/>
                    <a:pt x="4795" y="38234"/>
                  </a:cubicBezTo>
                  <a:cubicBezTo>
                    <a:pt x="4926" y="38234"/>
                    <a:pt x="5089" y="38234"/>
                    <a:pt x="5219" y="38201"/>
                  </a:cubicBezTo>
                  <a:cubicBezTo>
                    <a:pt x="6524" y="37973"/>
                    <a:pt x="7372" y="36701"/>
                    <a:pt x="7144" y="35396"/>
                  </a:cubicBezTo>
                  <a:cubicBezTo>
                    <a:pt x="6328" y="31090"/>
                    <a:pt x="5611" y="23359"/>
                    <a:pt x="6850" y="20032"/>
                  </a:cubicBezTo>
                  <a:cubicBezTo>
                    <a:pt x="7335" y="19937"/>
                    <a:pt x="8099" y="19900"/>
                    <a:pt x="9006" y="19900"/>
                  </a:cubicBezTo>
                  <a:cubicBezTo>
                    <a:pt x="10909" y="19900"/>
                    <a:pt x="13443" y="20063"/>
                    <a:pt x="15364" y="20195"/>
                  </a:cubicBezTo>
                  <a:cubicBezTo>
                    <a:pt x="18161" y="20380"/>
                    <a:pt x="20536" y="20524"/>
                    <a:pt x="22519" y="20524"/>
                  </a:cubicBezTo>
                  <a:cubicBezTo>
                    <a:pt x="26131" y="20524"/>
                    <a:pt x="28439" y="20046"/>
                    <a:pt x="29619" y="18466"/>
                  </a:cubicBezTo>
                  <a:cubicBezTo>
                    <a:pt x="31478" y="15987"/>
                    <a:pt x="31021" y="12856"/>
                    <a:pt x="30565" y="9561"/>
                  </a:cubicBezTo>
                  <a:cubicBezTo>
                    <a:pt x="30271" y="7473"/>
                    <a:pt x="29945" y="5125"/>
                    <a:pt x="30076" y="2515"/>
                  </a:cubicBezTo>
                  <a:cubicBezTo>
                    <a:pt x="30141" y="1210"/>
                    <a:pt x="29130" y="69"/>
                    <a:pt x="27825" y="3"/>
                  </a:cubicBezTo>
                  <a:cubicBezTo>
                    <a:pt x="27784" y="1"/>
                    <a:pt x="27743" y="0"/>
                    <a:pt x="27702" y="0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30"/>
            <p:cNvSpPr/>
            <p:nvPr/>
          </p:nvSpPr>
          <p:spPr>
            <a:xfrm>
              <a:off x="4623425" y="2765175"/>
              <a:ext cx="149275" cy="426700"/>
            </a:xfrm>
            <a:custGeom>
              <a:rect b="b" l="l" r="r" t="t"/>
              <a:pathLst>
                <a:path extrusionOk="0" h="17068" w="5971">
                  <a:moveTo>
                    <a:pt x="2914" y="0"/>
                  </a:moveTo>
                  <a:cubicBezTo>
                    <a:pt x="1685" y="0"/>
                    <a:pt x="614" y="917"/>
                    <a:pt x="490" y="2160"/>
                  </a:cubicBezTo>
                  <a:cubicBezTo>
                    <a:pt x="1" y="7183"/>
                    <a:pt x="979" y="14653"/>
                    <a:pt x="1045" y="14979"/>
                  </a:cubicBezTo>
                  <a:cubicBezTo>
                    <a:pt x="1208" y="16186"/>
                    <a:pt x="2219" y="17067"/>
                    <a:pt x="3393" y="17067"/>
                  </a:cubicBezTo>
                  <a:cubicBezTo>
                    <a:pt x="3524" y="17067"/>
                    <a:pt x="3622" y="17067"/>
                    <a:pt x="3719" y="17035"/>
                  </a:cubicBezTo>
                  <a:cubicBezTo>
                    <a:pt x="5057" y="16871"/>
                    <a:pt x="5970" y="15664"/>
                    <a:pt x="5774" y="14327"/>
                  </a:cubicBezTo>
                  <a:cubicBezTo>
                    <a:pt x="5774" y="14262"/>
                    <a:pt x="4796" y="7085"/>
                    <a:pt x="5253" y="2649"/>
                  </a:cubicBezTo>
                  <a:cubicBezTo>
                    <a:pt x="5383" y="1312"/>
                    <a:pt x="4404" y="137"/>
                    <a:pt x="3100" y="7"/>
                  </a:cubicBezTo>
                  <a:cubicBezTo>
                    <a:pt x="3037" y="2"/>
                    <a:pt x="2976" y="0"/>
                    <a:pt x="2914" y="0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30"/>
            <p:cNvSpPr/>
            <p:nvPr/>
          </p:nvSpPr>
          <p:spPr>
            <a:xfrm>
              <a:off x="3055225" y="1887050"/>
              <a:ext cx="833475" cy="1448350"/>
            </a:xfrm>
            <a:custGeom>
              <a:rect b="b" l="l" r="r" t="t"/>
              <a:pathLst>
                <a:path extrusionOk="0" h="57934" w="33339">
                  <a:moveTo>
                    <a:pt x="2415" y="0"/>
                  </a:moveTo>
                  <a:cubicBezTo>
                    <a:pt x="1077" y="0"/>
                    <a:pt x="1" y="1077"/>
                    <a:pt x="1" y="2414"/>
                  </a:cubicBezTo>
                  <a:cubicBezTo>
                    <a:pt x="1" y="16636"/>
                    <a:pt x="1599" y="25901"/>
                    <a:pt x="5318" y="33305"/>
                  </a:cubicBezTo>
                  <a:cubicBezTo>
                    <a:pt x="8058" y="38818"/>
                    <a:pt x="24074" y="57933"/>
                    <a:pt x="30957" y="57933"/>
                  </a:cubicBezTo>
                  <a:cubicBezTo>
                    <a:pt x="32262" y="57933"/>
                    <a:pt x="33306" y="56889"/>
                    <a:pt x="33338" y="55585"/>
                  </a:cubicBezTo>
                  <a:cubicBezTo>
                    <a:pt x="33338" y="54247"/>
                    <a:pt x="32262" y="53171"/>
                    <a:pt x="30957" y="53138"/>
                  </a:cubicBezTo>
                  <a:cubicBezTo>
                    <a:pt x="27728" y="53073"/>
                    <a:pt x="12951" y="37872"/>
                    <a:pt x="9591" y="31185"/>
                  </a:cubicBezTo>
                  <a:cubicBezTo>
                    <a:pt x="7242" y="26422"/>
                    <a:pt x="4796" y="19311"/>
                    <a:pt x="4796" y="2414"/>
                  </a:cubicBezTo>
                  <a:cubicBezTo>
                    <a:pt x="4796" y="1077"/>
                    <a:pt x="3720" y="0"/>
                    <a:pt x="2415" y="0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30"/>
            <p:cNvSpPr/>
            <p:nvPr/>
          </p:nvSpPr>
          <p:spPr>
            <a:xfrm>
              <a:off x="2406100" y="2227500"/>
              <a:ext cx="517875" cy="613700"/>
            </a:xfrm>
            <a:custGeom>
              <a:rect b="b" l="l" r="r" t="t"/>
              <a:pathLst>
                <a:path extrusionOk="0" h="24548" w="20715">
                  <a:moveTo>
                    <a:pt x="2664" y="1"/>
                  </a:moveTo>
                  <a:cubicBezTo>
                    <a:pt x="2096" y="1"/>
                    <a:pt x="1528" y="199"/>
                    <a:pt x="1077" y="605"/>
                  </a:cubicBezTo>
                  <a:cubicBezTo>
                    <a:pt x="98" y="1485"/>
                    <a:pt x="1" y="3018"/>
                    <a:pt x="881" y="3997"/>
                  </a:cubicBezTo>
                  <a:cubicBezTo>
                    <a:pt x="2838" y="6183"/>
                    <a:pt x="4959" y="8107"/>
                    <a:pt x="7014" y="9999"/>
                  </a:cubicBezTo>
                  <a:cubicBezTo>
                    <a:pt x="11548" y="14174"/>
                    <a:pt x="15495" y="17763"/>
                    <a:pt x="15854" y="22329"/>
                  </a:cubicBezTo>
                  <a:cubicBezTo>
                    <a:pt x="15952" y="23569"/>
                    <a:pt x="16995" y="24515"/>
                    <a:pt x="18235" y="24515"/>
                  </a:cubicBezTo>
                  <a:lnTo>
                    <a:pt x="18235" y="24548"/>
                  </a:lnTo>
                  <a:cubicBezTo>
                    <a:pt x="18300" y="24548"/>
                    <a:pt x="18365" y="24515"/>
                    <a:pt x="18431" y="24515"/>
                  </a:cubicBezTo>
                  <a:cubicBezTo>
                    <a:pt x="19736" y="24417"/>
                    <a:pt x="20714" y="23275"/>
                    <a:pt x="20616" y="21938"/>
                  </a:cubicBezTo>
                  <a:cubicBezTo>
                    <a:pt x="20127" y="15512"/>
                    <a:pt x="15332" y="11108"/>
                    <a:pt x="10243" y="6444"/>
                  </a:cubicBezTo>
                  <a:cubicBezTo>
                    <a:pt x="8286" y="4649"/>
                    <a:pt x="6264" y="2790"/>
                    <a:pt x="4469" y="800"/>
                  </a:cubicBezTo>
                  <a:cubicBezTo>
                    <a:pt x="3994" y="272"/>
                    <a:pt x="3330" y="1"/>
                    <a:pt x="2664" y="1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30"/>
            <p:cNvSpPr/>
            <p:nvPr/>
          </p:nvSpPr>
          <p:spPr>
            <a:xfrm>
              <a:off x="3324350" y="3030850"/>
              <a:ext cx="307475" cy="601375"/>
            </a:xfrm>
            <a:custGeom>
              <a:rect b="b" l="l" r="r" t="t"/>
              <a:pathLst>
                <a:path extrusionOk="0" h="24055" w="12299">
                  <a:moveTo>
                    <a:pt x="9644" y="1"/>
                  </a:moveTo>
                  <a:cubicBezTo>
                    <a:pt x="9084" y="1"/>
                    <a:pt x="8520" y="199"/>
                    <a:pt x="8058" y="601"/>
                  </a:cubicBezTo>
                  <a:cubicBezTo>
                    <a:pt x="4796" y="3407"/>
                    <a:pt x="0" y="12051"/>
                    <a:pt x="0" y="21674"/>
                  </a:cubicBezTo>
                  <a:cubicBezTo>
                    <a:pt x="0" y="22978"/>
                    <a:pt x="1077" y="24055"/>
                    <a:pt x="2414" y="24055"/>
                  </a:cubicBezTo>
                  <a:cubicBezTo>
                    <a:pt x="3719" y="24055"/>
                    <a:pt x="4796" y="22978"/>
                    <a:pt x="4796" y="21674"/>
                  </a:cubicBezTo>
                  <a:cubicBezTo>
                    <a:pt x="4796" y="13356"/>
                    <a:pt x="9036" y="6081"/>
                    <a:pt x="11189" y="4222"/>
                  </a:cubicBezTo>
                  <a:cubicBezTo>
                    <a:pt x="12200" y="3341"/>
                    <a:pt x="12298" y="1841"/>
                    <a:pt x="11450" y="830"/>
                  </a:cubicBezTo>
                  <a:cubicBezTo>
                    <a:pt x="10972" y="280"/>
                    <a:pt x="10311" y="1"/>
                    <a:pt x="9644" y="1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30"/>
            <p:cNvSpPr/>
            <p:nvPr/>
          </p:nvSpPr>
          <p:spPr>
            <a:xfrm>
              <a:off x="3615475" y="1841300"/>
              <a:ext cx="165575" cy="383375"/>
            </a:xfrm>
            <a:custGeom>
              <a:rect b="b" l="l" r="r" t="t"/>
              <a:pathLst>
                <a:path extrusionOk="0" h="15335" w="6623">
                  <a:moveTo>
                    <a:pt x="2781" y="1"/>
                  </a:moveTo>
                  <a:cubicBezTo>
                    <a:pt x="1528" y="1"/>
                    <a:pt x="455" y="959"/>
                    <a:pt x="392" y="2254"/>
                  </a:cubicBezTo>
                  <a:cubicBezTo>
                    <a:pt x="294" y="3657"/>
                    <a:pt x="1" y="10736"/>
                    <a:pt x="1795" y="14063"/>
                  </a:cubicBezTo>
                  <a:cubicBezTo>
                    <a:pt x="2219" y="14878"/>
                    <a:pt x="3034" y="15335"/>
                    <a:pt x="3882" y="15335"/>
                  </a:cubicBezTo>
                  <a:cubicBezTo>
                    <a:pt x="4274" y="15335"/>
                    <a:pt x="4665" y="15237"/>
                    <a:pt x="5024" y="15041"/>
                  </a:cubicBezTo>
                  <a:cubicBezTo>
                    <a:pt x="6198" y="14422"/>
                    <a:pt x="6623" y="12986"/>
                    <a:pt x="6003" y="11812"/>
                  </a:cubicBezTo>
                  <a:cubicBezTo>
                    <a:pt x="5155" y="10214"/>
                    <a:pt x="4992" y="5419"/>
                    <a:pt x="5155" y="2515"/>
                  </a:cubicBezTo>
                  <a:cubicBezTo>
                    <a:pt x="5252" y="1211"/>
                    <a:pt x="4241" y="69"/>
                    <a:pt x="2904" y="4"/>
                  </a:cubicBezTo>
                  <a:cubicBezTo>
                    <a:pt x="2863" y="2"/>
                    <a:pt x="2822" y="1"/>
                    <a:pt x="2781" y="1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30"/>
            <p:cNvSpPr/>
            <p:nvPr/>
          </p:nvSpPr>
          <p:spPr>
            <a:xfrm>
              <a:off x="2212825" y="3071975"/>
              <a:ext cx="519500" cy="345775"/>
            </a:xfrm>
            <a:custGeom>
              <a:rect b="b" l="l" r="r" t="t"/>
              <a:pathLst>
                <a:path extrusionOk="0" h="13831" w="20780">
                  <a:moveTo>
                    <a:pt x="18398" y="0"/>
                  </a:moveTo>
                  <a:cubicBezTo>
                    <a:pt x="11157" y="0"/>
                    <a:pt x="5252" y="5219"/>
                    <a:pt x="914" y="9786"/>
                  </a:cubicBezTo>
                  <a:cubicBezTo>
                    <a:pt x="1" y="10765"/>
                    <a:pt x="33" y="12265"/>
                    <a:pt x="979" y="13178"/>
                  </a:cubicBezTo>
                  <a:cubicBezTo>
                    <a:pt x="1436" y="13603"/>
                    <a:pt x="2023" y="13831"/>
                    <a:pt x="2643" y="13831"/>
                  </a:cubicBezTo>
                  <a:cubicBezTo>
                    <a:pt x="3263" y="13831"/>
                    <a:pt x="3882" y="13603"/>
                    <a:pt x="4372" y="13081"/>
                  </a:cubicBezTo>
                  <a:cubicBezTo>
                    <a:pt x="8058" y="9231"/>
                    <a:pt x="12983" y="4795"/>
                    <a:pt x="18398" y="4795"/>
                  </a:cubicBezTo>
                  <a:cubicBezTo>
                    <a:pt x="19703" y="4795"/>
                    <a:pt x="20779" y="3719"/>
                    <a:pt x="20779" y="2381"/>
                  </a:cubicBezTo>
                  <a:cubicBezTo>
                    <a:pt x="20779" y="1044"/>
                    <a:pt x="19703" y="0"/>
                    <a:pt x="18398" y="0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30"/>
            <p:cNvSpPr/>
            <p:nvPr/>
          </p:nvSpPr>
          <p:spPr>
            <a:xfrm>
              <a:off x="4217325" y="3203175"/>
              <a:ext cx="517850" cy="542425"/>
            </a:xfrm>
            <a:custGeom>
              <a:rect b="b" l="l" r="r" t="t"/>
              <a:pathLst>
                <a:path extrusionOk="0" h="21697" w="20714">
                  <a:moveTo>
                    <a:pt x="2468" y="1"/>
                  </a:moveTo>
                  <a:cubicBezTo>
                    <a:pt x="2429" y="1"/>
                    <a:pt x="2389" y="2"/>
                    <a:pt x="2349" y="4"/>
                  </a:cubicBezTo>
                  <a:cubicBezTo>
                    <a:pt x="1011" y="102"/>
                    <a:pt x="0" y="1211"/>
                    <a:pt x="98" y="2548"/>
                  </a:cubicBezTo>
                  <a:cubicBezTo>
                    <a:pt x="424" y="8681"/>
                    <a:pt x="12135" y="18140"/>
                    <a:pt x="16604" y="21272"/>
                  </a:cubicBezTo>
                  <a:cubicBezTo>
                    <a:pt x="17028" y="21566"/>
                    <a:pt x="17517" y="21696"/>
                    <a:pt x="17974" y="21696"/>
                  </a:cubicBezTo>
                  <a:cubicBezTo>
                    <a:pt x="18724" y="21696"/>
                    <a:pt x="19474" y="21337"/>
                    <a:pt x="19931" y="20652"/>
                  </a:cubicBezTo>
                  <a:cubicBezTo>
                    <a:pt x="20714" y="19576"/>
                    <a:pt x="20420" y="18075"/>
                    <a:pt x="19344" y="17325"/>
                  </a:cubicBezTo>
                  <a:cubicBezTo>
                    <a:pt x="12069" y="12236"/>
                    <a:pt x="5024" y="4929"/>
                    <a:pt x="4860" y="2255"/>
                  </a:cubicBezTo>
                  <a:cubicBezTo>
                    <a:pt x="4797" y="990"/>
                    <a:pt x="3722" y="1"/>
                    <a:pt x="2468" y="1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30"/>
            <p:cNvSpPr/>
            <p:nvPr/>
          </p:nvSpPr>
          <p:spPr>
            <a:xfrm>
              <a:off x="3059300" y="884800"/>
              <a:ext cx="420025" cy="863625"/>
            </a:xfrm>
            <a:custGeom>
              <a:rect b="b" l="l" r="r" t="t"/>
              <a:pathLst>
                <a:path extrusionOk="0" h="34545" w="16801">
                  <a:moveTo>
                    <a:pt x="2382" y="1"/>
                  </a:moveTo>
                  <a:cubicBezTo>
                    <a:pt x="1077" y="1"/>
                    <a:pt x="1" y="1044"/>
                    <a:pt x="1" y="2382"/>
                  </a:cubicBezTo>
                  <a:lnTo>
                    <a:pt x="1" y="13766"/>
                  </a:lnTo>
                  <a:cubicBezTo>
                    <a:pt x="1" y="15071"/>
                    <a:pt x="1077" y="16147"/>
                    <a:pt x="2382" y="16147"/>
                  </a:cubicBezTo>
                  <a:lnTo>
                    <a:pt x="12005" y="16147"/>
                  </a:lnTo>
                  <a:lnTo>
                    <a:pt x="12005" y="32131"/>
                  </a:lnTo>
                  <a:cubicBezTo>
                    <a:pt x="12005" y="33469"/>
                    <a:pt x="13082" y="34545"/>
                    <a:pt x="14419" y="34545"/>
                  </a:cubicBezTo>
                  <a:cubicBezTo>
                    <a:pt x="15756" y="34545"/>
                    <a:pt x="16800" y="33469"/>
                    <a:pt x="16800" y="32131"/>
                  </a:cubicBezTo>
                  <a:lnTo>
                    <a:pt x="16800" y="13766"/>
                  </a:lnTo>
                  <a:cubicBezTo>
                    <a:pt x="16800" y="12429"/>
                    <a:pt x="15756" y="11352"/>
                    <a:pt x="14419" y="11352"/>
                  </a:cubicBezTo>
                  <a:lnTo>
                    <a:pt x="4796" y="11352"/>
                  </a:lnTo>
                  <a:lnTo>
                    <a:pt x="4796" y="2382"/>
                  </a:lnTo>
                  <a:cubicBezTo>
                    <a:pt x="4796" y="1044"/>
                    <a:pt x="3720" y="1"/>
                    <a:pt x="2382" y="1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30"/>
            <p:cNvSpPr/>
            <p:nvPr/>
          </p:nvSpPr>
          <p:spPr>
            <a:xfrm>
              <a:off x="3359425" y="3644450"/>
              <a:ext cx="119900" cy="1188200"/>
            </a:xfrm>
            <a:custGeom>
              <a:rect b="b" l="l" r="r" t="t"/>
              <a:pathLst>
                <a:path extrusionOk="0" h="47528" w="4796">
                  <a:moveTo>
                    <a:pt x="2414" y="0"/>
                  </a:moveTo>
                  <a:cubicBezTo>
                    <a:pt x="1077" y="0"/>
                    <a:pt x="0" y="1077"/>
                    <a:pt x="0" y="2414"/>
                  </a:cubicBezTo>
                  <a:lnTo>
                    <a:pt x="0" y="45113"/>
                  </a:lnTo>
                  <a:cubicBezTo>
                    <a:pt x="0" y="46451"/>
                    <a:pt x="1077" y="47527"/>
                    <a:pt x="2414" y="47527"/>
                  </a:cubicBezTo>
                  <a:cubicBezTo>
                    <a:pt x="3751" y="47527"/>
                    <a:pt x="4795" y="46451"/>
                    <a:pt x="4795" y="45113"/>
                  </a:cubicBezTo>
                  <a:lnTo>
                    <a:pt x="4795" y="2414"/>
                  </a:lnTo>
                  <a:cubicBezTo>
                    <a:pt x="4795" y="1077"/>
                    <a:pt x="3751" y="0"/>
                    <a:pt x="2414" y="0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30"/>
            <p:cNvSpPr/>
            <p:nvPr/>
          </p:nvSpPr>
          <p:spPr>
            <a:xfrm>
              <a:off x="2480300" y="3560450"/>
              <a:ext cx="698925" cy="738050"/>
            </a:xfrm>
            <a:custGeom>
              <a:rect b="b" l="l" r="r" t="t"/>
              <a:pathLst>
                <a:path extrusionOk="0" h="29522" w="27957">
                  <a:moveTo>
                    <a:pt x="25542" y="0"/>
                  </a:moveTo>
                  <a:cubicBezTo>
                    <a:pt x="24237" y="0"/>
                    <a:pt x="23161" y="1077"/>
                    <a:pt x="23161" y="2414"/>
                  </a:cubicBezTo>
                  <a:lnTo>
                    <a:pt x="23161" y="15266"/>
                  </a:lnTo>
                  <a:lnTo>
                    <a:pt x="2513" y="15266"/>
                  </a:lnTo>
                  <a:cubicBezTo>
                    <a:pt x="1208" y="15266"/>
                    <a:pt x="131" y="16310"/>
                    <a:pt x="131" y="17615"/>
                  </a:cubicBezTo>
                  <a:lnTo>
                    <a:pt x="1" y="27107"/>
                  </a:lnTo>
                  <a:cubicBezTo>
                    <a:pt x="1" y="28412"/>
                    <a:pt x="1045" y="29521"/>
                    <a:pt x="2382" y="29521"/>
                  </a:cubicBezTo>
                  <a:lnTo>
                    <a:pt x="2415" y="29521"/>
                  </a:lnTo>
                  <a:cubicBezTo>
                    <a:pt x="3720" y="29521"/>
                    <a:pt x="4763" y="28477"/>
                    <a:pt x="4796" y="27173"/>
                  </a:cubicBezTo>
                  <a:lnTo>
                    <a:pt x="4894" y="20062"/>
                  </a:lnTo>
                  <a:lnTo>
                    <a:pt x="25542" y="20062"/>
                  </a:lnTo>
                  <a:cubicBezTo>
                    <a:pt x="26880" y="20062"/>
                    <a:pt x="27956" y="18985"/>
                    <a:pt x="27956" y="17648"/>
                  </a:cubicBezTo>
                  <a:lnTo>
                    <a:pt x="27956" y="2414"/>
                  </a:lnTo>
                  <a:cubicBezTo>
                    <a:pt x="27956" y="1077"/>
                    <a:pt x="26880" y="0"/>
                    <a:pt x="25542" y="0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30"/>
            <p:cNvSpPr/>
            <p:nvPr/>
          </p:nvSpPr>
          <p:spPr>
            <a:xfrm>
              <a:off x="2751050" y="238125"/>
              <a:ext cx="735600" cy="735600"/>
            </a:xfrm>
            <a:custGeom>
              <a:rect b="b" l="l" r="r" t="t"/>
              <a:pathLst>
                <a:path extrusionOk="0" h="29424" w="29424">
                  <a:moveTo>
                    <a:pt x="14712" y="7274"/>
                  </a:moveTo>
                  <a:cubicBezTo>
                    <a:pt x="18822" y="7274"/>
                    <a:pt x="22150" y="10601"/>
                    <a:pt x="22150" y="14712"/>
                  </a:cubicBezTo>
                  <a:cubicBezTo>
                    <a:pt x="22150" y="18822"/>
                    <a:pt x="18822" y="22182"/>
                    <a:pt x="14712" y="22182"/>
                  </a:cubicBezTo>
                  <a:cubicBezTo>
                    <a:pt x="10602" y="22182"/>
                    <a:pt x="7242" y="18822"/>
                    <a:pt x="7242" y="14712"/>
                  </a:cubicBezTo>
                  <a:cubicBezTo>
                    <a:pt x="7242" y="10601"/>
                    <a:pt x="10602" y="7274"/>
                    <a:pt x="14712" y="7274"/>
                  </a:cubicBezTo>
                  <a:close/>
                  <a:moveTo>
                    <a:pt x="14712" y="0"/>
                  </a:moveTo>
                  <a:cubicBezTo>
                    <a:pt x="6590" y="0"/>
                    <a:pt x="1" y="6589"/>
                    <a:pt x="1" y="14712"/>
                  </a:cubicBezTo>
                  <a:cubicBezTo>
                    <a:pt x="1" y="22834"/>
                    <a:pt x="6590" y="29423"/>
                    <a:pt x="14712" y="29423"/>
                  </a:cubicBezTo>
                  <a:cubicBezTo>
                    <a:pt x="22835" y="29423"/>
                    <a:pt x="29424" y="22834"/>
                    <a:pt x="29424" y="14712"/>
                  </a:cubicBezTo>
                  <a:cubicBezTo>
                    <a:pt x="29424" y="6589"/>
                    <a:pt x="22802" y="0"/>
                    <a:pt x="14712" y="0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30"/>
            <p:cNvSpPr/>
            <p:nvPr/>
          </p:nvSpPr>
          <p:spPr>
            <a:xfrm>
              <a:off x="2169600" y="1097650"/>
              <a:ext cx="1009625" cy="782900"/>
            </a:xfrm>
            <a:custGeom>
              <a:rect b="b" l="l" r="r" t="t"/>
              <a:pathLst>
                <a:path extrusionOk="0" h="31316" w="40385">
                  <a:moveTo>
                    <a:pt x="2382" y="0"/>
                  </a:moveTo>
                  <a:cubicBezTo>
                    <a:pt x="1077" y="0"/>
                    <a:pt x="1" y="1077"/>
                    <a:pt x="1" y="2382"/>
                  </a:cubicBezTo>
                  <a:lnTo>
                    <a:pt x="1" y="15201"/>
                  </a:lnTo>
                  <a:cubicBezTo>
                    <a:pt x="1" y="16539"/>
                    <a:pt x="1077" y="17615"/>
                    <a:pt x="2382" y="17615"/>
                  </a:cubicBezTo>
                  <a:lnTo>
                    <a:pt x="35589" y="17615"/>
                  </a:lnTo>
                  <a:lnTo>
                    <a:pt x="35589" y="28934"/>
                  </a:lnTo>
                  <a:cubicBezTo>
                    <a:pt x="35589" y="30239"/>
                    <a:pt x="36665" y="31315"/>
                    <a:pt x="37970" y="31315"/>
                  </a:cubicBezTo>
                  <a:cubicBezTo>
                    <a:pt x="39308" y="31315"/>
                    <a:pt x="40384" y="30239"/>
                    <a:pt x="40384" y="28934"/>
                  </a:cubicBezTo>
                  <a:lnTo>
                    <a:pt x="40384" y="15201"/>
                  </a:lnTo>
                  <a:cubicBezTo>
                    <a:pt x="40384" y="13896"/>
                    <a:pt x="39308" y="12820"/>
                    <a:pt x="37970" y="12820"/>
                  </a:cubicBezTo>
                  <a:lnTo>
                    <a:pt x="4796" y="12820"/>
                  </a:lnTo>
                  <a:lnTo>
                    <a:pt x="4796" y="2382"/>
                  </a:lnTo>
                  <a:cubicBezTo>
                    <a:pt x="4796" y="1077"/>
                    <a:pt x="3719" y="0"/>
                    <a:pt x="2382" y="0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30"/>
            <p:cNvSpPr/>
            <p:nvPr/>
          </p:nvSpPr>
          <p:spPr>
            <a:xfrm>
              <a:off x="1864625" y="512125"/>
              <a:ext cx="735600" cy="736425"/>
            </a:xfrm>
            <a:custGeom>
              <a:rect b="b" l="l" r="r" t="t"/>
              <a:pathLst>
                <a:path extrusionOk="0" h="29457" w="29424">
                  <a:moveTo>
                    <a:pt x="14712" y="7275"/>
                  </a:moveTo>
                  <a:cubicBezTo>
                    <a:pt x="18822" y="7275"/>
                    <a:pt x="22181" y="10602"/>
                    <a:pt x="22181" y="14712"/>
                  </a:cubicBezTo>
                  <a:cubicBezTo>
                    <a:pt x="22181" y="18822"/>
                    <a:pt x="18822" y="22182"/>
                    <a:pt x="14712" y="22182"/>
                  </a:cubicBezTo>
                  <a:cubicBezTo>
                    <a:pt x="10601" y="22182"/>
                    <a:pt x="7274" y="18822"/>
                    <a:pt x="7274" y="14712"/>
                  </a:cubicBezTo>
                  <a:cubicBezTo>
                    <a:pt x="7274" y="10602"/>
                    <a:pt x="10601" y="7275"/>
                    <a:pt x="14712" y="7275"/>
                  </a:cubicBezTo>
                  <a:close/>
                  <a:moveTo>
                    <a:pt x="14712" y="0"/>
                  </a:moveTo>
                  <a:cubicBezTo>
                    <a:pt x="6589" y="0"/>
                    <a:pt x="0" y="6622"/>
                    <a:pt x="0" y="14744"/>
                  </a:cubicBezTo>
                  <a:cubicBezTo>
                    <a:pt x="0" y="22834"/>
                    <a:pt x="6589" y="29456"/>
                    <a:pt x="14712" y="29456"/>
                  </a:cubicBezTo>
                  <a:cubicBezTo>
                    <a:pt x="22834" y="29456"/>
                    <a:pt x="29423" y="22834"/>
                    <a:pt x="29423" y="14744"/>
                  </a:cubicBezTo>
                  <a:cubicBezTo>
                    <a:pt x="29423" y="6622"/>
                    <a:pt x="22834" y="0"/>
                    <a:pt x="14712" y="0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30"/>
            <p:cNvSpPr/>
            <p:nvPr/>
          </p:nvSpPr>
          <p:spPr>
            <a:xfrm>
              <a:off x="3653800" y="844025"/>
              <a:ext cx="1151500" cy="902775"/>
            </a:xfrm>
            <a:custGeom>
              <a:rect b="b" l="l" r="r" t="t"/>
              <a:pathLst>
                <a:path extrusionOk="0" h="36111" w="46060">
                  <a:moveTo>
                    <a:pt x="43646" y="1"/>
                  </a:moveTo>
                  <a:cubicBezTo>
                    <a:pt x="42309" y="1"/>
                    <a:pt x="41265" y="1077"/>
                    <a:pt x="41265" y="2414"/>
                  </a:cubicBezTo>
                  <a:lnTo>
                    <a:pt x="41265" y="12983"/>
                  </a:lnTo>
                  <a:lnTo>
                    <a:pt x="2415" y="12983"/>
                  </a:lnTo>
                  <a:cubicBezTo>
                    <a:pt x="1077" y="12983"/>
                    <a:pt x="1" y="14060"/>
                    <a:pt x="1" y="15397"/>
                  </a:cubicBezTo>
                  <a:lnTo>
                    <a:pt x="1" y="33730"/>
                  </a:lnTo>
                  <a:cubicBezTo>
                    <a:pt x="1" y="35034"/>
                    <a:pt x="1077" y="36111"/>
                    <a:pt x="2415" y="36111"/>
                  </a:cubicBezTo>
                  <a:cubicBezTo>
                    <a:pt x="3752" y="36111"/>
                    <a:pt x="4796" y="35034"/>
                    <a:pt x="4796" y="33730"/>
                  </a:cubicBezTo>
                  <a:lnTo>
                    <a:pt x="4796" y="17778"/>
                  </a:lnTo>
                  <a:lnTo>
                    <a:pt x="43646" y="17778"/>
                  </a:lnTo>
                  <a:cubicBezTo>
                    <a:pt x="44984" y="17778"/>
                    <a:pt x="46060" y="16702"/>
                    <a:pt x="46060" y="15397"/>
                  </a:cubicBezTo>
                  <a:lnTo>
                    <a:pt x="46060" y="2414"/>
                  </a:lnTo>
                  <a:cubicBezTo>
                    <a:pt x="46060" y="1077"/>
                    <a:pt x="44984" y="1"/>
                    <a:pt x="43646" y="1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30"/>
            <p:cNvSpPr/>
            <p:nvPr/>
          </p:nvSpPr>
          <p:spPr>
            <a:xfrm>
              <a:off x="3935150" y="1418125"/>
              <a:ext cx="1171075" cy="328675"/>
            </a:xfrm>
            <a:custGeom>
              <a:rect b="b" l="l" r="r" t="t"/>
              <a:pathLst>
                <a:path extrusionOk="0" h="13147" w="46843">
                  <a:moveTo>
                    <a:pt x="2382" y="1"/>
                  </a:moveTo>
                  <a:cubicBezTo>
                    <a:pt x="1077" y="1"/>
                    <a:pt x="1" y="1077"/>
                    <a:pt x="1" y="2382"/>
                  </a:cubicBezTo>
                  <a:lnTo>
                    <a:pt x="1" y="10766"/>
                  </a:lnTo>
                  <a:cubicBezTo>
                    <a:pt x="1" y="12070"/>
                    <a:pt x="1077" y="13147"/>
                    <a:pt x="2382" y="13147"/>
                  </a:cubicBezTo>
                  <a:cubicBezTo>
                    <a:pt x="3719" y="13147"/>
                    <a:pt x="4796" y="12070"/>
                    <a:pt x="4796" y="10766"/>
                  </a:cubicBezTo>
                  <a:lnTo>
                    <a:pt x="4796" y="4796"/>
                  </a:lnTo>
                  <a:lnTo>
                    <a:pt x="44429" y="4796"/>
                  </a:lnTo>
                  <a:cubicBezTo>
                    <a:pt x="45766" y="4796"/>
                    <a:pt x="46843" y="3720"/>
                    <a:pt x="46843" y="2382"/>
                  </a:cubicBezTo>
                  <a:cubicBezTo>
                    <a:pt x="46843" y="1077"/>
                    <a:pt x="45766" y="1"/>
                    <a:pt x="44429" y="1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30"/>
            <p:cNvSpPr/>
            <p:nvPr/>
          </p:nvSpPr>
          <p:spPr>
            <a:xfrm>
              <a:off x="4992025" y="1121300"/>
              <a:ext cx="735600" cy="735600"/>
            </a:xfrm>
            <a:custGeom>
              <a:rect b="b" l="l" r="r" t="t"/>
              <a:pathLst>
                <a:path extrusionOk="0" h="29424" w="29424">
                  <a:moveTo>
                    <a:pt x="14712" y="7275"/>
                  </a:moveTo>
                  <a:cubicBezTo>
                    <a:pt x="18823" y="7275"/>
                    <a:pt x="22182" y="10602"/>
                    <a:pt x="22182" y="14712"/>
                  </a:cubicBezTo>
                  <a:cubicBezTo>
                    <a:pt x="22182" y="18822"/>
                    <a:pt x="18823" y="22182"/>
                    <a:pt x="14712" y="22182"/>
                  </a:cubicBezTo>
                  <a:cubicBezTo>
                    <a:pt x="10602" y="22182"/>
                    <a:pt x="7275" y="18822"/>
                    <a:pt x="7275" y="14712"/>
                  </a:cubicBezTo>
                  <a:cubicBezTo>
                    <a:pt x="7275" y="10602"/>
                    <a:pt x="10602" y="7275"/>
                    <a:pt x="14712" y="7275"/>
                  </a:cubicBezTo>
                  <a:close/>
                  <a:moveTo>
                    <a:pt x="14712" y="0"/>
                  </a:moveTo>
                  <a:cubicBezTo>
                    <a:pt x="6590" y="0"/>
                    <a:pt x="1" y="6590"/>
                    <a:pt x="1" y="14712"/>
                  </a:cubicBezTo>
                  <a:cubicBezTo>
                    <a:pt x="1" y="22834"/>
                    <a:pt x="6590" y="29423"/>
                    <a:pt x="14712" y="29423"/>
                  </a:cubicBezTo>
                  <a:cubicBezTo>
                    <a:pt x="22835" y="29423"/>
                    <a:pt x="29424" y="22834"/>
                    <a:pt x="29424" y="14712"/>
                  </a:cubicBezTo>
                  <a:cubicBezTo>
                    <a:pt x="29424" y="6590"/>
                    <a:pt x="22835" y="0"/>
                    <a:pt x="14712" y="0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30"/>
            <p:cNvSpPr/>
            <p:nvPr/>
          </p:nvSpPr>
          <p:spPr>
            <a:xfrm>
              <a:off x="4376325" y="251150"/>
              <a:ext cx="735600" cy="736425"/>
            </a:xfrm>
            <a:custGeom>
              <a:rect b="b" l="l" r="r" t="t"/>
              <a:pathLst>
                <a:path extrusionOk="0" h="29457" w="29424">
                  <a:moveTo>
                    <a:pt x="14712" y="7275"/>
                  </a:moveTo>
                  <a:cubicBezTo>
                    <a:pt x="18823" y="7275"/>
                    <a:pt x="22182" y="10602"/>
                    <a:pt x="22182" y="14745"/>
                  </a:cubicBezTo>
                  <a:cubicBezTo>
                    <a:pt x="22182" y="18855"/>
                    <a:pt x="18823" y="22182"/>
                    <a:pt x="14712" y="22182"/>
                  </a:cubicBezTo>
                  <a:cubicBezTo>
                    <a:pt x="10602" y="22182"/>
                    <a:pt x="7275" y="18855"/>
                    <a:pt x="7275" y="14745"/>
                  </a:cubicBezTo>
                  <a:cubicBezTo>
                    <a:pt x="7275" y="10602"/>
                    <a:pt x="10602" y="7275"/>
                    <a:pt x="14712" y="7275"/>
                  </a:cubicBezTo>
                  <a:close/>
                  <a:moveTo>
                    <a:pt x="14712" y="1"/>
                  </a:moveTo>
                  <a:cubicBezTo>
                    <a:pt x="6623" y="1"/>
                    <a:pt x="1" y="6623"/>
                    <a:pt x="1" y="14745"/>
                  </a:cubicBezTo>
                  <a:cubicBezTo>
                    <a:pt x="1" y="22835"/>
                    <a:pt x="6623" y="29457"/>
                    <a:pt x="14712" y="29457"/>
                  </a:cubicBezTo>
                  <a:cubicBezTo>
                    <a:pt x="22835" y="29457"/>
                    <a:pt x="29424" y="22835"/>
                    <a:pt x="29424" y="14745"/>
                  </a:cubicBezTo>
                  <a:cubicBezTo>
                    <a:pt x="29424" y="6623"/>
                    <a:pt x="22835" y="1"/>
                    <a:pt x="14712" y="1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30"/>
            <p:cNvSpPr/>
            <p:nvPr/>
          </p:nvSpPr>
          <p:spPr>
            <a:xfrm>
              <a:off x="3051975" y="4707850"/>
              <a:ext cx="735600" cy="736425"/>
            </a:xfrm>
            <a:custGeom>
              <a:rect b="b" l="l" r="r" t="t"/>
              <a:pathLst>
                <a:path extrusionOk="0" h="29457" w="29424">
                  <a:moveTo>
                    <a:pt x="14712" y="7275"/>
                  </a:moveTo>
                  <a:cubicBezTo>
                    <a:pt x="18822" y="7275"/>
                    <a:pt x="22149" y="10635"/>
                    <a:pt x="22149" y="14745"/>
                  </a:cubicBezTo>
                  <a:cubicBezTo>
                    <a:pt x="22149" y="18855"/>
                    <a:pt x="18822" y="22182"/>
                    <a:pt x="14712" y="22182"/>
                  </a:cubicBezTo>
                  <a:cubicBezTo>
                    <a:pt x="10602" y="22182"/>
                    <a:pt x="7242" y="18855"/>
                    <a:pt x="7242" y="14745"/>
                  </a:cubicBezTo>
                  <a:cubicBezTo>
                    <a:pt x="7242" y="10635"/>
                    <a:pt x="10602" y="7275"/>
                    <a:pt x="14712" y="7275"/>
                  </a:cubicBezTo>
                  <a:close/>
                  <a:moveTo>
                    <a:pt x="14712" y="0"/>
                  </a:moveTo>
                  <a:cubicBezTo>
                    <a:pt x="6590" y="0"/>
                    <a:pt x="0" y="6622"/>
                    <a:pt x="0" y="14745"/>
                  </a:cubicBezTo>
                  <a:cubicBezTo>
                    <a:pt x="0" y="22834"/>
                    <a:pt x="6590" y="29456"/>
                    <a:pt x="14712" y="29456"/>
                  </a:cubicBezTo>
                  <a:cubicBezTo>
                    <a:pt x="22834" y="29456"/>
                    <a:pt x="29423" y="22834"/>
                    <a:pt x="29423" y="14745"/>
                  </a:cubicBezTo>
                  <a:cubicBezTo>
                    <a:pt x="29423" y="6622"/>
                    <a:pt x="22834" y="0"/>
                    <a:pt x="14712" y="0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30"/>
            <p:cNvSpPr/>
            <p:nvPr/>
          </p:nvSpPr>
          <p:spPr>
            <a:xfrm>
              <a:off x="3653800" y="3644450"/>
              <a:ext cx="910125" cy="1188200"/>
            </a:xfrm>
            <a:custGeom>
              <a:rect b="b" l="l" r="r" t="t"/>
              <a:pathLst>
                <a:path extrusionOk="0" h="47528" w="36405">
                  <a:moveTo>
                    <a:pt x="2415" y="0"/>
                  </a:moveTo>
                  <a:cubicBezTo>
                    <a:pt x="1077" y="0"/>
                    <a:pt x="1" y="1077"/>
                    <a:pt x="1" y="2414"/>
                  </a:cubicBezTo>
                  <a:lnTo>
                    <a:pt x="1" y="35784"/>
                  </a:lnTo>
                  <a:cubicBezTo>
                    <a:pt x="1" y="36404"/>
                    <a:pt x="262" y="37024"/>
                    <a:pt x="718" y="37480"/>
                  </a:cubicBezTo>
                  <a:cubicBezTo>
                    <a:pt x="1175" y="37937"/>
                    <a:pt x="1762" y="38165"/>
                    <a:pt x="2415" y="38165"/>
                  </a:cubicBezTo>
                  <a:lnTo>
                    <a:pt x="31609" y="38100"/>
                  </a:lnTo>
                  <a:lnTo>
                    <a:pt x="31609" y="45113"/>
                  </a:lnTo>
                  <a:cubicBezTo>
                    <a:pt x="31609" y="46451"/>
                    <a:pt x="32686" y="47527"/>
                    <a:pt x="34023" y="47527"/>
                  </a:cubicBezTo>
                  <a:cubicBezTo>
                    <a:pt x="35328" y="47527"/>
                    <a:pt x="36405" y="46451"/>
                    <a:pt x="36405" y="45113"/>
                  </a:cubicBezTo>
                  <a:lnTo>
                    <a:pt x="36405" y="35686"/>
                  </a:lnTo>
                  <a:cubicBezTo>
                    <a:pt x="36405" y="35067"/>
                    <a:pt x="36144" y="34447"/>
                    <a:pt x="35687" y="33990"/>
                  </a:cubicBezTo>
                  <a:cubicBezTo>
                    <a:pt x="35263" y="33566"/>
                    <a:pt x="34643" y="33305"/>
                    <a:pt x="34023" y="33305"/>
                  </a:cubicBezTo>
                  <a:lnTo>
                    <a:pt x="33991" y="33305"/>
                  </a:lnTo>
                  <a:lnTo>
                    <a:pt x="4796" y="33370"/>
                  </a:lnTo>
                  <a:lnTo>
                    <a:pt x="4796" y="2414"/>
                  </a:lnTo>
                  <a:cubicBezTo>
                    <a:pt x="4796" y="1077"/>
                    <a:pt x="3719" y="0"/>
                    <a:pt x="2415" y="0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30"/>
            <p:cNvSpPr/>
            <p:nvPr/>
          </p:nvSpPr>
          <p:spPr>
            <a:xfrm>
              <a:off x="4121900" y="4721725"/>
              <a:ext cx="736425" cy="735600"/>
            </a:xfrm>
            <a:custGeom>
              <a:rect b="b" l="l" r="r" t="t"/>
              <a:pathLst>
                <a:path extrusionOk="0" h="29424" w="29457">
                  <a:moveTo>
                    <a:pt x="14745" y="7242"/>
                  </a:moveTo>
                  <a:cubicBezTo>
                    <a:pt x="18855" y="7242"/>
                    <a:pt x="22182" y="10601"/>
                    <a:pt x="22182" y="14712"/>
                  </a:cubicBezTo>
                  <a:cubicBezTo>
                    <a:pt x="22182" y="18822"/>
                    <a:pt x="18855" y="22149"/>
                    <a:pt x="14745" y="22149"/>
                  </a:cubicBezTo>
                  <a:cubicBezTo>
                    <a:pt x="10635" y="22149"/>
                    <a:pt x="7275" y="18822"/>
                    <a:pt x="7275" y="14712"/>
                  </a:cubicBezTo>
                  <a:cubicBezTo>
                    <a:pt x="7275" y="10601"/>
                    <a:pt x="10635" y="7242"/>
                    <a:pt x="14745" y="7242"/>
                  </a:cubicBezTo>
                  <a:close/>
                  <a:moveTo>
                    <a:pt x="14745" y="0"/>
                  </a:moveTo>
                  <a:cubicBezTo>
                    <a:pt x="6622" y="0"/>
                    <a:pt x="1" y="6589"/>
                    <a:pt x="1" y="14712"/>
                  </a:cubicBezTo>
                  <a:cubicBezTo>
                    <a:pt x="1" y="22834"/>
                    <a:pt x="6622" y="29423"/>
                    <a:pt x="14745" y="29423"/>
                  </a:cubicBezTo>
                  <a:cubicBezTo>
                    <a:pt x="22834" y="29423"/>
                    <a:pt x="29456" y="22834"/>
                    <a:pt x="29456" y="14712"/>
                  </a:cubicBezTo>
                  <a:cubicBezTo>
                    <a:pt x="29456" y="6589"/>
                    <a:pt x="22834" y="0"/>
                    <a:pt x="14745" y="0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30"/>
            <p:cNvSpPr/>
            <p:nvPr/>
          </p:nvSpPr>
          <p:spPr>
            <a:xfrm>
              <a:off x="2143500" y="4170900"/>
              <a:ext cx="775575" cy="735950"/>
            </a:xfrm>
            <a:custGeom>
              <a:rect b="b" l="l" r="r" t="t"/>
              <a:pathLst>
                <a:path extrusionOk="0" h="29438" w="31023">
                  <a:moveTo>
                    <a:pt x="15887" y="7256"/>
                  </a:moveTo>
                  <a:cubicBezTo>
                    <a:pt x="17420" y="7256"/>
                    <a:pt x="18920" y="7746"/>
                    <a:pt x="20193" y="8659"/>
                  </a:cubicBezTo>
                  <a:cubicBezTo>
                    <a:pt x="21824" y="9801"/>
                    <a:pt x="22900" y="11529"/>
                    <a:pt x="23226" y="13487"/>
                  </a:cubicBezTo>
                  <a:cubicBezTo>
                    <a:pt x="23552" y="15444"/>
                    <a:pt x="23096" y="17434"/>
                    <a:pt x="21954" y="19065"/>
                  </a:cubicBezTo>
                  <a:cubicBezTo>
                    <a:pt x="20780" y="20663"/>
                    <a:pt x="19084" y="21739"/>
                    <a:pt x="17094" y="22066"/>
                  </a:cubicBezTo>
                  <a:cubicBezTo>
                    <a:pt x="16681" y="22135"/>
                    <a:pt x="16267" y="22168"/>
                    <a:pt x="15857" y="22168"/>
                  </a:cubicBezTo>
                  <a:cubicBezTo>
                    <a:pt x="14325" y="22168"/>
                    <a:pt x="12835" y="21694"/>
                    <a:pt x="11548" y="20793"/>
                  </a:cubicBezTo>
                  <a:cubicBezTo>
                    <a:pt x="9917" y="19652"/>
                    <a:pt x="8841" y="17923"/>
                    <a:pt x="8515" y="15966"/>
                  </a:cubicBezTo>
                  <a:cubicBezTo>
                    <a:pt x="8189" y="14009"/>
                    <a:pt x="8645" y="12019"/>
                    <a:pt x="9787" y="10388"/>
                  </a:cubicBezTo>
                  <a:cubicBezTo>
                    <a:pt x="10961" y="8789"/>
                    <a:pt x="12657" y="7713"/>
                    <a:pt x="14647" y="7387"/>
                  </a:cubicBezTo>
                  <a:cubicBezTo>
                    <a:pt x="15071" y="7289"/>
                    <a:pt x="15463" y="7256"/>
                    <a:pt x="15887" y="7256"/>
                  </a:cubicBezTo>
                  <a:close/>
                  <a:moveTo>
                    <a:pt x="15934" y="1"/>
                  </a:moveTo>
                  <a:cubicBezTo>
                    <a:pt x="15107" y="1"/>
                    <a:pt x="14274" y="70"/>
                    <a:pt x="13440" y="210"/>
                  </a:cubicBezTo>
                  <a:cubicBezTo>
                    <a:pt x="5448" y="1548"/>
                    <a:pt x="1" y="9148"/>
                    <a:pt x="1371" y="17173"/>
                  </a:cubicBezTo>
                  <a:cubicBezTo>
                    <a:pt x="2023" y="21054"/>
                    <a:pt x="4144" y="24447"/>
                    <a:pt x="7340" y="26698"/>
                  </a:cubicBezTo>
                  <a:cubicBezTo>
                    <a:pt x="9848" y="28489"/>
                    <a:pt x="12810" y="29434"/>
                    <a:pt x="15838" y="29438"/>
                  </a:cubicBezTo>
                  <a:lnTo>
                    <a:pt x="15838" y="29438"/>
                  </a:lnTo>
                  <a:cubicBezTo>
                    <a:pt x="16680" y="29437"/>
                    <a:pt x="17491" y="29372"/>
                    <a:pt x="18301" y="29242"/>
                  </a:cubicBezTo>
                  <a:cubicBezTo>
                    <a:pt x="22182" y="28590"/>
                    <a:pt x="25575" y="26469"/>
                    <a:pt x="27858" y="23273"/>
                  </a:cubicBezTo>
                  <a:cubicBezTo>
                    <a:pt x="30142" y="20076"/>
                    <a:pt x="31022" y="16161"/>
                    <a:pt x="30370" y="12280"/>
                  </a:cubicBezTo>
                  <a:cubicBezTo>
                    <a:pt x="29750" y="8398"/>
                    <a:pt x="27597" y="5005"/>
                    <a:pt x="24401" y="2722"/>
                  </a:cubicBezTo>
                  <a:cubicBezTo>
                    <a:pt x="21890" y="929"/>
                    <a:pt x="18958" y="1"/>
                    <a:pt x="15934" y="1"/>
                  </a:cubicBezTo>
                  <a:close/>
                  <a:moveTo>
                    <a:pt x="15838" y="29438"/>
                  </a:moveTo>
                  <a:cubicBezTo>
                    <a:pt x="15833" y="29438"/>
                    <a:pt x="15827" y="29438"/>
                    <a:pt x="15822" y="29438"/>
                  </a:cubicBezTo>
                  <a:lnTo>
                    <a:pt x="15854" y="29438"/>
                  </a:lnTo>
                  <a:cubicBezTo>
                    <a:pt x="15849" y="29438"/>
                    <a:pt x="15844" y="29438"/>
                    <a:pt x="15838" y="29438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120225" lIns="120225" spcFirstLastPara="1" rIns="120225" wrap="square" tIns="12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2367"/>
                <a:buFont typeface="Arial"/>
                <a:buNone/>
              </a:pPr>
              <a:r>
                <a:t/>
              </a:r>
              <a:endParaRPr sz="2367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7" name="Google Shape;247;p30"/>
          <p:cNvSpPr/>
          <p:nvPr/>
        </p:nvSpPr>
        <p:spPr>
          <a:xfrm>
            <a:off x="3242644" y="1316584"/>
            <a:ext cx="641400" cy="6165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29B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450" lIns="43450" spcFirstLastPara="1" rIns="43450" wrap="square" tIns="4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6"/>
          </a:p>
        </p:txBody>
      </p:sp>
      <p:sp>
        <p:nvSpPr>
          <p:cNvPr id="248" name="Google Shape;248;p30"/>
          <p:cNvSpPr/>
          <p:nvPr/>
        </p:nvSpPr>
        <p:spPr>
          <a:xfrm>
            <a:off x="3242644" y="2831509"/>
            <a:ext cx="641400" cy="6165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29B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450" lIns="43450" spcFirstLastPara="1" rIns="43450" wrap="square" tIns="4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6"/>
          </a:p>
        </p:txBody>
      </p:sp>
      <p:sp>
        <p:nvSpPr>
          <p:cNvPr id="249" name="Google Shape;249;p30"/>
          <p:cNvSpPr txBox="1"/>
          <p:nvPr/>
        </p:nvSpPr>
        <p:spPr>
          <a:xfrm>
            <a:off x="3022014" y="1972378"/>
            <a:ext cx="10827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525" lIns="50525" spcFirstLastPara="1" rIns="50525" wrap="square" tIns="505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5">
                <a:solidFill>
                  <a:schemeClr val="dk1"/>
                </a:solidFill>
              </a:rPr>
              <a:t>ADMIN</a:t>
            </a:r>
            <a:endParaRPr b="1" sz="1105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5">
                <a:solidFill>
                  <a:schemeClr val="dk1"/>
                </a:solidFill>
              </a:rPr>
              <a:t>TASK</a:t>
            </a:r>
            <a:endParaRPr b="1" sz="1105">
              <a:solidFill>
                <a:schemeClr val="dk1"/>
              </a:solidFill>
            </a:endParaRPr>
          </a:p>
        </p:txBody>
      </p:sp>
      <p:sp>
        <p:nvSpPr>
          <p:cNvPr id="250" name="Google Shape;250;p30"/>
          <p:cNvSpPr txBox="1"/>
          <p:nvPr/>
        </p:nvSpPr>
        <p:spPr>
          <a:xfrm>
            <a:off x="3022014" y="3493932"/>
            <a:ext cx="1082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525" lIns="50525" spcFirstLastPara="1" rIns="50525" wrap="square" tIns="505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5">
                <a:solidFill>
                  <a:schemeClr val="dk1"/>
                </a:solidFill>
              </a:rPr>
              <a:t>ADVANCED</a:t>
            </a:r>
            <a:endParaRPr b="1" sz="1005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5">
                <a:solidFill>
                  <a:schemeClr val="dk1"/>
                </a:solidFill>
              </a:rPr>
              <a:t>ANALYTICS</a:t>
            </a:r>
            <a:endParaRPr b="1" sz="1005">
              <a:solidFill>
                <a:schemeClr val="dk1"/>
              </a:solidFill>
            </a:endParaRPr>
          </a:p>
        </p:txBody>
      </p:sp>
      <p:sp>
        <p:nvSpPr>
          <p:cNvPr id="251" name="Google Shape;251;p30"/>
          <p:cNvSpPr/>
          <p:nvPr/>
        </p:nvSpPr>
        <p:spPr>
          <a:xfrm>
            <a:off x="3386256" y="1500407"/>
            <a:ext cx="354210" cy="248875"/>
          </a:xfrm>
          <a:custGeom>
            <a:rect b="b" l="l" r="r" t="t"/>
            <a:pathLst>
              <a:path extrusionOk="0" h="6119" w="9125">
                <a:moveTo>
                  <a:pt x="6782" y="1094"/>
                </a:moveTo>
                <a:cubicBezTo>
                  <a:pt x="6588" y="1094"/>
                  <a:pt x="6419" y="1204"/>
                  <a:pt x="6331" y="1366"/>
                </a:cubicBezTo>
                <a:cubicBezTo>
                  <a:pt x="6380" y="1383"/>
                  <a:pt x="6425" y="1403"/>
                  <a:pt x="6469" y="1422"/>
                </a:cubicBezTo>
                <a:cubicBezTo>
                  <a:pt x="6534" y="1317"/>
                  <a:pt x="6649" y="1244"/>
                  <a:pt x="6782" y="1244"/>
                </a:cubicBezTo>
                <a:cubicBezTo>
                  <a:pt x="6984" y="1244"/>
                  <a:pt x="7151" y="1410"/>
                  <a:pt x="7151" y="1612"/>
                </a:cubicBezTo>
                <a:cubicBezTo>
                  <a:pt x="7151" y="1781"/>
                  <a:pt x="7035" y="1923"/>
                  <a:pt x="6879" y="1964"/>
                </a:cubicBezTo>
                <a:lnTo>
                  <a:pt x="6879" y="2119"/>
                </a:lnTo>
                <a:cubicBezTo>
                  <a:pt x="7118" y="2072"/>
                  <a:pt x="7299" y="1863"/>
                  <a:pt x="7299" y="1611"/>
                </a:cubicBezTo>
                <a:cubicBezTo>
                  <a:pt x="7299" y="1326"/>
                  <a:pt x="7066" y="1094"/>
                  <a:pt x="6782" y="1094"/>
                </a:cubicBezTo>
                <a:close/>
                <a:moveTo>
                  <a:pt x="5447" y="1603"/>
                </a:moveTo>
                <a:cubicBezTo>
                  <a:pt x="6090" y="1603"/>
                  <a:pt x="6515" y="1804"/>
                  <a:pt x="6515" y="1934"/>
                </a:cubicBezTo>
                <a:cubicBezTo>
                  <a:pt x="6515" y="2067"/>
                  <a:pt x="6089" y="2267"/>
                  <a:pt x="5447" y="2267"/>
                </a:cubicBezTo>
                <a:cubicBezTo>
                  <a:pt x="4806" y="2267"/>
                  <a:pt x="4381" y="2067"/>
                  <a:pt x="4381" y="1934"/>
                </a:cubicBezTo>
                <a:cubicBezTo>
                  <a:pt x="4381" y="1804"/>
                  <a:pt x="4807" y="1603"/>
                  <a:pt x="5447" y="1603"/>
                </a:cubicBezTo>
                <a:close/>
                <a:moveTo>
                  <a:pt x="6783" y="639"/>
                </a:moveTo>
                <a:cubicBezTo>
                  <a:pt x="6750" y="639"/>
                  <a:pt x="6718" y="640"/>
                  <a:pt x="6686" y="642"/>
                </a:cubicBezTo>
                <a:lnTo>
                  <a:pt x="6635" y="648"/>
                </a:lnTo>
                <a:lnTo>
                  <a:pt x="6588" y="812"/>
                </a:lnTo>
                <a:cubicBezTo>
                  <a:pt x="6546" y="821"/>
                  <a:pt x="6508" y="834"/>
                  <a:pt x="6471" y="849"/>
                </a:cubicBezTo>
                <a:lnTo>
                  <a:pt x="6337" y="745"/>
                </a:lnTo>
                <a:lnTo>
                  <a:pt x="6294" y="770"/>
                </a:lnTo>
                <a:cubicBezTo>
                  <a:pt x="6237" y="804"/>
                  <a:pt x="6185" y="843"/>
                  <a:pt x="6136" y="886"/>
                </a:cubicBezTo>
                <a:lnTo>
                  <a:pt x="6099" y="919"/>
                </a:lnTo>
                <a:lnTo>
                  <a:pt x="6157" y="1079"/>
                </a:lnTo>
                <a:cubicBezTo>
                  <a:pt x="6130" y="1110"/>
                  <a:pt x="6107" y="1144"/>
                  <a:pt x="6084" y="1179"/>
                </a:cubicBezTo>
                <a:lnTo>
                  <a:pt x="5915" y="1176"/>
                </a:lnTo>
                <a:lnTo>
                  <a:pt x="5896" y="1222"/>
                </a:lnTo>
                <a:cubicBezTo>
                  <a:pt x="5890" y="1235"/>
                  <a:pt x="5888" y="1250"/>
                  <a:pt x="5883" y="1263"/>
                </a:cubicBezTo>
                <a:cubicBezTo>
                  <a:pt x="5983" y="1278"/>
                  <a:pt x="6083" y="1296"/>
                  <a:pt x="6177" y="1321"/>
                </a:cubicBezTo>
                <a:lnTo>
                  <a:pt x="6191" y="1293"/>
                </a:lnTo>
                <a:cubicBezTo>
                  <a:pt x="6220" y="1241"/>
                  <a:pt x="6255" y="1195"/>
                  <a:pt x="6295" y="1149"/>
                </a:cubicBezTo>
                <a:lnTo>
                  <a:pt x="6328" y="1116"/>
                </a:lnTo>
                <a:lnTo>
                  <a:pt x="6275" y="968"/>
                </a:lnTo>
                <a:cubicBezTo>
                  <a:pt x="6291" y="954"/>
                  <a:pt x="6309" y="939"/>
                  <a:pt x="6328" y="929"/>
                </a:cubicBezTo>
                <a:lnTo>
                  <a:pt x="6453" y="1026"/>
                </a:lnTo>
                <a:lnTo>
                  <a:pt x="6493" y="1005"/>
                </a:lnTo>
                <a:cubicBezTo>
                  <a:pt x="6545" y="980"/>
                  <a:pt x="6603" y="962"/>
                  <a:pt x="6661" y="951"/>
                </a:cubicBezTo>
                <a:lnTo>
                  <a:pt x="6705" y="944"/>
                </a:lnTo>
                <a:lnTo>
                  <a:pt x="6750" y="791"/>
                </a:lnTo>
                <a:cubicBezTo>
                  <a:pt x="6761" y="790"/>
                  <a:pt x="6772" y="790"/>
                  <a:pt x="6783" y="790"/>
                </a:cubicBezTo>
                <a:cubicBezTo>
                  <a:pt x="6794" y="790"/>
                  <a:pt x="6805" y="790"/>
                  <a:pt x="6817" y="791"/>
                </a:cubicBezTo>
                <a:lnTo>
                  <a:pt x="6861" y="944"/>
                </a:lnTo>
                <a:lnTo>
                  <a:pt x="6906" y="951"/>
                </a:lnTo>
                <a:cubicBezTo>
                  <a:pt x="6962" y="962"/>
                  <a:pt x="7020" y="981"/>
                  <a:pt x="7073" y="1005"/>
                </a:cubicBezTo>
                <a:lnTo>
                  <a:pt x="7115" y="1026"/>
                </a:lnTo>
                <a:lnTo>
                  <a:pt x="7240" y="929"/>
                </a:lnTo>
                <a:cubicBezTo>
                  <a:pt x="7258" y="942"/>
                  <a:pt x="7277" y="954"/>
                  <a:pt x="7293" y="968"/>
                </a:cubicBezTo>
                <a:lnTo>
                  <a:pt x="7240" y="1116"/>
                </a:lnTo>
                <a:lnTo>
                  <a:pt x="7271" y="1149"/>
                </a:lnTo>
                <a:cubicBezTo>
                  <a:pt x="7311" y="1193"/>
                  <a:pt x="7347" y="1241"/>
                  <a:pt x="7375" y="1293"/>
                </a:cubicBezTo>
                <a:lnTo>
                  <a:pt x="7397" y="1333"/>
                </a:lnTo>
                <a:lnTo>
                  <a:pt x="7555" y="1330"/>
                </a:lnTo>
                <a:cubicBezTo>
                  <a:pt x="7562" y="1351"/>
                  <a:pt x="7569" y="1372"/>
                  <a:pt x="7575" y="1392"/>
                </a:cubicBezTo>
                <a:lnTo>
                  <a:pt x="7445" y="1481"/>
                </a:lnTo>
                <a:lnTo>
                  <a:pt x="7451" y="1526"/>
                </a:lnTo>
                <a:cubicBezTo>
                  <a:pt x="7455" y="1556"/>
                  <a:pt x="7457" y="1585"/>
                  <a:pt x="7457" y="1615"/>
                </a:cubicBezTo>
                <a:cubicBezTo>
                  <a:pt x="7457" y="1645"/>
                  <a:pt x="7455" y="1675"/>
                  <a:pt x="7451" y="1704"/>
                </a:cubicBezTo>
                <a:lnTo>
                  <a:pt x="7445" y="1749"/>
                </a:lnTo>
                <a:lnTo>
                  <a:pt x="7575" y="1838"/>
                </a:lnTo>
                <a:cubicBezTo>
                  <a:pt x="7569" y="1860"/>
                  <a:pt x="7562" y="1881"/>
                  <a:pt x="7555" y="1902"/>
                </a:cubicBezTo>
                <a:lnTo>
                  <a:pt x="7397" y="1897"/>
                </a:lnTo>
                <a:lnTo>
                  <a:pt x="7375" y="1939"/>
                </a:lnTo>
                <a:cubicBezTo>
                  <a:pt x="7347" y="1991"/>
                  <a:pt x="7311" y="2037"/>
                  <a:pt x="7271" y="2081"/>
                </a:cubicBezTo>
                <a:lnTo>
                  <a:pt x="7240" y="2114"/>
                </a:lnTo>
                <a:lnTo>
                  <a:pt x="7293" y="2263"/>
                </a:lnTo>
                <a:cubicBezTo>
                  <a:pt x="7277" y="2276"/>
                  <a:pt x="7258" y="2291"/>
                  <a:pt x="7240" y="2303"/>
                </a:cubicBezTo>
                <a:lnTo>
                  <a:pt x="7115" y="2206"/>
                </a:lnTo>
                <a:lnTo>
                  <a:pt x="7073" y="2225"/>
                </a:lnTo>
                <a:cubicBezTo>
                  <a:pt x="7020" y="2252"/>
                  <a:pt x="6965" y="2268"/>
                  <a:pt x="6906" y="2280"/>
                </a:cubicBezTo>
                <a:lnTo>
                  <a:pt x="6879" y="2285"/>
                </a:lnTo>
                <a:lnTo>
                  <a:pt x="6879" y="2586"/>
                </a:lnTo>
                <a:lnTo>
                  <a:pt x="6929" y="2580"/>
                </a:lnTo>
                <a:lnTo>
                  <a:pt x="6977" y="2417"/>
                </a:lnTo>
                <a:cubicBezTo>
                  <a:pt x="7018" y="2408"/>
                  <a:pt x="7057" y="2395"/>
                  <a:pt x="7094" y="2380"/>
                </a:cubicBezTo>
                <a:lnTo>
                  <a:pt x="7228" y="2484"/>
                </a:lnTo>
                <a:lnTo>
                  <a:pt x="7271" y="2459"/>
                </a:lnTo>
                <a:cubicBezTo>
                  <a:pt x="7329" y="2424"/>
                  <a:pt x="7381" y="2386"/>
                  <a:pt x="7428" y="2343"/>
                </a:cubicBezTo>
                <a:lnTo>
                  <a:pt x="7465" y="2310"/>
                </a:lnTo>
                <a:lnTo>
                  <a:pt x="7408" y="2150"/>
                </a:lnTo>
                <a:cubicBezTo>
                  <a:pt x="7434" y="2119"/>
                  <a:pt x="7458" y="2084"/>
                  <a:pt x="7480" y="2050"/>
                </a:cubicBezTo>
                <a:lnTo>
                  <a:pt x="7650" y="2055"/>
                </a:lnTo>
                <a:lnTo>
                  <a:pt x="7670" y="2009"/>
                </a:lnTo>
                <a:cubicBezTo>
                  <a:pt x="7696" y="1948"/>
                  <a:pt x="7716" y="1887"/>
                  <a:pt x="7731" y="1823"/>
                </a:cubicBezTo>
                <a:lnTo>
                  <a:pt x="7742" y="1775"/>
                </a:lnTo>
                <a:lnTo>
                  <a:pt x="7604" y="1679"/>
                </a:lnTo>
                <a:cubicBezTo>
                  <a:pt x="7607" y="1652"/>
                  <a:pt x="7607" y="1633"/>
                  <a:pt x="7607" y="1612"/>
                </a:cubicBezTo>
                <a:cubicBezTo>
                  <a:pt x="7607" y="1591"/>
                  <a:pt x="7607" y="1571"/>
                  <a:pt x="7605" y="1551"/>
                </a:cubicBezTo>
                <a:lnTo>
                  <a:pt x="7745" y="1455"/>
                </a:lnTo>
                <a:lnTo>
                  <a:pt x="7733" y="1406"/>
                </a:lnTo>
                <a:cubicBezTo>
                  <a:pt x="7719" y="1343"/>
                  <a:pt x="7700" y="1280"/>
                  <a:pt x="7672" y="1220"/>
                </a:cubicBezTo>
                <a:lnTo>
                  <a:pt x="7651" y="1174"/>
                </a:lnTo>
                <a:lnTo>
                  <a:pt x="7482" y="1179"/>
                </a:lnTo>
                <a:cubicBezTo>
                  <a:pt x="7460" y="1144"/>
                  <a:pt x="7436" y="1110"/>
                  <a:pt x="7411" y="1079"/>
                </a:cubicBezTo>
                <a:lnTo>
                  <a:pt x="7467" y="919"/>
                </a:lnTo>
                <a:lnTo>
                  <a:pt x="7430" y="886"/>
                </a:lnTo>
                <a:cubicBezTo>
                  <a:pt x="7382" y="843"/>
                  <a:pt x="7329" y="804"/>
                  <a:pt x="7272" y="770"/>
                </a:cubicBezTo>
                <a:lnTo>
                  <a:pt x="7229" y="745"/>
                </a:lnTo>
                <a:lnTo>
                  <a:pt x="7096" y="849"/>
                </a:lnTo>
                <a:cubicBezTo>
                  <a:pt x="7059" y="834"/>
                  <a:pt x="7018" y="821"/>
                  <a:pt x="6980" y="812"/>
                </a:cubicBezTo>
                <a:lnTo>
                  <a:pt x="6931" y="648"/>
                </a:lnTo>
                <a:lnTo>
                  <a:pt x="6880" y="642"/>
                </a:lnTo>
                <a:cubicBezTo>
                  <a:pt x="6848" y="640"/>
                  <a:pt x="6816" y="639"/>
                  <a:pt x="6783" y="639"/>
                </a:cubicBezTo>
                <a:close/>
                <a:moveTo>
                  <a:pt x="6515" y="2289"/>
                </a:moveTo>
                <a:lnTo>
                  <a:pt x="6515" y="2421"/>
                </a:lnTo>
                <a:cubicBezTo>
                  <a:pt x="6515" y="2554"/>
                  <a:pt x="6089" y="2754"/>
                  <a:pt x="5447" y="2754"/>
                </a:cubicBezTo>
                <a:cubicBezTo>
                  <a:pt x="4806" y="2754"/>
                  <a:pt x="4381" y="2554"/>
                  <a:pt x="4381" y="2421"/>
                </a:cubicBezTo>
                <a:lnTo>
                  <a:pt x="4381" y="2289"/>
                </a:lnTo>
                <a:cubicBezTo>
                  <a:pt x="4634" y="2438"/>
                  <a:pt x="5042" y="2516"/>
                  <a:pt x="5447" y="2516"/>
                </a:cubicBezTo>
                <a:cubicBezTo>
                  <a:pt x="5854" y="2516"/>
                  <a:pt x="6263" y="2439"/>
                  <a:pt x="6515" y="2289"/>
                </a:cubicBezTo>
                <a:close/>
                <a:moveTo>
                  <a:pt x="6515" y="2775"/>
                </a:moveTo>
                <a:lnTo>
                  <a:pt x="6515" y="2943"/>
                </a:lnTo>
                <a:cubicBezTo>
                  <a:pt x="6515" y="3075"/>
                  <a:pt x="6089" y="3275"/>
                  <a:pt x="5447" y="3275"/>
                </a:cubicBezTo>
                <a:cubicBezTo>
                  <a:pt x="4806" y="3275"/>
                  <a:pt x="4381" y="3075"/>
                  <a:pt x="4381" y="2943"/>
                </a:cubicBezTo>
                <a:lnTo>
                  <a:pt x="4381" y="2775"/>
                </a:lnTo>
                <a:cubicBezTo>
                  <a:pt x="4634" y="2923"/>
                  <a:pt x="5042" y="3002"/>
                  <a:pt x="5447" y="3002"/>
                </a:cubicBezTo>
                <a:cubicBezTo>
                  <a:pt x="5854" y="3002"/>
                  <a:pt x="6263" y="2926"/>
                  <a:pt x="6515" y="2775"/>
                </a:cubicBezTo>
                <a:close/>
                <a:moveTo>
                  <a:pt x="6515" y="3298"/>
                </a:moveTo>
                <a:lnTo>
                  <a:pt x="6515" y="3442"/>
                </a:lnTo>
                <a:cubicBezTo>
                  <a:pt x="6515" y="3575"/>
                  <a:pt x="6092" y="3774"/>
                  <a:pt x="5455" y="3774"/>
                </a:cubicBezTo>
                <a:cubicBezTo>
                  <a:pt x="5452" y="3774"/>
                  <a:pt x="5450" y="3774"/>
                  <a:pt x="5447" y="3774"/>
                </a:cubicBezTo>
                <a:cubicBezTo>
                  <a:pt x="4806" y="3774"/>
                  <a:pt x="4381" y="3574"/>
                  <a:pt x="4381" y="3442"/>
                </a:cubicBezTo>
                <a:lnTo>
                  <a:pt x="4381" y="3298"/>
                </a:lnTo>
                <a:cubicBezTo>
                  <a:pt x="4634" y="3446"/>
                  <a:pt x="5042" y="3523"/>
                  <a:pt x="5447" y="3523"/>
                </a:cubicBezTo>
                <a:cubicBezTo>
                  <a:pt x="5854" y="3523"/>
                  <a:pt x="6263" y="3448"/>
                  <a:pt x="6515" y="3298"/>
                </a:cubicBezTo>
                <a:close/>
                <a:moveTo>
                  <a:pt x="5447" y="1363"/>
                </a:moveTo>
                <a:cubicBezTo>
                  <a:pt x="4790" y="1363"/>
                  <a:pt x="4132" y="1553"/>
                  <a:pt x="4132" y="1934"/>
                </a:cubicBezTo>
                <a:lnTo>
                  <a:pt x="4132" y="3442"/>
                </a:lnTo>
                <a:cubicBezTo>
                  <a:pt x="4132" y="3823"/>
                  <a:pt x="4794" y="4024"/>
                  <a:pt x="5447" y="4024"/>
                </a:cubicBezTo>
                <a:cubicBezTo>
                  <a:pt x="6102" y="4024"/>
                  <a:pt x="6763" y="3825"/>
                  <a:pt x="6763" y="3442"/>
                </a:cubicBezTo>
                <a:lnTo>
                  <a:pt x="6763" y="1934"/>
                </a:lnTo>
                <a:cubicBezTo>
                  <a:pt x="6763" y="1553"/>
                  <a:pt x="6105" y="1363"/>
                  <a:pt x="5447" y="1363"/>
                </a:cubicBezTo>
                <a:close/>
                <a:moveTo>
                  <a:pt x="1107" y="1220"/>
                </a:moveTo>
                <a:cubicBezTo>
                  <a:pt x="1066" y="1220"/>
                  <a:pt x="1026" y="1240"/>
                  <a:pt x="1004" y="1277"/>
                </a:cubicBezTo>
                <a:cubicBezTo>
                  <a:pt x="967" y="1333"/>
                  <a:pt x="984" y="1412"/>
                  <a:pt x="1042" y="1447"/>
                </a:cubicBezTo>
                <a:lnTo>
                  <a:pt x="2372" y="2298"/>
                </a:lnTo>
                <a:cubicBezTo>
                  <a:pt x="2592" y="2445"/>
                  <a:pt x="2715" y="2601"/>
                  <a:pt x="2748" y="2779"/>
                </a:cubicBezTo>
                <a:cubicBezTo>
                  <a:pt x="2778" y="2937"/>
                  <a:pt x="2786" y="3626"/>
                  <a:pt x="2773" y="4625"/>
                </a:cubicBezTo>
                <a:lnTo>
                  <a:pt x="2773" y="4656"/>
                </a:lnTo>
                <a:cubicBezTo>
                  <a:pt x="2772" y="4863"/>
                  <a:pt x="2711" y="4967"/>
                  <a:pt x="2593" y="4967"/>
                </a:cubicBezTo>
                <a:cubicBezTo>
                  <a:pt x="2540" y="4967"/>
                  <a:pt x="2374" y="4967"/>
                  <a:pt x="2374" y="4696"/>
                </a:cubicBezTo>
                <a:cubicBezTo>
                  <a:pt x="2374" y="4628"/>
                  <a:pt x="2374" y="4033"/>
                  <a:pt x="2366" y="3890"/>
                </a:cubicBezTo>
                <a:lnTo>
                  <a:pt x="2366" y="3290"/>
                </a:lnTo>
                <a:cubicBezTo>
                  <a:pt x="2366" y="3222"/>
                  <a:pt x="2311" y="3165"/>
                  <a:pt x="2243" y="3165"/>
                </a:cubicBezTo>
                <a:cubicBezTo>
                  <a:pt x="2173" y="3165"/>
                  <a:pt x="2118" y="3222"/>
                  <a:pt x="2118" y="3290"/>
                </a:cubicBezTo>
                <a:lnTo>
                  <a:pt x="2118" y="3883"/>
                </a:lnTo>
                <a:cubicBezTo>
                  <a:pt x="2114" y="3902"/>
                  <a:pt x="2112" y="3921"/>
                  <a:pt x="2109" y="3935"/>
                </a:cubicBezTo>
                <a:cubicBezTo>
                  <a:pt x="2093" y="4010"/>
                  <a:pt x="2023" y="4019"/>
                  <a:pt x="1984" y="4019"/>
                </a:cubicBezTo>
                <a:cubicBezTo>
                  <a:pt x="1980" y="4019"/>
                  <a:pt x="1976" y="4019"/>
                  <a:pt x="1973" y="4019"/>
                </a:cubicBezTo>
                <a:cubicBezTo>
                  <a:pt x="1941" y="4018"/>
                  <a:pt x="1909" y="4009"/>
                  <a:pt x="1876" y="3994"/>
                </a:cubicBezTo>
                <a:cubicBezTo>
                  <a:pt x="1875" y="3994"/>
                  <a:pt x="1875" y="3991"/>
                  <a:pt x="1873" y="3991"/>
                </a:cubicBezTo>
                <a:cubicBezTo>
                  <a:pt x="1824" y="3972"/>
                  <a:pt x="1794" y="3938"/>
                  <a:pt x="1778" y="3912"/>
                </a:cubicBezTo>
                <a:cubicBezTo>
                  <a:pt x="1787" y="3810"/>
                  <a:pt x="1808" y="3531"/>
                  <a:pt x="1800" y="3326"/>
                </a:cubicBezTo>
                <a:cubicBezTo>
                  <a:pt x="1798" y="3260"/>
                  <a:pt x="1745" y="3206"/>
                  <a:pt x="1683" y="3206"/>
                </a:cubicBezTo>
                <a:cubicBezTo>
                  <a:pt x="1679" y="3206"/>
                  <a:pt x="1675" y="3207"/>
                  <a:pt x="1671" y="3207"/>
                </a:cubicBezTo>
                <a:cubicBezTo>
                  <a:pt x="1601" y="3210"/>
                  <a:pt x="1548" y="3268"/>
                  <a:pt x="1552" y="3336"/>
                </a:cubicBezTo>
                <a:cubicBezTo>
                  <a:pt x="1558" y="3501"/>
                  <a:pt x="1545" y="3724"/>
                  <a:pt x="1535" y="3846"/>
                </a:cubicBezTo>
                <a:cubicBezTo>
                  <a:pt x="1517" y="3848"/>
                  <a:pt x="1497" y="3850"/>
                  <a:pt x="1473" y="3850"/>
                </a:cubicBezTo>
                <a:cubicBezTo>
                  <a:pt x="1423" y="3850"/>
                  <a:pt x="1358" y="3841"/>
                  <a:pt x="1281" y="3808"/>
                </a:cubicBezTo>
                <a:cubicBezTo>
                  <a:pt x="1260" y="3795"/>
                  <a:pt x="1244" y="3774"/>
                  <a:pt x="1226" y="3756"/>
                </a:cubicBezTo>
                <a:cubicBezTo>
                  <a:pt x="1233" y="3667"/>
                  <a:pt x="1242" y="3489"/>
                  <a:pt x="1235" y="3306"/>
                </a:cubicBezTo>
                <a:cubicBezTo>
                  <a:pt x="1230" y="3242"/>
                  <a:pt x="1180" y="3187"/>
                  <a:pt x="1116" y="3187"/>
                </a:cubicBezTo>
                <a:cubicBezTo>
                  <a:pt x="1112" y="3187"/>
                  <a:pt x="1108" y="3187"/>
                  <a:pt x="1104" y="3188"/>
                </a:cubicBezTo>
                <a:cubicBezTo>
                  <a:pt x="1036" y="3192"/>
                  <a:pt x="982" y="3249"/>
                  <a:pt x="985" y="3318"/>
                </a:cubicBezTo>
                <a:cubicBezTo>
                  <a:pt x="991" y="3470"/>
                  <a:pt x="984" y="3623"/>
                  <a:pt x="978" y="3712"/>
                </a:cubicBezTo>
                <a:cubicBezTo>
                  <a:pt x="965" y="3714"/>
                  <a:pt x="953" y="3715"/>
                  <a:pt x="939" y="3715"/>
                </a:cubicBezTo>
                <a:cubicBezTo>
                  <a:pt x="918" y="3715"/>
                  <a:pt x="895" y="3712"/>
                  <a:pt x="872" y="3704"/>
                </a:cubicBezTo>
                <a:cubicBezTo>
                  <a:pt x="774" y="3669"/>
                  <a:pt x="699" y="3580"/>
                  <a:pt x="669" y="3461"/>
                </a:cubicBezTo>
                <a:cubicBezTo>
                  <a:pt x="648" y="3378"/>
                  <a:pt x="656" y="3211"/>
                  <a:pt x="664" y="3039"/>
                </a:cubicBezTo>
                <a:cubicBezTo>
                  <a:pt x="669" y="2972"/>
                  <a:pt x="672" y="2903"/>
                  <a:pt x="673" y="2830"/>
                </a:cubicBezTo>
                <a:cubicBezTo>
                  <a:pt x="676" y="2761"/>
                  <a:pt x="621" y="2704"/>
                  <a:pt x="553" y="2702"/>
                </a:cubicBezTo>
                <a:cubicBezTo>
                  <a:pt x="550" y="2702"/>
                  <a:pt x="547" y="2702"/>
                  <a:pt x="544" y="2702"/>
                </a:cubicBezTo>
                <a:cubicBezTo>
                  <a:pt x="501" y="2702"/>
                  <a:pt x="461" y="2730"/>
                  <a:pt x="440" y="2770"/>
                </a:cubicBezTo>
                <a:lnTo>
                  <a:pt x="216" y="2614"/>
                </a:lnTo>
                <a:cubicBezTo>
                  <a:pt x="194" y="2598"/>
                  <a:pt x="169" y="2590"/>
                  <a:pt x="143" y="2590"/>
                </a:cubicBezTo>
                <a:cubicBezTo>
                  <a:pt x="105" y="2590"/>
                  <a:pt x="66" y="2609"/>
                  <a:pt x="41" y="2643"/>
                </a:cubicBezTo>
                <a:cubicBezTo>
                  <a:pt x="1" y="2698"/>
                  <a:pt x="13" y="2776"/>
                  <a:pt x="69" y="2816"/>
                </a:cubicBezTo>
                <a:lnTo>
                  <a:pt x="413" y="3060"/>
                </a:lnTo>
                <a:cubicBezTo>
                  <a:pt x="405" y="3253"/>
                  <a:pt x="397" y="3409"/>
                  <a:pt x="425" y="3522"/>
                </a:cubicBezTo>
                <a:cubicBezTo>
                  <a:pt x="476" y="3721"/>
                  <a:pt x="611" y="3877"/>
                  <a:pt x="789" y="3939"/>
                </a:cubicBezTo>
                <a:cubicBezTo>
                  <a:pt x="841" y="3958"/>
                  <a:pt x="893" y="3967"/>
                  <a:pt x="945" y="3967"/>
                </a:cubicBezTo>
                <a:cubicBezTo>
                  <a:pt x="983" y="3967"/>
                  <a:pt x="1021" y="3962"/>
                  <a:pt x="1058" y="3952"/>
                </a:cubicBezTo>
                <a:cubicBezTo>
                  <a:pt x="1089" y="3982"/>
                  <a:pt x="1123" y="4006"/>
                  <a:pt x="1160" y="4028"/>
                </a:cubicBezTo>
                <a:cubicBezTo>
                  <a:pt x="1162" y="4031"/>
                  <a:pt x="1163" y="4031"/>
                  <a:pt x="1168" y="4033"/>
                </a:cubicBezTo>
                <a:cubicBezTo>
                  <a:pt x="1169" y="4034"/>
                  <a:pt x="1174" y="4034"/>
                  <a:pt x="1175" y="4036"/>
                </a:cubicBezTo>
                <a:cubicBezTo>
                  <a:pt x="1292" y="4087"/>
                  <a:pt x="1393" y="4101"/>
                  <a:pt x="1473" y="4101"/>
                </a:cubicBezTo>
                <a:cubicBezTo>
                  <a:pt x="1524" y="4101"/>
                  <a:pt x="1567" y="4095"/>
                  <a:pt x="1598" y="4091"/>
                </a:cubicBezTo>
                <a:cubicBezTo>
                  <a:pt x="1637" y="4137"/>
                  <a:pt x="1695" y="4189"/>
                  <a:pt x="1775" y="4224"/>
                </a:cubicBezTo>
                <a:cubicBezTo>
                  <a:pt x="1835" y="4251"/>
                  <a:pt x="1898" y="4269"/>
                  <a:pt x="1961" y="4272"/>
                </a:cubicBezTo>
                <a:cubicBezTo>
                  <a:pt x="1972" y="4273"/>
                  <a:pt x="1983" y="4273"/>
                  <a:pt x="1994" y="4273"/>
                </a:cubicBezTo>
                <a:cubicBezTo>
                  <a:pt x="2041" y="4273"/>
                  <a:pt x="2086" y="4265"/>
                  <a:pt x="2127" y="4249"/>
                </a:cubicBezTo>
                <a:cubicBezTo>
                  <a:pt x="2129" y="4405"/>
                  <a:pt x="2129" y="4578"/>
                  <a:pt x="2129" y="4701"/>
                </a:cubicBezTo>
                <a:cubicBezTo>
                  <a:pt x="2129" y="5020"/>
                  <a:pt x="2307" y="5216"/>
                  <a:pt x="2596" y="5216"/>
                </a:cubicBezTo>
                <a:cubicBezTo>
                  <a:pt x="2697" y="5216"/>
                  <a:pt x="3023" y="5176"/>
                  <a:pt x="3025" y="4659"/>
                </a:cubicBezTo>
                <a:lnTo>
                  <a:pt x="3025" y="4630"/>
                </a:lnTo>
                <a:cubicBezTo>
                  <a:pt x="3030" y="4024"/>
                  <a:pt x="3037" y="2974"/>
                  <a:pt x="2993" y="2735"/>
                </a:cubicBezTo>
                <a:cubicBezTo>
                  <a:pt x="2948" y="2491"/>
                  <a:pt x="2785" y="2274"/>
                  <a:pt x="2510" y="2093"/>
                </a:cubicBezTo>
                <a:lnTo>
                  <a:pt x="2507" y="2093"/>
                </a:lnTo>
                <a:lnTo>
                  <a:pt x="1175" y="1239"/>
                </a:lnTo>
                <a:cubicBezTo>
                  <a:pt x="1154" y="1226"/>
                  <a:pt x="1131" y="1220"/>
                  <a:pt x="1107" y="1220"/>
                </a:cubicBezTo>
                <a:close/>
                <a:moveTo>
                  <a:pt x="2614" y="1"/>
                </a:moveTo>
                <a:cubicBezTo>
                  <a:pt x="2504" y="1"/>
                  <a:pt x="2415" y="90"/>
                  <a:pt x="2415" y="200"/>
                </a:cubicBezTo>
                <a:lnTo>
                  <a:pt x="2415" y="1675"/>
                </a:lnTo>
                <a:cubicBezTo>
                  <a:pt x="2415" y="1784"/>
                  <a:pt x="2504" y="1873"/>
                  <a:pt x="2614" y="1873"/>
                </a:cubicBezTo>
                <a:cubicBezTo>
                  <a:pt x="2723" y="1873"/>
                  <a:pt x="2812" y="1784"/>
                  <a:pt x="2812" y="1675"/>
                </a:cubicBezTo>
                <a:lnTo>
                  <a:pt x="2812" y="397"/>
                </a:lnTo>
                <a:lnTo>
                  <a:pt x="8695" y="397"/>
                </a:lnTo>
                <a:lnTo>
                  <a:pt x="8695" y="4284"/>
                </a:lnTo>
                <a:lnTo>
                  <a:pt x="3462" y="4284"/>
                </a:lnTo>
                <a:cubicBezTo>
                  <a:pt x="3352" y="4284"/>
                  <a:pt x="3263" y="4371"/>
                  <a:pt x="3263" y="4481"/>
                </a:cubicBezTo>
                <a:cubicBezTo>
                  <a:pt x="3263" y="4591"/>
                  <a:pt x="3352" y="4680"/>
                  <a:pt x="3462" y="4680"/>
                </a:cubicBezTo>
                <a:lnTo>
                  <a:pt x="8282" y="4680"/>
                </a:lnTo>
                <a:lnTo>
                  <a:pt x="7060" y="5570"/>
                </a:lnTo>
                <a:lnTo>
                  <a:pt x="1459" y="5570"/>
                </a:lnTo>
                <a:lnTo>
                  <a:pt x="1846" y="5286"/>
                </a:lnTo>
                <a:cubicBezTo>
                  <a:pt x="1936" y="5221"/>
                  <a:pt x="1955" y="5096"/>
                  <a:pt x="1891" y="5007"/>
                </a:cubicBezTo>
                <a:cubicBezTo>
                  <a:pt x="1852" y="4953"/>
                  <a:pt x="1792" y="4926"/>
                  <a:pt x="1731" y="4926"/>
                </a:cubicBezTo>
                <a:cubicBezTo>
                  <a:pt x="1690" y="4926"/>
                  <a:pt x="1649" y="4938"/>
                  <a:pt x="1613" y="4964"/>
                </a:cubicBezTo>
                <a:lnTo>
                  <a:pt x="731" y="5607"/>
                </a:lnTo>
                <a:cubicBezTo>
                  <a:pt x="642" y="5688"/>
                  <a:pt x="624" y="5755"/>
                  <a:pt x="624" y="5892"/>
                </a:cubicBezTo>
                <a:cubicBezTo>
                  <a:pt x="624" y="6036"/>
                  <a:pt x="748" y="6119"/>
                  <a:pt x="857" y="6119"/>
                </a:cubicBezTo>
                <a:lnTo>
                  <a:pt x="7154" y="6119"/>
                </a:lnTo>
                <a:cubicBezTo>
                  <a:pt x="7197" y="6119"/>
                  <a:pt x="7237" y="6106"/>
                  <a:pt x="7271" y="6080"/>
                </a:cubicBezTo>
                <a:lnTo>
                  <a:pt x="9025" y="4797"/>
                </a:lnTo>
                <a:cubicBezTo>
                  <a:pt x="9106" y="4738"/>
                  <a:pt x="9124" y="4628"/>
                  <a:pt x="9078" y="4543"/>
                </a:cubicBezTo>
                <a:cubicBezTo>
                  <a:pt x="9078" y="4540"/>
                  <a:pt x="9078" y="4539"/>
                  <a:pt x="9080" y="4537"/>
                </a:cubicBezTo>
                <a:cubicBezTo>
                  <a:pt x="9084" y="4524"/>
                  <a:pt x="9087" y="4511"/>
                  <a:pt x="9087" y="4496"/>
                </a:cubicBezTo>
                <a:cubicBezTo>
                  <a:pt x="9087" y="4491"/>
                  <a:pt x="9091" y="4487"/>
                  <a:pt x="9091" y="4481"/>
                </a:cubicBezTo>
                <a:lnTo>
                  <a:pt x="9091" y="200"/>
                </a:lnTo>
                <a:cubicBezTo>
                  <a:pt x="9091" y="90"/>
                  <a:pt x="9002" y="1"/>
                  <a:pt x="8892" y="1"/>
                </a:cubicBezTo>
                <a:close/>
              </a:path>
            </a:pathLst>
          </a:custGeom>
          <a:solidFill>
            <a:srgbClr val="2AB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25252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2" name="Google Shape;252;p30"/>
          <p:cNvGrpSpPr/>
          <p:nvPr/>
        </p:nvGrpSpPr>
        <p:grpSpPr>
          <a:xfrm>
            <a:off x="3405538" y="3026152"/>
            <a:ext cx="315620" cy="227246"/>
            <a:chOff x="2536951" y="1063133"/>
            <a:chExt cx="469323" cy="337913"/>
          </a:xfrm>
        </p:grpSpPr>
        <p:sp>
          <p:nvSpPr>
            <p:cNvPr id="253" name="Google Shape;253;p30"/>
            <p:cNvSpPr/>
            <p:nvPr/>
          </p:nvSpPr>
          <p:spPr>
            <a:xfrm>
              <a:off x="2536951" y="1063133"/>
              <a:ext cx="469323" cy="337913"/>
            </a:xfrm>
            <a:custGeom>
              <a:rect b="b" l="l" r="r" t="t"/>
              <a:pathLst>
                <a:path extrusionOk="0" h="337913" w="469323">
                  <a:moveTo>
                    <a:pt x="407517" y="0"/>
                  </a:moveTo>
                  <a:lnTo>
                    <a:pt x="61806" y="0"/>
                  </a:lnTo>
                  <a:cubicBezTo>
                    <a:pt x="27672" y="0"/>
                    <a:pt x="0" y="27672"/>
                    <a:pt x="0" y="61806"/>
                  </a:cubicBezTo>
                  <a:lnTo>
                    <a:pt x="0" y="276107"/>
                  </a:lnTo>
                  <a:cubicBezTo>
                    <a:pt x="0" y="310242"/>
                    <a:pt x="27672" y="337913"/>
                    <a:pt x="61806" y="337913"/>
                  </a:cubicBezTo>
                  <a:lnTo>
                    <a:pt x="407517" y="337913"/>
                  </a:lnTo>
                  <a:cubicBezTo>
                    <a:pt x="441652" y="337913"/>
                    <a:pt x="469324" y="310242"/>
                    <a:pt x="469324" y="276107"/>
                  </a:cubicBezTo>
                  <a:lnTo>
                    <a:pt x="469324" y="61806"/>
                  </a:lnTo>
                  <a:cubicBezTo>
                    <a:pt x="469324" y="27672"/>
                    <a:pt x="441652" y="0"/>
                    <a:pt x="407517" y="0"/>
                  </a:cubicBezTo>
                  <a:close/>
                  <a:moveTo>
                    <a:pt x="433222" y="276107"/>
                  </a:moveTo>
                  <a:cubicBezTo>
                    <a:pt x="433222" y="290303"/>
                    <a:pt x="421714" y="301811"/>
                    <a:pt x="407517" y="301811"/>
                  </a:cubicBezTo>
                  <a:lnTo>
                    <a:pt x="61806" y="301811"/>
                  </a:lnTo>
                  <a:cubicBezTo>
                    <a:pt x="47610" y="301811"/>
                    <a:pt x="36102" y="290303"/>
                    <a:pt x="36102" y="276107"/>
                  </a:cubicBezTo>
                  <a:lnTo>
                    <a:pt x="36102" y="118414"/>
                  </a:lnTo>
                  <a:lnTo>
                    <a:pt x="433222" y="118414"/>
                  </a:lnTo>
                  <a:close/>
                  <a:moveTo>
                    <a:pt x="433222" y="95309"/>
                  </a:moveTo>
                  <a:lnTo>
                    <a:pt x="36102" y="95309"/>
                  </a:lnTo>
                  <a:lnTo>
                    <a:pt x="36102" y="61806"/>
                  </a:lnTo>
                  <a:cubicBezTo>
                    <a:pt x="36102" y="47610"/>
                    <a:pt x="47610" y="36102"/>
                    <a:pt x="61806" y="36102"/>
                  </a:cubicBezTo>
                  <a:lnTo>
                    <a:pt x="407517" y="36102"/>
                  </a:lnTo>
                  <a:cubicBezTo>
                    <a:pt x="421714" y="36102"/>
                    <a:pt x="433222" y="47610"/>
                    <a:pt x="433222" y="61806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55925" lIns="111875" spcFirstLastPara="1" rIns="111875" wrap="square" tIns="55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652"/>
                <a:buFont typeface="Arial"/>
                <a:buNone/>
              </a:pPr>
              <a:r>
                <a:t/>
              </a:r>
              <a:endParaRPr sz="165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30"/>
            <p:cNvSpPr/>
            <p:nvPr/>
          </p:nvSpPr>
          <p:spPr>
            <a:xfrm>
              <a:off x="2594858" y="1116123"/>
              <a:ext cx="25126" cy="25127"/>
            </a:xfrm>
            <a:custGeom>
              <a:rect b="b" l="l" r="r" t="t"/>
              <a:pathLst>
                <a:path extrusionOk="0" h="25127" w="25126">
                  <a:moveTo>
                    <a:pt x="12997" y="8"/>
                  </a:moveTo>
                  <a:cubicBezTo>
                    <a:pt x="6062" y="-232"/>
                    <a:pt x="247" y="5196"/>
                    <a:pt x="8" y="12130"/>
                  </a:cubicBezTo>
                  <a:cubicBezTo>
                    <a:pt x="-232" y="19065"/>
                    <a:pt x="5196" y="24880"/>
                    <a:pt x="12130" y="25120"/>
                  </a:cubicBezTo>
                  <a:cubicBezTo>
                    <a:pt x="19065" y="25358"/>
                    <a:pt x="24880" y="19931"/>
                    <a:pt x="25119" y="12997"/>
                  </a:cubicBezTo>
                  <a:cubicBezTo>
                    <a:pt x="25124" y="12855"/>
                    <a:pt x="25127" y="12713"/>
                    <a:pt x="25127" y="12571"/>
                  </a:cubicBezTo>
                  <a:cubicBezTo>
                    <a:pt x="25131" y="5798"/>
                    <a:pt x="19766" y="241"/>
                    <a:pt x="12997" y="8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55925" lIns="111875" spcFirstLastPara="1" rIns="111875" wrap="square" tIns="55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652"/>
                <a:buFont typeface="Arial"/>
                <a:buNone/>
              </a:pPr>
              <a:r>
                <a:t/>
              </a:r>
              <a:endParaRPr sz="165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30"/>
            <p:cNvSpPr/>
            <p:nvPr/>
          </p:nvSpPr>
          <p:spPr>
            <a:xfrm>
              <a:off x="2634714" y="1116130"/>
              <a:ext cx="25126" cy="25126"/>
            </a:xfrm>
            <a:custGeom>
              <a:rect b="b" l="l" r="r" t="t"/>
              <a:pathLst>
                <a:path extrusionOk="0" h="25126" w="25126">
                  <a:moveTo>
                    <a:pt x="12563" y="0"/>
                  </a:moveTo>
                  <a:cubicBezTo>
                    <a:pt x="5625" y="0"/>
                    <a:pt x="0" y="5625"/>
                    <a:pt x="0" y="12563"/>
                  </a:cubicBezTo>
                  <a:cubicBezTo>
                    <a:pt x="0" y="19502"/>
                    <a:pt x="5625" y="25127"/>
                    <a:pt x="12563" y="25127"/>
                  </a:cubicBezTo>
                  <a:cubicBezTo>
                    <a:pt x="19502" y="25127"/>
                    <a:pt x="25127" y="19502"/>
                    <a:pt x="25127" y="12563"/>
                  </a:cubicBezTo>
                  <a:cubicBezTo>
                    <a:pt x="25127" y="5625"/>
                    <a:pt x="19502" y="0"/>
                    <a:pt x="12563" y="0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55925" lIns="111875" spcFirstLastPara="1" rIns="111875" wrap="square" tIns="55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652"/>
                <a:buFont typeface="Arial"/>
                <a:buNone/>
              </a:pPr>
              <a:r>
                <a:t/>
              </a:r>
              <a:endParaRPr sz="165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30"/>
            <p:cNvSpPr/>
            <p:nvPr/>
          </p:nvSpPr>
          <p:spPr>
            <a:xfrm>
              <a:off x="2745366" y="1211837"/>
              <a:ext cx="51876" cy="127507"/>
            </a:xfrm>
            <a:custGeom>
              <a:rect b="b" l="l" r="r" t="t"/>
              <a:pathLst>
                <a:path extrusionOk="0" h="127507" w="51876">
                  <a:moveTo>
                    <a:pt x="43864" y="468"/>
                  </a:moveTo>
                  <a:cubicBezTo>
                    <a:pt x="38299" y="-1243"/>
                    <a:pt x="32401" y="1881"/>
                    <a:pt x="30690" y="7446"/>
                  </a:cubicBezTo>
                  <a:cubicBezTo>
                    <a:pt x="30651" y="7575"/>
                    <a:pt x="30614" y="7703"/>
                    <a:pt x="30579" y="7833"/>
                  </a:cubicBezTo>
                  <a:lnTo>
                    <a:pt x="398" y="114117"/>
                  </a:lnTo>
                  <a:cubicBezTo>
                    <a:pt x="-1185" y="119814"/>
                    <a:pt x="2093" y="125726"/>
                    <a:pt x="7763" y="127402"/>
                  </a:cubicBezTo>
                  <a:cubicBezTo>
                    <a:pt x="8769" y="127543"/>
                    <a:pt x="9789" y="127543"/>
                    <a:pt x="10795" y="127402"/>
                  </a:cubicBezTo>
                  <a:cubicBezTo>
                    <a:pt x="15626" y="127452"/>
                    <a:pt x="19887" y="124254"/>
                    <a:pt x="21193" y="119604"/>
                  </a:cubicBezTo>
                  <a:lnTo>
                    <a:pt x="51374" y="14043"/>
                  </a:lnTo>
                  <a:cubicBezTo>
                    <a:pt x="53157" y="8417"/>
                    <a:pt x="50042" y="2411"/>
                    <a:pt x="44416" y="627"/>
                  </a:cubicBezTo>
                  <a:cubicBezTo>
                    <a:pt x="44234" y="570"/>
                    <a:pt x="44049" y="516"/>
                    <a:pt x="43864" y="468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55925" lIns="111875" spcFirstLastPara="1" rIns="111875" wrap="square" tIns="55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652"/>
                <a:buFont typeface="Arial"/>
                <a:buNone/>
              </a:pPr>
              <a:r>
                <a:t/>
              </a:r>
              <a:endParaRPr sz="165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30"/>
            <p:cNvSpPr/>
            <p:nvPr/>
          </p:nvSpPr>
          <p:spPr>
            <a:xfrm>
              <a:off x="2813415" y="1222297"/>
              <a:ext cx="75889" cy="105534"/>
            </a:xfrm>
            <a:custGeom>
              <a:rect b="b" l="l" r="r" t="t"/>
              <a:pathLst>
                <a:path extrusionOk="0" h="105534" w="75889">
                  <a:moveTo>
                    <a:pt x="75890" y="59036"/>
                  </a:moveTo>
                  <a:cubicBezTo>
                    <a:pt x="75890" y="59036"/>
                    <a:pt x="75890" y="59036"/>
                    <a:pt x="75890" y="59036"/>
                  </a:cubicBezTo>
                  <a:lnTo>
                    <a:pt x="75890" y="59036"/>
                  </a:lnTo>
                  <a:lnTo>
                    <a:pt x="75890" y="59036"/>
                  </a:lnTo>
                  <a:lnTo>
                    <a:pt x="75890" y="58025"/>
                  </a:lnTo>
                  <a:cubicBezTo>
                    <a:pt x="75890" y="58025"/>
                    <a:pt x="75890" y="58025"/>
                    <a:pt x="75890" y="58025"/>
                  </a:cubicBezTo>
                  <a:lnTo>
                    <a:pt x="75890" y="58025"/>
                  </a:lnTo>
                  <a:lnTo>
                    <a:pt x="75890" y="54992"/>
                  </a:lnTo>
                  <a:cubicBezTo>
                    <a:pt x="75822" y="54757"/>
                    <a:pt x="75822" y="54506"/>
                    <a:pt x="75890" y="54270"/>
                  </a:cubicBezTo>
                  <a:lnTo>
                    <a:pt x="75890" y="54270"/>
                  </a:lnTo>
                  <a:cubicBezTo>
                    <a:pt x="75890" y="54270"/>
                    <a:pt x="75890" y="54270"/>
                    <a:pt x="75890" y="53548"/>
                  </a:cubicBezTo>
                  <a:lnTo>
                    <a:pt x="75890" y="52682"/>
                  </a:lnTo>
                  <a:lnTo>
                    <a:pt x="75890" y="52682"/>
                  </a:lnTo>
                  <a:lnTo>
                    <a:pt x="75890" y="52682"/>
                  </a:lnTo>
                  <a:cubicBezTo>
                    <a:pt x="75890" y="52682"/>
                    <a:pt x="75890" y="52682"/>
                    <a:pt x="75890" y="52682"/>
                  </a:cubicBezTo>
                  <a:lnTo>
                    <a:pt x="75890" y="52682"/>
                  </a:lnTo>
                  <a:cubicBezTo>
                    <a:pt x="75890" y="52682"/>
                    <a:pt x="75890" y="52682"/>
                    <a:pt x="75890" y="52682"/>
                  </a:cubicBezTo>
                  <a:lnTo>
                    <a:pt x="75890" y="52682"/>
                  </a:lnTo>
                  <a:lnTo>
                    <a:pt x="75890" y="52682"/>
                  </a:lnTo>
                  <a:lnTo>
                    <a:pt x="75890" y="52682"/>
                  </a:lnTo>
                  <a:lnTo>
                    <a:pt x="75890" y="52682"/>
                  </a:lnTo>
                  <a:lnTo>
                    <a:pt x="75890" y="52682"/>
                  </a:lnTo>
                  <a:lnTo>
                    <a:pt x="75890" y="52682"/>
                  </a:lnTo>
                  <a:lnTo>
                    <a:pt x="75890" y="52682"/>
                  </a:lnTo>
                  <a:lnTo>
                    <a:pt x="17838" y="2573"/>
                  </a:lnTo>
                  <a:cubicBezTo>
                    <a:pt x="13277" y="-1298"/>
                    <a:pt x="6443" y="-737"/>
                    <a:pt x="2573" y="3823"/>
                  </a:cubicBezTo>
                  <a:cubicBezTo>
                    <a:pt x="-1298" y="8385"/>
                    <a:pt x="-737" y="15218"/>
                    <a:pt x="3823" y="19088"/>
                  </a:cubicBezTo>
                  <a:cubicBezTo>
                    <a:pt x="4103" y="19327"/>
                    <a:pt x="4395" y="19549"/>
                    <a:pt x="4697" y="19757"/>
                  </a:cubicBezTo>
                  <a:lnTo>
                    <a:pt x="48741" y="53260"/>
                  </a:lnTo>
                  <a:lnTo>
                    <a:pt x="4697" y="86906"/>
                  </a:lnTo>
                  <a:cubicBezTo>
                    <a:pt x="398" y="90478"/>
                    <a:pt x="-477" y="96733"/>
                    <a:pt x="2675" y="101347"/>
                  </a:cubicBezTo>
                  <a:cubicBezTo>
                    <a:pt x="4705" y="103997"/>
                    <a:pt x="7856" y="105546"/>
                    <a:pt x="11195" y="105535"/>
                  </a:cubicBezTo>
                  <a:cubicBezTo>
                    <a:pt x="13581" y="105525"/>
                    <a:pt x="15904" y="104768"/>
                    <a:pt x="17838" y="103369"/>
                  </a:cubicBezTo>
                  <a:lnTo>
                    <a:pt x="73146" y="61202"/>
                  </a:lnTo>
                  <a:lnTo>
                    <a:pt x="73146" y="61202"/>
                  </a:lnTo>
                  <a:lnTo>
                    <a:pt x="73146" y="61202"/>
                  </a:lnTo>
                  <a:lnTo>
                    <a:pt x="73146" y="61202"/>
                  </a:lnTo>
                  <a:lnTo>
                    <a:pt x="73146" y="61202"/>
                  </a:lnTo>
                  <a:cubicBezTo>
                    <a:pt x="73146" y="61202"/>
                    <a:pt x="73146" y="61202"/>
                    <a:pt x="73146" y="61202"/>
                  </a:cubicBezTo>
                  <a:lnTo>
                    <a:pt x="73146" y="61202"/>
                  </a:lnTo>
                  <a:cubicBezTo>
                    <a:pt x="73146" y="61202"/>
                    <a:pt x="73146" y="61202"/>
                    <a:pt x="73146" y="61202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55925" lIns="111875" spcFirstLastPara="1" rIns="111875" wrap="square" tIns="55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652"/>
                <a:buFont typeface="Arial"/>
                <a:buNone/>
              </a:pPr>
              <a:r>
                <a:t/>
              </a:r>
              <a:endParaRPr sz="165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0"/>
            <p:cNvSpPr/>
            <p:nvPr/>
          </p:nvSpPr>
          <p:spPr>
            <a:xfrm>
              <a:off x="2656664" y="1222702"/>
              <a:ext cx="72760" cy="105417"/>
            </a:xfrm>
            <a:custGeom>
              <a:rect b="b" l="l" r="r" t="t"/>
              <a:pathLst>
                <a:path extrusionOk="0" h="105417" w="72760">
                  <a:moveTo>
                    <a:pt x="70471" y="4333"/>
                  </a:moveTo>
                  <a:cubicBezTo>
                    <a:pt x="66882" y="-453"/>
                    <a:pt x="60094" y="-1422"/>
                    <a:pt x="55308" y="2167"/>
                  </a:cubicBezTo>
                  <a:lnTo>
                    <a:pt x="0" y="44478"/>
                  </a:lnTo>
                  <a:lnTo>
                    <a:pt x="0" y="44478"/>
                  </a:lnTo>
                  <a:lnTo>
                    <a:pt x="0" y="44478"/>
                  </a:lnTo>
                  <a:lnTo>
                    <a:pt x="0" y="44478"/>
                  </a:lnTo>
                  <a:lnTo>
                    <a:pt x="0" y="44478"/>
                  </a:lnTo>
                  <a:lnTo>
                    <a:pt x="0" y="44478"/>
                  </a:lnTo>
                  <a:lnTo>
                    <a:pt x="0" y="44478"/>
                  </a:lnTo>
                  <a:lnTo>
                    <a:pt x="0" y="44478"/>
                  </a:lnTo>
                  <a:lnTo>
                    <a:pt x="0" y="44478"/>
                  </a:lnTo>
                  <a:lnTo>
                    <a:pt x="0" y="44478"/>
                  </a:lnTo>
                  <a:cubicBezTo>
                    <a:pt x="0" y="44478"/>
                    <a:pt x="0" y="44478"/>
                    <a:pt x="0" y="44478"/>
                  </a:cubicBezTo>
                  <a:lnTo>
                    <a:pt x="0" y="44478"/>
                  </a:lnTo>
                  <a:lnTo>
                    <a:pt x="0" y="44478"/>
                  </a:lnTo>
                  <a:lnTo>
                    <a:pt x="0" y="45344"/>
                  </a:lnTo>
                  <a:cubicBezTo>
                    <a:pt x="0" y="45344"/>
                    <a:pt x="0" y="45344"/>
                    <a:pt x="0" y="46067"/>
                  </a:cubicBezTo>
                  <a:lnTo>
                    <a:pt x="0" y="46067"/>
                  </a:lnTo>
                  <a:cubicBezTo>
                    <a:pt x="68" y="46302"/>
                    <a:pt x="68" y="46553"/>
                    <a:pt x="0" y="46789"/>
                  </a:cubicBezTo>
                  <a:lnTo>
                    <a:pt x="0" y="49821"/>
                  </a:lnTo>
                  <a:lnTo>
                    <a:pt x="0" y="49821"/>
                  </a:lnTo>
                  <a:cubicBezTo>
                    <a:pt x="0" y="49821"/>
                    <a:pt x="0" y="49821"/>
                    <a:pt x="0" y="49821"/>
                  </a:cubicBezTo>
                  <a:lnTo>
                    <a:pt x="0" y="50832"/>
                  </a:lnTo>
                  <a:lnTo>
                    <a:pt x="0" y="50832"/>
                  </a:lnTo>
                  <a:lnTo>
                    <a:pt x="0" y="50832"/>
                  </a:lnTo>
                  <a:cubicBezTo>
                    <a:pt x="0" y="50832"/>
                    <a:pt x="0" y="50832"/>
                    <a:pt x="0" y="50832"/>
                  </a:cubicBezTo>
                  <a:lnTo>
                    <a:pt x="0" y="50832"/>
                  </a:lnTo>
                  <a:cubicBezTo>
                    <a:pt x="0" y="50832"/>
                    <a:pt x="0" y="50832"/>
                    <a:pt x="0" y="50832"/>
                  </a:cubicBezTo>
                  <a:lnTo>
                    <a:pt x="0" y="50832"/>
                  </a:lnTo>
                  <a:cubicBezTo>
                    <a:pt x="0" y="50832"/>
                    <a:pt x="0" y="50832"/>
                    <a:pt x="0" y="50832"/>
                  </a:cubicBezTo>
                  <a:lnTo>
                    <a:pt x="0" y="50832"/>
                  </a:lnTo>
                  <a:lnTo>
                    <a:pt x="0" y="50832"/>
                  </a:lnTo>
                  <a:lnTo>
                    <a:pt x="0" y="50832"/>
                  </a:lnTo>
                  <a:lnTo>
                    <a:pt x="0" y="50832"/>
                  </a:lnTo>
                  <a:lnTo>
                    <a:pt x="55308" y="103252"/>
                  </a:lnTo>
                  <a:cubicBezTo>
                    <a:pt x="57242" y="104651"/>
                    <a:pt x="59565" y="105408"/>
                    <a:pt x="61951" y="105418"/>
                  </a:cubicBezTo>
                  <a:cubicBezTo>
                    <a:pt x="65289" y="105429"/>
                    <a:pt x="68440" y="103880"/>
                    <a:pt x="70471" y="101230"/>
                  </a:cubicBezTo>
                  <a:cubicBezTo>
                    <a:pt x="73623" y="96616"/>
                    <a:pt x="72748" y="90361"/>
                    <a:pt x="68449" y="86789"/>
                  </a:cubicBezTo>
                  <a:lnTo>
                    <a:pt x="25127" y="53142"/>
                  </a:lnTo>
                  <a:lnTo>
                    <a:pt x="68449" y="19640"/>
                  </a:lnTo>
                  <a:cubicBezTo>
                    <a:pt x="73226" y="16038"/>
                    <a:pt x="74178" y="9248"/>
                    <a:pt x="70578" y="4471"/>
                  </a:cubicBezTo>
                  <a:cubicBezTo>
                    <a:pt x="70542" y="4425"/>
                    <a:pt x="70507" y="4379"/>
                    <a:pt x="70471" y="4333"/>
                  </a:cubicBezTo>
                  <a:close/>
                </a:path>
              </a:pathLst>
            </a:custGeom>
            <a:solidFill>
              <a:srgbClr val="2AB5E8"/>
            </a:solidFill>
            <a:ln>
              <a:noFill/>
            </a:ln>
          </p:spPr>
          <p:txBody>
            <a:bodyPr anchorCtr="0" anchor="ctr" bIns="55925" lIns="111875" spcFirstLastPara="1" rIns="111875" wrap="square" tIns="55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652"/>
                <a:buFont typeface="Arial"/>
                <a:buNone/>
              </a:pPr>
              <a:r>
                <a:t/>
              </a:r>
              <a:endParaRPr sz="165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" name="Google Shape;259;p30"/>
          <p:cNvSpPr/>
          <p:nvPr/>
        </p:nvSpPr>
        <p:spPr>
          <a:xfrm>
            <a:off x="5259936" y="1316584"/>
            <a:ext cx="641400" cy="6165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29B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450" lIns="43450" spcFirstLastPara="1" rIns="43450" wrap="square" tIns="4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6"/>
          </a:p>
        </p:txBody>
      </p:sp>
      <p:sp>
        <p:nvSpPr>
          <p:cNvPr id="260" name="Google Shape;260;p30"/>
          <p:cNvSpPr/>
          <p:nvPr/>
        </p:nvSpPr>
        <p:spPr>
          <a:xfrm>
            <a:off x="5259936" y="2831509"/>
            <a:ext cx="641400" cy="6165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29B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450" lIns="43450" spcFirstLastPara="1" rIns="43450" wrap="square" tIns="4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6"/>
          </a:p>
        </p:txBody>
      </p:sp>
      <p:sp>
        <p:nvSpPr>
          <p:cNvPr id="261" name="Google Shape;261;p30"/>
          <p:cNvSpPr txBox="1"/>
          <p:nvPr/>
        </p:nvSpPr>
        <p:spPr>
          <a:xfrm>
            <a:off x="5039305" y="1972378"/>
            <a:ext cx="1082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525" lIns="50525" spcFirstLastPara="1" rIns="50525" wrap="square" tIns="505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5">
                <a:solidFill>
                  <a:schemeClr val="dk1"/>
                </a:solidFill>
              </a:rPr>
              <a:t>DATA</a:t>
            </a:r>
            <a:endParaRPr b="1" sz="1005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5">
                <a:solidFill>
                  <a:schemeClr val="dk1"/>
                </a:solidFill>
              </a:rPr>
              <a:t>ENGINEERING</a:t>
            </a:r>
            <a:endParaRPr b="1" sz="1005">
              <a:solidFill>
                <a:schemeClr val="dk1"/>
              </a:solidFill>
            </a:endParaRPr>
          </a:p>
        </p:txBody>
      </p:sp>
      <p:sp>
        <p:nvSpPr>
          <p:cNvPr id="262" name="Google Shape;262;p30"/>
          <p:cNvSpPr txBox="1"/>
          <p:nvPr/>
        </p:nvSpPr>
        <p:spPr>
          <a:xfrm>
            <a:off x="5039305" y="3493932"/>
            <a:ext cx="1082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525" lIns="50525" spcFirstLastPara="1" rIns="50525" wrap="square" tIns="505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5">
                <a:solidFill>
                  <a:schemeClr val="dk1"/>
                </a:solidFill>
              </a:rPr>
              <a:t>BI &amp;</a:t>
            </a:r>
            <a:endParaRPr b="1" sz="1005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5">
                <a:solidFill>
                  <a:schemeClr val="dk1"/>
                </a:solidFill>
              </a:rPr>
              <a:t>APPS</a:t>
            </a:r>
            <a:endParaRPr b="1" sz="1005">
              <a:solidFill>
                <a:schemeClr val="dk1"/>
              </a:solidFill>
            </a:endParaRPr>
          </a:p>
        </p:txBody>
      </p:sp>
      <p:sp>
        <p:nvSpPr>
          <p:cNvPr id="263" name="Google Shape;263;p30"/>
          <p:cNvSpPr/>
          <p:nvPr/>
        </p:nvSpPr>
        <p:spPr>
          <a:xfrm>
            <a:off x="5379407" y="1532182"/>
            <a:ext cx="402488" cy="185318"/>
          </a:xfrm>
          <a:custGeom>
            <a:rect b="b" l="l" r="r" t="t"/>
            <a:pathLst>
              <a:path extrusionOk="0" h="243840" w="529589">
                <a:moveTo>
                  <a:pt x="470535" y="2858"/>
                </a:moveTo>
                <a:lnTo>
                  <a:pt x="470535" y="2858"/>
                </a:lnTo>
                <a:lnTo>
                  <a:pt x="403860" y="2858"/>
                </a:lnTo>
                <a:lnTo>
                  <a:pt x="403860" y="2858"/>
                </a:lnTo>
                <a:cubicBezTo>
                  <a:pt x="401955" y="2858"/>
                  <a:pt x="400050" y="2858"/>
                  <a:pt x="397193" y="3810"/>
                </a:cubicBezTo>
                <a:cubicBezTo>
                  <a:pt x="396240" y="3810"/>
                  <a:pt x="396240" y="3810"/>
                  <a:pt x="395288" y="3810"/>
                </a:cubicBezTo>
                <a:cubicBezTo>
                  <a:pt x="393383" y="3810"/>
                  <a:pt x="392430" y="4763"/>
                  <a:pt x="391478" y="4763"/>
                </a:cubicBezTo>
                <a:cubicBezTo>
                  <a:pt x="390525" y="4763"/>
                  <a:pt x="390525" y="4763"/>
                  <a:pt x="389573" y="5715"/>
                </a:cubicBezTo>
                <a:cubicBezTo>
                  <a:pt x="387668" y="6668"/>
                  <a:pt x="385763" y="7620"/>
                  <a:pt x="384810" y="8573"/>
                </a:cubicBezTo>
                <a:cubicBezTo>
                  <a:pt x="383858" y="8573"/>
                  <a:pt x="383858" y="9525"/>
                  <a:pt x="382905" y="10478"/>
                </a:cubicBezTo>
                <a:cubicBezTo>
                  <a:pt x="381953" y="11430"/>
                  <a:pt x="381000" y="12383"/>
                  <a:pt x="380048" y="12383"/>
                </a:cubicBezTo>
                <a:cubicBezTo>
                  <a:pt x="379095" y="13335"/>
                  <a:pt x="378143" y="14288"/>
                  <a:pt x="377190" y="14288"/>
                </a:cubicBezTo>
                <a:cubicBezTo>
                  <a:pt x="376238" y="15240"/>
                  <a:pt x="376238" y="16193"/>
                  <a:pt x="375285" y="16193"/>
                </a:cubicBezTo>
                <a:cubicBezTo>
                  <a:pt x="373380" y="18098"/>
                  <a:pt x="371475" y="20955"/>
                  <a:pt x="369570" y="22860"/>
                </a:cubicBezTo>
                <a:cubicBezTo>
                  <a:pt x="369570" y="22860"/>
                  <a:pt x="369570" y="23813"/>
                  <a:pt x="368618" y="23813"/>
                </a:cubicBezTo>
                <a:lnTo>
                  <a:pt x="194310" y="23813"/>
                </a:lnTo>
                <a:cubicBezTo>
                  <a:pt x="194310" y="23813"/>
                  <a:pt x="194310" y="23813"/>
                  <a:pt x="194310" y="23813"/>
                </a:cubicBezTo>
                <a:cubicBezTo>
                  <a:pt x="193358" y="21908"/>
                  <a:pt x="191453" y="20003"/>
                  <a:pt x="190500" y="18098"/>
                </a:cubicBezTo>
                <a:cubicBezTo>
                  <a:pt x="190500" y="18098"/>
                  <a:pt x="190500" y="18098"/>
                  <a:pt x="190500" y="17145"/>
                </a:cubicBezTo>
                <a:cubicBezTo>
                  <a:pt x="189548" y="15240"/>
                  <a:pt x="187643" y="14288"/>
                  <a:pt x="186690" y="12383"/>
                </a:cubicBezTo>
                <a:cubicBezTo>
                  <a:pt x="186690" y="12383"/>
                  <a:pt x="186690" y="12383"/>
                  <a:pt x="185738" y="11430"/>
                </a:cubicBezTo>
                <a:cubicBezTo>
                  <a:pt x="184785" y="10478"/>
                  <a:pt x="182880" y="9525"/>
                  <a:pt x="181928" y="8573"/>
                </a:cubicBezTo>
                <a:cubicBezTo>
                  <a:pt x="181928" y="8573"/>
                  <a:pt x="180975" y="8573"/>
                  <a:pt x="180975" y="7620"/>
                </a:cubicBezTo>
                <a:cubicBezTo>
                  <a:pt x="180023" y="6668"/>
                  <a:pt x="178118" y="5715"/>
                  <a:pt x="177165" y="4763"/>
                </a:cubicBezTo>
                <a:cubicBezTo>
                  <a:pt x="177165" y="4763"/>
                  <a:pt x="176213" y="4763"/>
                  <a:pt x="176213" y="3810"/>
                </a:cubicBezTo>
                <a:cubicBezTo>
                  <a:pt x="175260" y="2858"/>
                  <a:pt x="174308" y="2858"/>
                  <a:pt x="172403" y="1905"/>
                </a:cubicBezTo>
                <a:cubicBezTo>
                  <a:pt x="172403" y="1905"/>
                  <a:pt x="171450" y="1905"/>
                  <a:pt x="171450" y="953"/>
                </a:cubicBezTo>
                <a:cubicBezTo>
                  <a:pt x="170498" y="953"/>
                  <a:pt x="169545" y="0"/>
                  <a:pt x="168593" y="0"/>
                </a:cubicBezTo>
                <a:cubicBezTo>
                  <a:pt x="167640" y="0"/>
                  <a:pt x="167640" y="0"/>
                  <a:pt x="166688" y="0"/>
                </a:cubicBezTo>
                <a:cubicBezTo>
                  <a:pt x="165735" y="0"/>
                  <a:pt x="165735" y="0"/>
                  <a:pt x="164783" y="0"/>
                </a:cubicBezTo>
                <a:cubicBezTo>
                  <a:pt x="163830" y="0"/>
                  <a:pt x="161925" y="0"/>
                  <a:pt x="160973" y="0"/>
                </a:cubicBezTo>
                <a:lnTo>
                  <a:pt x="160973" y="0"/>
                </a:lnTo>
                <a:lnTo>
                  <a:pt x="91440" y="0"/>
                </a:lnTo>
                <a:lnTo>
                  <a:pt x="91440" y="0"/>
                </a:lnTo>
                <a:cubicBezTo>
                  <a:pt x="80010" y="0"/>
                  <a:pt x="69533" y="5715"/>
                  <a:pt x="60960" y="16193"/>
                </a:cubicBezTo>
                <a:cubicBezTo>
                  <a:pt x="52388" y="26670"/>
                  <a:pt x="44768" y="42863"/>
                  <a:pt x="40005" y="62865"/>
                </a:cubicBezTo>
                <a:cubicBezTo>
                  <a:pt x="38100" y="69533"/>
                  <a:pt x="41910" y="75248"/>
                  <a:pt x="48578" y="77153"/>
                </a:cubicBezTo>
                <a:cubicBezTo>
                  <a:pt x="49530" y="77153"/>
                  <a:pt x="50483" y="77153"/>
                  <a:pt x="51435" y="77153"/>
                </a:cubicBezTo>
                <a:cubicBezTo>
                  <a:pt x="51435" y="77153"/>
                  <a:pt x="51435" y="77153"/>
                  <a:pt x="51435" y="77153"/>
                </a:cubicBezTo>
                <a:cubicBezTo>
                  <a:pt x="51435" y="77153"/>
                  <a:pt x="51435" y="77153"/>
                  <a:pt x="51435" y="77153"/>
                </a:cubicBezTo>
                <a:cubicBezTo>
                  <a:pt x="57150" y="77153"/>
                  <a:pt x="61913" y="73343"/>
                  <a:pt x="62865" y="68580"/>
                </a:cubicBezTo>
                <a:cubicBezTo>
                  <a:pt x="66675" y="53340"/>
                  <a:pt x="72390" y="41910"/>
                  <a:pt x="77153" y="34290"/>
                </a:cubicBezTo>
                <a:cubicBezTo>
                  <a:pt x="81915" y="26670"/>
                  <a:pt x="87630" y="22860"/>
                  <a:pt x="91440" y="22860"/>
                </a:cubicBezTo>
                <a:lnTo>
                  <a:pt x="125730" y="22860"/>
                </a:lnTo>
                <a:cubicBezTo>
                  <a:pt x="122873" y="27623"/>
                  <a:pt x="120015" y="33338"/>
                  <a:pt x="117158" y="40005"/>
                </a:cubicBezTo>
                <a:cubicBezTo>
                  <a:pt x="117158" y="40005"/>
                  <a:pt x="117158" y="40005"/>
                  <a:pt x="117158" y="40005"/>
                </a:cubicBezTo>
                <a:cubicBezTo>
                  <a:pt x="116205" y="42863"/>
                  <a:pt x="115252" y="46673"/>
                  <a:pt x="113348" y="49530"/>
                </a:cubicBezTo>
                <a:cubicBezTo>
                  <a:pt x="113348" y="50483"/>
                  <a:pt x="113348" y="50483"/>
                  <a:pt x="112395" y="51435"/>
                </a:cubicBezTo>
                <a:cubicBezTo>
                  <a:pt x="111443" y="54293"/>
                  <a:pt x="110490" y="58103"/>
                  <a:pt x="109538" y="61913"/>
                </a:cubicBezTo>
                <a:cubicBezTo>
                  <a:pt x="109538" y="61913"/>
                  <a:pt x="109538" y="61913"/>
                  <a:pt x="109538" y="61913"/>
                </a:cubicBezTo>
                <a:cubicBezTo>
                  <a:pt x="107633" y="68580"/>
                  <a:pt x="111443" y="74295"/>
                  <a:pt x="118110" y="76200"/>
                </a:cubicBezTo>
                <a:cubicBezTo>
                  <a:pt x="119063" y="76200"/>
                  <a:pt x="120015" y="76200"/>
                  <a:pt x="120968" y="76200"/>
                </a:cubicBezTo>
                <a:cubicBezTo>
                  <a:pt x="120968" y="76200"/>
                  <a:pt x="120968" y="76200"/>
                  <a:pt x="120968" y="76200"/>
                </a:cubicBezTo>
                <a:cubicBezTo>
                  <a:pt x="120968" y="76200"/>
                  <a:pt x="120968" y="76200"/>
                  <a:pt x="120968" y="76200"/>
                </a:cubicBezTo>
                <a:cubicBezTo>
                  <a:pt x="121920" y="76200"/>
                  <a:pt x="122873" y="76200"/>
                  <a:pt x="124777" y="75248"/>
                </a:cubicBezTo>
                <a:cubicBezTo>
                  <a:pt x="124777" y="75248"/>
                  <a:pt x="124777" y="75248"/>
                  <a:pt x="124777" y="75248"/>
                </a:cubicBezTo>
                <a:cubicBezTo>
                  <a:pt x="128588" y="74295"/>
                  <a:pt x="131445" y="70485"/>
                  <a:pt x="132398" y="66675"/>
                </a:cubicBezTo>
                <a:cubicBezTo>
                  <a:pt x="133350" y="60960"/>
                  <a:pt x="135255" y="56198"/>
                  <a:pt x="137160" y="52388"/>
                </a:cubicBezTo>
                <a:cubicBezTo>
                  <a:pt x="144780" y="31433"/>
                  <a:pt x="154305" y="21908"/>
                  <a:pt x="161925" y="21908"/>
                </a:cubicBezTo>
                <a:cubicBezTo>
                  <a:pt x="161925" y="21908"/>
                  <a:pt x="161925" y="21908"/>
                  <a:pt x="161925" y="21908"/>
                </a:cubicBezTo>
                <a:cubicBezTo>
                  <a:pt x="162878" y="21908"/>
                  <a:pt x="162878" y="21908"/>
                  <a:pt x="163830" y="21908"/>
                </a:cubicBezTo>
                <a:cubicBezTo>
                  <a:pt x="163830" y="21908"/>
                  <a:pt x="163830" y="21908"/>
                  <a:pt x="163830" y="21908"/>
                </a:cubicBezTo>
                <a:cubicBezTo>
                  <a:pt x="164783" y="21908"/>
                  <a:pt x="164783" y="21908"/>
                  <a:pt x="165735" y="22860"/>
                </a:cubicBezTo>
                <a:cubicBezTo>
                  <a:pt x="165735" y="22860"/>
                  <a:pt x="165735" y="22860"/>
                  <a:pt x="165735" y="22860"/>
                </a:cubicBezTo>
                <a:cubicBezTo>
                  <a:pt x="166688" y="22860"/>
                  <a:pt x="166688" y="23813"/>
                  <a:pt x="167640" y="23813"/>
                </a:cubicBezTo>
                <a:cubicBezTo>
                  <a:pt x="167640" y="23813"/>
                  <a:pt x="167640" y="23813"/>
                  <a:pt x="167640" y="23813"/>
                </a:cubicBezTo>
                <a:cubicBezTo>
                  <a:pt x="168593" y="24765"/>
                  <a:pt x="169545" y="24765"/>
                  <a:pt x="169545" y="25718"/>
                </a:cubicBezTo>
                <a:cubicBezTo>
                  <a:pt x="169545" y="25718"/>
                  <a:pt x="169545" y="25718"/>
                  <a:pt x="169545" y="25718"/>
                </a:cubicBezTo>
                <a:cubicBezTo>
                  <a:pt x="167640" y="27623"/>
                  <a:pt x="165735" y="28575"/>
                  <a:pt x="163830" y="31433"/>
                </a:cubicBezTo>
                <a:cubicBezTo>
                  <a:pt x="162878" y="32385"/>
                  <a:pt x="162878" y="32385"/>
                  <a:pt x="162878" y="33338"/>
                </a:cubicBezTo>
                <a:cubicBezTo>
                  <a:pt x="161925" y="35243"/>
                  <a:pt x="160020" y="37148"/>
                  <a:pt x="159068" y="39053"/>
                </a:cubicBezTo>
                <a:cubicBezTo>
                  <a:pt x="158115" y="40005"/>
                  <a:pt x="158115" y="40958"/>
                  <a:pt x="157163" y="41910"/>
                </a:cubicBezTo>
                <a:cubicBezTo>
                  <a:pt x="156210" y="43815"/>
                  <a:pt x="155258" y="45720"/>
                  <a:pt x="153353" y="48578"/>
                </a:cubicBezTo>
                <a:cubicBezTo>
                  <a:pt x="152400" y="49530"/>
                  <a:pt x="152400" y="50483"/>
                  <a:pt x="151448" y="51435"/>
                </a:cubicBezTo>
                <a:cubicBezTo>
                  <a:pt x="149543" y="54293"/>
                  <a:pt x="148590" y="58103"/>
                  <a:pt x="147638" y="60960"/>
                </a:cubicBezTo>
                <a:cubicBezTo>
                  <a:pt x="147638" y="60960"/>
                  <a:pt x="147638" y="60960"/>
                  <a:pt x="147638" y="60960"/>
                </a:cubicBezTo>
                <a:cubicBezTo>
                  <a:pt x="145733" y="67628"/>
                  <a:pt x="148590" y="74295"/>
                  <a:pt x="155258" y="76200"/>
                </a:cubicBezTo>
                <a:cubicBezTo>
                  <a:pt x="156210" y="76200"/>
                  <a:pt x="158115" y="77153"/>
                  <a:pt x="159068" y="77153"/>
                </a:cubicBezTo>
                <a:cubicBezTo>
                  <a:pt x="159068" y="77153"/>
                  <a:pt x="159068" y="77153"/>
                  <a:pt x="159068" y="77153"/>
                </a:cubicBezTo>
                <a:cubicBezTo>
                  <a:pt x="159068" y="77153"/>
                  <a:pt x="159068" y="77153"/>
                  <a:pt x="159068" y="77153"/>
                </a:cubicBezTo>
                <a:cubicBezTo>
                  <a:pt x="163830" y="77153"/>
                  <a:pt x="168593" y="74295"/>
                  <a:pt x="170498" y="69533"/>
                </a:cubicBezTo>
                <a:cubicBezTo>
                  <a:pt x="173355" y="60960"/>
                  <a:pt x="177165" y="55245"/>
                  <a:pt x="180023" y="51435"/>
                </a:cubicBezTo>
                <a:cubicBezTo>
                  <a:pt x="182880" y="47625"/>
                  <a:pt x="185738" y="45720"/>
                  <a:pt x="188595" y="45720"/>
                </a:cubicBezTo>
                <a:lnTo>
                  <a:pt x="190500" y="45720"/>
                </a:lnTo>
                <a:cubicBezTo>
                  <a:pt x="190500" y="45720"/>
                  <a:pt x="190500" y="45720"/>
                  <a:pt x="190500" y="45720"/>
                </a:cubicBezTo>
                <a:lnTo>
                  <a:pt x="358140" y="45720"/>
                </a:lnTo>
                <a:cubicBezTo>
                  <a:pt x="358140" y="45720"/>
                  <a:pt x="358140" y="45720"/>
                  <a:pt x="358140" y="45720"/>
                </a:cubicBezTo>
                <a:cubicBezTo>
                  <a:pt x="356235" y="51435"/>
                  <a:pt x="354330" y="57150"/>
                  <a:pt x="352425" y="62865"/>
                </a:cubicBezTo>
                <a:cubicBezTo>
                  <a:pt x="352425" y="62865"/>
                  <a:pt x="352425" y="63818"/>
                  <a:pt x="352425" y="63818"/>
                </a:cubicBezTo>
                <a:cubicBezTo>
                  <a:pt x="350520" y="69533"/>
                  <a:pt x="349568" y="75248"/>
                  <a:pt x="348615" y="81915"/>
                </a:cubicBezTo>
                <a:cubicBezTo>
                  <a:pt x="348615" y="82868"/>
                  <a:pt x="348615" y="82868"/>
                  <a:pt x="348615" y="83820"/>
                </a:cubicBezTo>
                <a:cubicBezTo>
                  <a:pt x="347663" y="89535"/>
                  <a:pt x="346710" y="96203"/>
                  <a:pt x="346710" y="101918"/>
                </a:cubicBezTo>
                <a:cubicBezTo>
                  <a:pt x="346710" y="102870"/>
                  <a:pt x="346710" y="102870"/>
                  <a:pt x="346710" y="103823"/>
                </a:cubicBezTo>
                <a:cubicBezTo>
                  <a:pt x="346710" y="110490"/>
                  <a:pt x="345758" y="116205"/>
                  <a:pt x="345758" y="122873"/>
                </a:cubicBezTo>
                <a:cubicBezTo>
                  <a:pt x="345758" y="122873"/>
                  <a:pt x="345758" y="122873"/>
                  <a:pt x="345758" y="122873"/>
                </a:cubicBezTo>
                <a:cubicBezTo>
                  <a:pt x="345758" y="122873"/>
                  <a:pt x="345758" y="122873"/>
                  <a:pt x="345758" y="122873"/>
                </a:cubicBezTo>
                <a:cubicBezTo>
                  <a:pt x="345758" y="129540"/>
                  <a:pt x="345758" y="135255"/>
                  <a:pt x="346710" y="141923"/>
                </a:cubicBezTo>
                <a:cubicBezTo>
                  <a:pt x="346710" y="142875"/>
                  <a:pt x="346710" y="142875"/>
                  <a:pt x="346710" y="143828"/>
                </a:cubicBezTo>
                <a:cubicBezTo>
                  <a:pt x="347663" y="150495"/>
                  <a:pt x="347663" y="156210"/>
                  <a:pt x="348615" y="161925"/>
                </a:cubicBezTo>
                <a:cubicBezTo>
                  <a:pt x="348615" y="162878"/>
                  <a:pt x="348615" y="162878"/>
                  <a:pt x="348615" y="163830"/>
                </a:cubicBezTo>
                <a:cubicBezTo>
                  <a:pt x="349568" y="169545"/>
                  <a:pt x="350520" y="176213"/>
                  <a:pt x="352425" y="181928"/>
                </a:cubicBezTo>
                <a:cubicBezTo>
                  <a:pt x="352425" y="181928"/>
                  <a:pt x="352425" y="182880"/>
                  <a:pt x="352425" y="182880"/>
                </a:cubicBezTo>
                <a:cubicBezTo>
                  <a:pt x="354330" y="188595"/>
                  <a:pt x="355283" y="194310"/>
                  <a:pt x="358140" y="200025"/>
                </a:cubicBezTo>
                <a:cubicBezTo>
                  <a:pt x="358140" y="200025"/>
                  <a:pt x="358140" y="200025"/>
                  <a:pt x="358140" y="200025"/>
                </a:cubicBezTo>
                <a:lnTo>
                  <a:pt x="229553" y="200025"/>
                </a:lnTo>
                <a:lnTo>
                  <a:pt x="229553" y="200025"/>
                </a:lnTo>
                <a:cubicBezTo>
                  <a:pt x="222885" y="200025"/>
                  <a:pt x="218123" y="205740"/>
                  <a:pt x="218123" y="211455"/>
                </a:cubicBezTo>
                <a:cubicBezTo>
                  <a:pt x="218123" y="217170"/>
                  <a:pt x="223838" y="222885"/>
                  <a:pt x="229553" y="222885"/>
                </a:cubicBezTo>
                <a:lnTo>
                  <a:pt x="229553" y="222885"/>
                </a:lnTo>
                <a:lnTo>
                  <a:pt x="368618" y="222885"/>
                </a:lnTo>
                <a:cubicBezTo>
                  <a:pt x="368618" y="222885"/>
                  <a:pt x="368618" y="223838"/>
                  <a:pt x="369570" y="223838"/>
                </a:cubicBezTo>
                <a:cubicBezTo>
                  <a:pt x="371475" y="226695"/>
                  <a:pt x="373380" y="228600"/>
                  <a:pt x="375285" y="230505"/>
                </a:cubicBezTo>
                <a:cubicBezTo>
                  <a:pt x="376238" y="231458"/>
                  <a:pt x="376238" y="232410"/>
                  <a:pt x="377190" y="232410"/>
                </a:cubicBezTo>
                <a:cubicBezTo>
                  <a:pt x="378143" y="233363"/>
                  <a:pt x="379095" y="234315"/>
                  <a:pt x="380048" y="234315"/>
                </a:cubicBezTo>
                <a:cubicBezTo>
                  <a:pt x="381000" y="235268"/>
                  <a:pt x="381953" y="236220"/>
                  <a:pt x="382905" y="236220"/>
                </a:cubicBezTo>
                <a:cubicBezTo>
                  <a:pt x="383858" y="237173"/>
                  <a:pt x="383858" y="237173"/>
                  <a:pt x="384810" y="238125"/>
                </a:cubicBezTo>
                <a:cubicBezTo>
                  <a:pt x="386715" y="239078"/>
                  <a:pt x="388620" y="240030"/>
                  <a:pt x="389573" y="240983"/>
                </a:cubicBezTo>
                <a:cubicBezTo>
                  <a:pt x="390525" y="240983"/>
                  <a:pt x="390525" y="241935"/>
                  <a:pt x="391478" y="241935"/>
                </a:cubicBezTo>
                <a:cubicBezTo>
                  <a:pt x="392430" y="242888"/>
                  <a:pt x="394335" y="242888"/>
                  <a:pt x="395288" y="242888"/>
                </a:cubicBezTo>
                <a:cubicBezTo>
                  <a:pt x="396240" y="242888"/>
                  <a:pt x="396240" y="242888"/>
                  <a:pt x="397193" y="242888"/>
                </a:cubicBezTo>
                <a:cubicBezTo>
                  <a:pt x="399098" y="242888"/>
                  <a:pt x="401003" y="243840"/>
                  <a:pt x="403860" y="243840"/>
                </a:cubicBezTo>
                <a:lnTo>
                  <a:pt x="403860" y="243840"/>
                </a:lnTo>
                <a:lnTo>
                  <a:pt x="470535" y="243840"/>
                </a:lnTo>
                <a:lnTo>
                  <a:pt x="470535" y="243840"/>
                </a:lnTo>
                <a:cubicBezTo>
                  <a:pt x="508635" y="243840"/>
                  <a:pt x="529590" y="180023"/>
                  <a:pt x="529590" y="120968"/>
                </a:cubicBezTo>
                <a:cubicBezTo>
                  <a:pt x="529590" y="61913"/>
                  <a:pt x="508635" y="2858"/>
                  <a:pt x="470535" y="2858"/>
                </a:cubicBezTo>
                <a:close/>
                <a:moveTo>
                  <a:pt x="435293" y="125730"/>
                </a:moveTo>
                <a:cubicBezTo>
                  <a:pt x="435293" y="64770"/>
                  <a:pt x="456248" y="26670"/>
                  <a:pt x="470535" y="26670"/>
                </a:cubicBezTo>
                <a:cubicBezTo>
                  <a:pt x="484823" y="26670"/>
                  <a:pt x="505778" y="65723"/>
                  <a:pt x="505778" y="125730"/>
                </a:cubicBezTo>
                <a:cubicBezTo>
                  <a:pt x="505778" y="186690"/>
                  <a:pt x="484823" y="224790"/>
                  <a:pt x="470535" y="224790"/>
                </a:cubicBezTo>
                <a:cubicBezTo>
                  <a:pt x="456248" y="224790"/>
                  <a:pt x="435293" y="186690"/>
                  <a:pt x="435293" y="125730"/>
                </a:cubicBezTo>
                <a:close/>
                <a:moveTo>
                  <a:pt x="368618" y="125730"/>
                </a:moveTo>
                <a:cubicBezTo>
                  <a:pt x="368618" y="64770"/>
                  <a:pt x="389573" y="26670"/>
                  <a:pt x="403860" y="26670"/>
                </a:cubicBezTo>
                <a:lnTo>
                  <a:pt x="434340" y="26670"/>
                </a:lnTo>
                <a:cubicBezTo>
                  <a:pt x="432435" y="29528"/>
                  <a:pt x="430530" y="32385"/>
                  <a:pt x="429578" y="35243"/>
                </a:cubicBezTo>
                <a:cubicBezTo>
                  <a:pt x="429578" y="36195"/>
                  <a:pt x="428625" y="36195"/>
                  <a:pt x="428625" y="37148"/>
                </a:cubicBezTo>
                <a:cubicBezTo>
                  <a:pt x="427673" y="40005"/>
                  <a:pt x="425768" y="42863"/>
                  <a:pt x="424815" y="45720"/>
                </a:cubicBezTo>
                <a:cubicBezTo>
                  <a:pt x="424815" y="46673"/>
                  <a:pt x="423863" y="47625"/>
                  <a:pt x="423863" y="48578"/>
                </a:cubicBezTo>
                <a:cubicBezTo>
                  <a:pt x="422910" y="51435"/>
                  <a:pt x="421958" y="54293"/>
                  <a:pt x="421005" y="58103"/>
                </a:cubicBezTo>
                <a:cubicBezTo>
                  <a:pt x="421005" y="59055"/>
                  <a:pt x="421005" y="59055"/>
                  <a:pt x="420053" y="60008"/>
                </a:cubicBezTo>
                <a:cubicBezTo>
                  <a:pt x="418148" y="67628"/>
                  <a:pt x="416243" y="76200"/>
                  <a:pt x="414338" y="84773"/>
                </a:cubicBezTo>
                <a:cubicBezTo>
                  <a:pt x="414338" y="85725"/>
                  <a:pt x="414338" y="86678"/>
                  <a:pt x="413385" y="87630"/>
                </a:cubicBezTo>
                <a:cubicBezTo>
                  <a:pt x="412433" y="90488"/>
                  <a:pt x="412433" y="94298"/>
                  <a:pt x="412433" y="97155"/>
                </a:cubicBezTo>
                <a:cubicBezTo>
                  <a:pt x="412433" y="98108"/>
                  <a:pt x="412433" y="100013"/>
                  <a:pt x="412433" y="100965"/>
                </a:cubicBezTo>
                <a:cubicBezTo>
                  <a:pt x="412433" y="103823"/>
                  <a:pt x="411480" y="107633"/>
                  <a:pt x="411480" y="110490"/>
                </a:cubicBezTo>
                <a:cubicBezTo>
                  <a:pt x="411480" y="111443"/>
                  <a:pt x="411480" y="112395"/>
                  <a:pt x="411480" y="114300"/>
                </a:cubicBezTo>
                <a:cubicBezTo>
                  <a:pt x="411480" y="119063"/>
                  <a:pt x="411480" y="122873"/>
                  <a:pt x="411480" y="127635"/>
                </a:cubicBezTo>
                <a:cubicBezTo>
                  <a:pt x="411480" y="132398"/>
                  <a:pt x="411480" y="136208"/>
                  <a:pt x="411480" y="140970"/>
                </a:cubicBezTo>
                <a:cubicBezTo>
                  <a:pt x="411480" y="141923"/>
                  <a:pt x="411480" y="142875"/>
                  <a:pt x="411480" y="144780"/>
                </a:cubicBezTo>
                <a:cubicBezTo>
                  <a:pt x="411480" y="147638"/>
                  <a:pt x="411480" y="151448"/>
                  <a:pt x="412433" y="154305"/>
                </a:cubicBezTo>
                <a:cubicBezTo>
                  <a:pt x="412433" y="155258"/>
                  <a:pt x="412433" y="157163"/>
                  <a:pt x="412433" y="158115"/>
                </a:cubicBezTo>
                <a:cubicBezTo>
                  <a:pt x="412433" y="160973"/>
                  <a:pt x="413385" y="164783"/>
                  <a:pt x="413385" y="167640"/>
                </a:cubicBezTo>
                <a:cubicBezTo>
                  <a:pt x="413385" y="168593"/>
                  <a:pt x="413385" y="169545"/>
                  <a:pt x="414338" y="170498"/>
                </a:cubicBezTo>
                <a:cubicBezTo>
                  <a:pt x="415290" y="179070"/>
                  <a:pt x="417195" y="186690"/>
                  <a:pt x="420053" y="194310"/>
                </a:cubicBezTo>
                <a:cubicBezTo>
                  <a:pt x="420053" y="195263"/>
                  <a:pt x="420053" y="195263"/>
                  <a:pt x="421005" y="196215"/>
                </a:cubicBezTo>
                <a:cubicBezTo>
                  <a:pt x="421958" y="199073"/>
                  <a:pt x="422910" y="202883"/>
                  <a:pt x="423863" y="205740"/>
                </a:cubicBezTo>
                <a:cubicBezTo>
                  <a:pt x="423863" y="206693"/>
                  <a:pt x="424815" y="207645"/>
                  <a:pt x="424815" y="208598"/>
                </a:cubicBezTo>
                <a:cubicBezTo>
                  <a:pt x="425768" y="211455"/>
                  <a:pt x="426720" y="214313"/>
                  <a:pt x="428625" y="217170"/>
                </a:cubicBezTo>
                <a:cubicBezTo>
                  <a:pt x="428625" y="218123"/>
                  <a:pt x="429578" y="218123"/>
                  <a:pt x="429578" y="219075"/>
                </a:cubicBezTo>
                <a:cubicBezTo>
                  <a:pt x="431483" y="221933"/>
                  <a:pt x="432435" y="224790"/>
                  <a:pt x="434340" y="227648"/>
                </a:cubicBezTo>
                <a:lnTo>
                  <a:pt x="403860" y="227648"/>
                </a:lnTo>
                <a:cubicBezTo>
                  <a:pt x="389573" y="224790"/>
                  <a:pt x="368618" y="186690"/>
                  <a:pt x="368618" y="125730"/>
                </a:cubicBezTo>
                <a:close/>
                <a:moveTo>
                  <a:pt x="5715" y="141923"/>
                </a:moveTo>
                <a:cubicBezTo>
                  <a:pt x="5715" y="135255"/>
                  <a:pt x="11430" y="130493"/>
                  <a:pt x="17145" y="130493"/>
                </a:cubicBezTo>
                <a:lnTo>
                  <a:pt x="108585" y="130493"/>
                </a:lnTo>
                <a:cubicBezTo>
                  <a:pt x="115252" y="130493"/>
                  <a:pt x="120015" y="136208"/>
                  <a:pt x="120015" y="141923"/>
                </a:cubicBezTo>
                <a:cubicBezTo>
                  <a:pt x="120015" y="144780"/>
                  <a:pt x="119063" y="148590"/>
                  <a:pt x="116205" y="150495"/>
                </a:cubicBezTo>
                <a:cubicBezTo>
                  <a:pt x="114300" y="152400"/>
                  <a:pt x="111443" y="154305"/>
                  <a:pt x="107633" y="154305"/>
                </a:cubicBezTo>
                <a:lnTo>
                  <a:pt x="18098" y="154305"/>
                </a:lnTo>
                <a:cubicBezTo>
                  <a:pt x="15240" y="154305"/>
                  <a:pt x="11430" y="153353"/>
                  <a:pt x="9525" y="150495"/>
                </a:cubicBezTo>
                <a:cubicBezTo>
                  <a:pt x="7620" y="148590"/>
                  <a:pt x="5715" y="145733"/>
                  <a:pt x="5715" y="141923"/>
                </a:cubicBezTo>
                <a:close/>
                <a:moveTo>
                  <a:pt x="226695" y="190500"/>
                </a:moveTo>
                <a:lnTo>
                  <a:pt x="200025" y="220980"/>
                </a:lnTo>
                <a:cubicBezTo>
                  <a:pt x="198120" y="223838"/>
                  <a:pt x="194310" y="224790"/>
                  <a:pt x="191453" y="224790"/>
                </a:cubicBezTo>
                <a:cubicBezTo>
                  <a:pt x="188595" y="224790"/>
                  <a:pt x="185738" y="223838"/>
                  <a:pt x="183833" y="221933"/>
                </a:cubicBezTo>
                <a:cubicBezTo>
                  <a:pt x="183833" y="221933"/>
                  <a:pt x="183833" y="221933"/>
                  <a:pt x="183833" y="221933"/>
                </a:cubicBezTo>
                <a:cubicBezTo>
                  <a:pt x="183833" y="221933"/>
                  <a:pt x="183833" y="221933"/>
                  <a:pt x="183833" y="221933"/>
                </a:cubicBezTo>
                <a:cubicBezTo>
                  <a:pt x="179070" y="217170"/>
                  <a:pt x="178118" y="209550"/>
                  <a:pt x="182880" y="204788"/>
                </a:cubicBezTo>
                <a:lnTo>
                  <a:pt x="192405" y="194310"/>
                </a:lnTo>
                <a:lnTo>
                  <a:pt x="41910" y="194310"/>
                </a:lnTo>
                <a:cubicBezTo>
                  <a:pt x="39053" y="194310"/>
                  <a:pt x="35243" y="193358"/>
                  <a:pt x="33338" y="190500"/>
                </a:cubicBezTo>
                <a:cubicBezTo>
                  <a:pt x="31433" y="188595"/>
                  <a:pt x="29528" y="185738"/>
                  <a:pt x="29528" y="181928"/>
                </a:cubicBezTo>
                <a:cubicBezTo>
                  <a:pt x="29528" y="175260"/>
                  <a:pt x="35243" y="170498"/>
                  <a:pt x="40958" y="170498"/>
                </a:cubicBezTo>
                <a:lnTo>
                  <a:pt x="190500" y="170498"/>
                </a:lnTo>
                <a:lnTo>
                  <a:pt x="180975" y="160020"/>
                </a:lnTo>
                <a:cubicBezTo>
                  <a:pt x="176213" y="155258"/>
                  <a:pt x="177165" y="147638"/>
                  <a:pt x="181928" y="142875"/>
                </a:cubicBezTo>
                <a:cubicBezTo>
                  <a:pt x="184785" y="140970"/>
                  <a:pt x="187643" y="140018"/>
                  <a:pt x="190500" y="140018"/>
                </a:cubicBezTo>
                <a:cubicBezTo>
                  <a:pt x="193358" y="140018"/>
                  <a:pt x="195263" y="140970"/>
                  <a:pt x="197168" y="142875"/>
                </a:cubicBezTo>
                <a:cubicBezTo>
                  <a:pt x="197168" y="142875"/>
                  <a:pt x="198120" y="142875"/>
                  <a:pt x="198120" y="143828"/>
                </a:cubicBezTo>
                <a:lnTo>
                  <a:pt x="198120" y="143828"/>
                </a:lnTo>
                <a:cubicBezTo>
                  <a:pt x="198120" y="143828"/>
                  <a:pt x="198120" y="143828"/>
                  <a:pt x="198120" y="143828"/>
                </a:cubicBezTo>
                <a:lnTo>
                  <a:pt x="225743" y="174308"/>
                </a:lnTo>
                <a:cubicBezTo>
                  <a:pt x="226695" y="175260"/>
                  <a:pt x="226695" y="175260"/>
                  <a:pt x="226695" y="176213"/>
                </a:cubicBezTo>
                <a:cubicBezTo>
                  <a:pt x="226695" y="176213"/>
                  <a:pt x="226695" y="176213"/>
                  <a:pt x="226695" y="176213"/>
                </a:cubicBezTo>
                <a:cubicBezTo>
                  <a:pt x="226695" y="177165"/>
                  <a:pt x="227648" y="177165"/>
                  <a:pt x="227648" y="178118"/>
                </a:cubicBezTo>
                <a:cubicBezTo>
                  <a:pt x="227648" y="178118"/>
                  <a:pt x="227648" y="178118"/>
                  <a:pt x="227648" y="178118"/>
                </a:cubicBezTo>
                <a:cubicBezTo>
                  <a:pt x="227648" y="178118"/>
                  <a:pt x="227648" y="178118"/>
                  <a:pt x="227648" y="178118"/>
                </a:cubicBezTo>
                <a:cubicBezTo>
                  <a:pt x="228600" y="180975"/>
                  <a:pt x="228600" y="183833"/>
                  <a:pt x="227648" y="186690"/>
                </a:cubicBezTo>
                <a:cubicBezTo>
                  <a:pt x="227648" y="186690"/>
                  <a:pt x="227648" y="186690"/>
                  <a:pt x="227648" y="186690"/>
                </a:cubicBezTo>
                <a:cubicBezTo>
                  <a:pt x="227648" y="186690"/>
                  <a:pt x="227648" y="186690"/>
                  <a:pt x="227648" y="186690"/>
                </a:cubicBezTo>
                <a:cubicBezTo>
                  <a:pt x="227648" y="187643"/>
                  <a:pt x="226695" y="187643"/>
                  <a:pt x="226695" y="188595"/>
                </a:cubicBezTo>
                <a:cubicBezTo>
                  <a:pt x="226695" y="188595"/>
                  <a:pt x="226695" y="188595"/>
                  <a:pt x="226695" y="188595"/>
                </a:cubicBezTo>
                <a:cubicBezTo>
                  <a:pt x="227648" y="189548"/>
                  <a:pt x="227648" y="190500"/>
                  <a:pt x="226695" y="190500"/>
                </a:cubicBezTo>
                <a:close/>
                <a:moveTo>
                  <a:pt x="160973" y="130493"/>
                </a:moveTo>
                <a:cubicBezTo>
                  <a:pt x="160973" y="134303"/>
                  <a:pt x="160973" y="139065"/>
                  <a:pt x="161925" y="142875"/>
                </a:cubicBezTo>
                <a:cubicBezTo>
                  <a:pt x="161925" y="145733"/>
                  <a:pt x="161925" y="147638"/>
                  <a:pt x="162878" y="150495"/>
                </a:cubicBezTo>
                <a:cubicBezTo>
                  <a:pt x="163830" y="157163"/>
                  <a:pt x="159068" y="162878"/>
                  <a:pt x="152400" y="163830"/>
                </a:cubicBezTo>
                <a:cubicBezTo>
                  <a:pt x="151448" y="163830"/>
                  <a:pt x="151448" y="163830"/>
                  <a:pt x="150495" y="163830"/>
                </a:cubicBezTo>
                <a:cubicBezTo>
                  <a:pt x="147638" y="163830"/>
                  <a:pt x="144780" y="162878"/>
                  <a:pt x="142875" y="160973"/>
                </a:cubicBezTo>
                <a:cubicBezTo>
                  <a:pt x="142875" y="160973"/>
                  <a:pt x="142875" y="160020"/>
                  <a:pt x="141923" y="160020"/>
                </a:cubicBezTo>
                <a:cubicBezTo>
                  <a:pt x="140970" y="159068"/>
                  <a:pt x="140970" y="158115"/>
                  <a:pt x="140018" y="158115"/>
                </a:cubicBezTo>
                <a:cubicBezTo>
                  <a:pt x="140018" y="157163"/>
                  <a:pt x="139065" y="156210"/>
                  <a:pt x="139065" y="155258"/>
                </a:cubicBezTo>
                <a:cubicBezTo>
                  <a:pt x="139065" y="154305"/>
                  <a:pt x="138113" y="154305"/>
                  <a:pt x="138113" y="153353"/>
                </a:cubicBezTo>
                <a:cubicBezTo>
                  <a:pt x="138113" y="153353"/>
                  <a:pt x="138113" y="153353"/>
                  <a:pt x="138113" y="153353"/>
                </a:cubicBezTo>
                <a:cubicBezTo>
                  <a:pt x="138113" y="153353"/>
                  <a:pt x="138113" y="153353"/>
                  <a:pt x="138113" y="153353"/>
                </a:cubicBezTo>
                <a:cubicBezTo>
                  <a:pt x="138113" y="152400"/>
                  <a:pt x="138113" y="150495"/>
                  <a:pt x="138113" y="149543"/>
                </a:cubicBezTo>
                <a:cubicBezTo>
                  <a:pt x="137160" y="143828"/>
                  <a:pt x="137160" y="137160"/>
                  <a:pt x="137160" y="131445"/>
                </a:cubicBezTo>
                <a:cubicBezTo>
                  <a:pt x="137160" y="124778"/>
                  <a:pt x="141923" y="119063"/>
                  <a:pt x="148590" y="119063"/>
                </a:cubicBezTo>
                <a:cubicBezTo>
                  <a:pt x="148590" y="119063"/>
                  <a:pt x="148590" y="119063"/>
                  <a:pt x="148590" y="119063"/>
                </a:cubicBezTo>
                <a:cubicBezTo>
                  <a:pt x="148590" y="119063"/>
                  <a:pt x="148590" y="119063"/>
                  <a:pt x="148590" y="119063"/>
                </a:cubicBezTo>
                <a:cubicBezTo>
                  <a:pt x="155258" y="118110"/>
                  <a:pt x="160973" y="123825"/>
                  <a:pt x="160973" y="130493"/>
                </a:cubicBezTo>
                <a:close/>
                <a:moveTo>
                  <a:pt x="20955" y="100965"/>
                </a:moveTo>
                <a:cubicBezTo>
                  <a:pt x="20955" y="94298"/>
                  <a:pt x="26670" y="89535"/>
                  <a:pt x="32385" y="89535"/>
                </a:cubicBezTo>
                <a:lnTo>
                  <a:pt x="32385" y="89535"/>
                </a:lnTo>
                <a:lnTo>
                  <a:pt x="244793" y="89535"/>
                </a:lnTo>
                <a:lnTo>
                  <a:pt x="236220" y="78105"/>
                </a:lnTo>
                <a:cubicBezTo>
                  <a:pt x="231458" y="73343"/>
                  <a:pt x="232410" y="65723"/>
                  <a:pt x="237173" y="60960"/>
                </a:cubicBezTo>
                <a:cubicBezTo>
                  <a:pt x="238125" y="60008"/>
                  <a:pt x="239078" y="60008"/>
                  <a:pt x="240030" y="60008"/>
                </a:cubicBezTo>
                <a:cubicBezTo>
                  <a:pt x="244793" y="57150"/>
                  <a:pt x="250508" y="58103"/>
                  <a:pt x="254318" y="61913"/>
                </a:cubicBezTo>
                <a:lnTo>
                  <a:pt x="267653" y="77153"/>
                </a:lnTo>
                <a:lnTo>
                  <a:pt x="280988" y="92393"/>
                </a:lnTo>
                <a:cubicBezTo>
                  <a:pt x="281940" y="93345"/>
                  <a:pt x="281940" y="93345"/>
                  <a:pt x="281940" y="94298"/>
                </a:cubicBezTo>
                <a:cubicBezTo>
                  <a:pt x="281940" y="94298"/>
                  <a:pt x="281940" y="94298"/>
                  <a:pt x="281940" y="94298"/>
                </a:cubicBezTo>
                <a:cubicBezTo>
                  <a:pt x="281940" y="95250"/>
                  <a:pt x="282893" y="95250"/>
                  <a:pt x="282893" y="96203"/>
                </a:cubicBezTo>
                <a:cubicBezTo>
                  <a:pt x="282893" y="96203"/>
                  <a:pt x="282893" y="96203"/>
                  <a:pt x="282893" y="96203"/>
                </a:cubicBezTo>
                <a:cubicBezTo>
                  <a:pt x="282893" y="96203"/>
                  <a:pt x="282893" y="96203"/>
                  <a:pt x="282893" y="96203"/>
                </a:cubicBezTo>
                <a:cubicBezTo>
                  <a:pt x="283845" y="99060"/>
                  <a:pt x="283845" y="101918"/>
                  <a:pt x="282893" y="104775"/>
                </a:cubicBezTo>
                <a:cubicBezTo>
                  <a:pt x="282893" y="104775"/>
                  <a:pt x="282893" y="104775"/>
                  <a:pt x="282893" y="104775"/>
                </a:cubicBezTo>
                <a:cubicBezTo>
                  <a:pt x="282893" y="104775"/>
                  <a:pt x="282893" y="104775"/>
                  <a:pt x="282893" y="104775"/>
                </a:cubicBezTo>
                <a:cubicBezTo>
                  <a:pt x="282893" y="105728"/>
                  <a:pt x="281940" y="105728"/>
                  <a:pt x="281940" y="106680"/>
                </a:cubicBezTo>
                <a:cubicBezTo>
                  <a:pt x="281940" y="106680"/>
                  <a:pt x="281940" y="106680"/>
                  <a:pt x="281940" y="106680"/>
                </a:cubicBezTo>
                <a:cubicBezTo>
                  <a:pt x="281940" y="107633"/>
                  <a:pt x="280988" y="107633"/>
                  <a:pt x="280988" y="108585"/>
                </a:cubicBezTo>
                <a:lnTo>
                  <a:pt x="256223" y="136208"/>
                </a:lnTo>
                <a:lnTo>
                  <a:pt x="253365" y="139065"/>
                </a:lnTo>
                <a:cubicBezTo>
                  <a:pt x="253365" y="139065"/>
                  <a:pt x="253365" y="139065"/>
                  <a:pt x="253365" y="139065"/>
                </a:cubicBezTo>
                <a:lnTo>
                  <a:pt x="253365" y="139065"/>
                </a:lnTo>
                <a:cubicBezTo>
                  <a:pt x="253365" y="139065"/>
                  <a:pt x="252413" y="139065"/>
                  <a:pt x="252413" y="140018"/>
                </a:cubicBezTo>
                <a:cubicBezTo>
                  <a:pt x="251460" y="140970"/>
                  <a:pt x="250508" y="141923"/>
                  <a:pt x="249555" y="141923"/>
                </a:cubicBezTo>
                <a:cubicBezTo>
                  <a:pt x="249555" y="141923"/>
                  <a:pt x="249555" y="141923"/>
                  <a:pt x="249555" y="141923"/>
                </a:cubicBezTo>
                <a:cubicBezTo>
                  <a:pt x="247650" y="142875"/>
                  <a:pt x="246698" y="142875"/>
                  <a:pt x="244793" y="142875"/>
                </a:cubicBezTo>
                <a:cubicBezTo>
                  <a:pt x="243840" y="142875"/>
                  <a:pt x="241935" y="142875"/>
                  <a:pt x="240983" y="141923"/>
                </a:cubicBezTo>
                <a:cubicBezTo>
                  <a:pt x="240030" y="140970"/>
                  <a:pt x="238125" y="140970"/>
                  <a:pt x="237173" y="140018"/>
                </a:cubicBezTo>
                <a:cubicBezTo>
                  <a:pt x="232410" y="135255"/>
                  <a:pt x="231458" y="127635"/>
                  <a:pt x="236220" y="122873"/>
                </a:cubicBezTo>
                <a:lnTo>
                  <a:pt x="245745" y="112395"/>
                </a:lnTo>
                <a:lnTo>
                  <a:pt x="33338" y="112395"/>
                </a:lnTo>
                <a:lnTo>
                  <a:pt x="33338" y="112395"/>
                </a:lnTo>
                <a:cubicBezTo>
                  <a:pt x="26670" y="112395"/>
                  <a:pt x="20955" y="107633"/>
                  <a:pt x="20955" y="100965"/>
                </a:cubicBezTo>
                <a:close/>
                <a:moveTo>
                  <a:pt x="171450" y="226695"/>
                </a:moveTo>
                <a:cubicBezTo>
                  <a:pt x="171450" y="233363"/>
                  <a:pt x="165735" y="238125"/>
                  <a:pt x="160020" y="238125"/>
                </a:cubicBezTo>
                <a:lnTo>
                  <a:pt x="12383" y="238125"/>
                </a:lnTo>
                <a:cubicBezTo>
                  <a:pt x="9525" y="238125"/>
                  <a:pt x="5715" y="237173"/>
                  <a:pt x="3810" y="234315"/>
                </a:cubicBezTo>
                <a:cubicBezTo>
                  <a:pt x="1905" y="232410"/>
                  <a:pt x="0" y="229553"/>
                  <a:pt x="0" y="225743"/>
                </a:cubicBezTo>
                <a:cubicBezTo>
                  <a:pt x="0" y="219075"/>
                  <a:pt x="5715" y="214313"/>
                  <a:pt x="11430" y="214313"/>
                </a:cubicBezTo>
                <a:lnTo>
                  <a:pt x="160020" y="214313"/>
                </a:lnTo>
                <a:cubicBezTo>
                  <a:pt x="162878" y="214313"/>
                  <a:pt x="166688" y="215265"/>
                  <a:pt x="168593" y="218123"/>
                </a:cubicBezTo>
                <a:cubicBezTo>
                  <a:pt x="170498" y="220028"/>
                  <a:pt x="171450" y="222885"/>
                  <a:pt x="171450" y="226695"/>
                </a:cubicBezTo>
                <a:close/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47875" lIns="95800" spcFirstLastPara="1" rIns="95800" wrap="square" tIns="47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91"/>
              <a:buFont typeface="Arial"/>
              <a:buNone/>
            </a:pPr>
            <a:r>
              <a:t/>
            </a:r>
            <a:endParaRPr b="0" i="0" sz="4191" u="none" cap="none" strike="noStrike">
              <a:solidFill>
                <a:srgbClr val="25252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0"/>
          <p:cNvSpPr/>
          <p:nvPr/>
        </p:nvSpPr>
        <p:spPr>
          <a:xfrm flipH="1">
            <a:off x="5450548" y="2996494"/>
            <a:ext cx="260198" cy="286559"/>
          </a:xfrm>
          <a:custGeom>
            <a:rect b="b" l="l" r="r" t="t"/>
            <a:pathLst>
              <a:path extrusionOk="0" h="295422" w="295679">
                <a:moveTo>
                  <a:pt x="157640" y="111664"/>
                </a:moveTo>
                <a:cubicBezTo>
                  <a:pt x="174217" y="69727"/>
                  <a:pt x="153658" y="22293"/>
                  <a:pt x="111722" y="5717"/>
                </a:cubicBezTo>
                <a:cubicBezTo>
                  <a:pt x="91959" y="-2095"/>
                  <a:pt x="69930" y="-1894"/>
                  <a:pt x="50314" y="6277"/>
                </a:cubicBezTo>
                <a:cubicBezTo>
                  <a:pt x="46784" y="7724"/>
                  <a:pt x="44217" y="10847"/>
                  <a:pt x="43479" y="14589"/>
                </a:cubicBezTo>
                <a:cubicBezTo>
                  <a:pt x="42811" y="18313"/>
                  <a:pt x="43980" y="22131"/>
                  <a:pt x="46619" y="24842"/>
                </a:cubicBezTo>
                <a:lnTo>
                  <a:pt x="81163" y="59293"/>
                </a:lnTo>
                <a:cubicBezTo>
                  <a:pt x="84018" y="62164"/>
                  <a:pt x="85613" y="66052"/>
                  <a:pt x="85597" y="70100"/>
                </a:cubicBezTo>
                <a:cubicBezTo>
                  <a:pt x="85630" y="78517"/>
                  <a:pt x="78834" y="85367"/>
                  <a:pt x="70417" y="85400"/>
                </a:cubicBezTo>
                <a:cubicBezTo>
                  <a:pt x="66340" y="85417"/>
                  <a:pt x="62425" y="83798"/>
                  <a:pt x="59550" y="80906"/>
                </a:cubicBezTo>
                <a:lnTo>
                  <a:pt x="25006" y="46362"/>
                </a:lnTo>
                <a:cubicBezTo>
                  <a:pt x="20546" y="41949"/>
                  <a:pt x="13353" y="41987"/>
                  <a:pt x="8940" y="46447"/>
                </a:cubicBezTo>
                <a:cubicBezTo>
                  <a:pt x="7913" y="47485"/>
                  <a:pt x="7096" y="48710"/>
                  <a:pt x="6533" y="50057"/>
                </a:cubicBezTo>
                <a:cubicBezTo>
                  <a:pt x="-11083" y="91401"/>
                  <a:pt x="8152" y="139198"/>
                  <a:pt x="49496" y="156815"/>
                </a:cubicBezTo>
                <a:cubicBezTo>
                  <a:pt x="69401" y="165295"/>
                  <a:pt x="91864" y="165500"/>
                  <a:pt x="111920" y="157384"/>
                </a:cubicBezTo>
                <a:lnTo>
                  <a:pt x="240490" y="285954"/>
                </a:lnTo>
                <a:cubicBezTo>
                  <a:pt x="253116" y="298579"/>
                  <a:pt x="273585" y="298579"/>
                  <a:pt x="286210" y="285954"/>
                </a:cubicBezTo>
                <a:cubicBezTo>
                  <a:pt x="298836" y="273329"/>
                  <a:pt x="298836" y="252859"/>
                  <a:pt x="286210" y="240234"/>
                </a:cubicBezTo>
                <a:close/>
                <a:moveTo>
                  <a:pt x="109149" y="133831"/>
                </a:moveTo>
                <a:cubicBezTo>
                  <a:pt x="80183" y="148780"/>
                  <a:pt x="44583" y="137416"/>
                  <a:pt x="29634" y="108450"/>
                </a:cubicBezTo>
                <a:cubicBezTo>
                  <a:pt x="24580" y="98657"/>
                  <a:pt x="22369" y="87643"/>
                  <a:pt x="23251" y="76658"/>
                </a:cubicBezTo>
                <a:lnTo>
                  <a:pt x="43479" y="96885"/>
                </a:lnTo>
                <a:cubicBezTo>
                  <a:pt x="58343" y="111594"/>
                  <a:pt x="82278" y="111594"/>
                  <a:pt x="97142" y="96885"/>
                </a:cubicBezTo>
                <a:cubicBezTo>
                  <a:pt x="111986" y="82152"/>
                  <a:pt x="112076" y="58175"/>
                  <a:pt x="97343" y="43331"/>
                </a:cubicBezTo>
                <a:cubicBezTo>
                  <a:pt x="97276" y="43263"/>
                  <a:pt x="97209" y="43196"/>
                  <a:pt x="97142" y="43130"/>
                </a:cubicBezTo>
                <a:lnTo>
                  <a:pt x="76914" y="22994"/>
                </a:lnTo>
                <a:cubicBezTo>
                  <a:pt x="94069" y="21512"/>
                  <a:pt x="110995" y="27740"/>
                  <a:pt x="123096" y="39989"/>
                </a:cubicBezTo>
                <a:cubicBezTo>
                  <a:pt x="141522" y="57999"/>
                  <a:pt x="145986" y="85947"/>
                  <a:pt x="134087" y="108800"/>
                </a:cubicBezTo>
                <a:cubicBezTo>
                  <a:pt x="131318" y="114099"/>
                  <a:pt x="127734" y="118930"/>
                  <a:pt x="123466" y="123117"/>
                </a:cubicBezTo>
                <a:cubicBezTo>
                  <a:pt x="119248" y="127375"/>
                  <a:pt x="114423" y="130985"/>
                  <a:pt x="109149" y="133831"/>
                </a:cubicBezTo>
                <a:close/>
                <a:moveTo>
                  <a:pt x="270139" y="269882"/>
                </a:moveTo>
                <a:cubicBezTo>
                  <a:pt x="266329" y="273484"/>
                  <a:pt x="260372" y="273484"/>
                  <a:pt x="256562" y="269882"/>
                </a:cubicBezTo>
                <a:lnTo>
                  <a:pt x="132333" y="145653"/>
                </a:lnTo>
                <a:cubicBezTo>
                  <a:pt x="134810" y="143651"/>
                  <a:pt x="137184" y="141524"/>
                  <a:pt x="139445" y="139280"/>
                </a:cubicBezTo>
                <a:cubicBezTo>
                  <a:pt x="141721" y="136991"/>
                  <a:pt x="143879" y="134585"/>
                  <a:pt x="145910" y="132076"/>
                </a:cubicBezTo>
                <a:lnTo>
                  <a:pt x="270139" y="256305"/>
                </a:lnTo>
                <a:cubicBezTo>
                  <a:pt x="273836" y="260076"/>
                  <a:pt x="273836" y="266111"/>
                  <a:pt x="270139" y="269882"/>
                </a:cubicBezTo>
                <a:close/>
              </a:path>
            </a:pathLst>
          </a:custGeom>
          <a:solidFill>
            <a:srgbClr val="2AB5E8"/>
          </a:solidFill>
          <a:ln>
            <a:noFill/>
          </a:ln>
        </p:spPr>
        <p:txBody>
          <a:bodyPr anchorCtr="0" anchor="ctr" bIns="21725" lIns="43450" spcFirstLastPara="1" rIns="43450" wrap="square" tIns="2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642"/>
              <a:buFont typeface="Arial"/>
              <a:buNone/>
            </a:pPr>
            <a:r>
              <a:t/>
            </a:r>
            <a:endParaRPr sz="642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0"/>
          <p:cNvSpPr/>
          <p:nvPr/>
        </p:nvSpPr>
        <p:spPr>
          <a:xfrm>
            <a:off x="7277206" y="1316584"/>
            <a:ext cx="641400" cy="6165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29B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450" lIns="43450" spcFirstLastPara="1" rIns="43450" wrap="square" tIns="43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6"/>
          </a:p>
        </p:txBody>
      </p:sp>
      <p:sp>
        <p:nvSpPr>
          <p:cNvPr id="266" name="Google Shape;266;p30"/>
          <p:cNvSpPr txBox="1"/>
          <p:nvPr/>
        </p:nvSpPr>
        <p:spPr>
          <a:xfrm>
            <a:off x="7056575" y="1972378"/>
            <a:ext cx="1082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525" lIns="50525" spcFirstLastPara="1" rIns="50525" wrap="square" tIns="505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5">
                <a:solidFill>
                  <a:schemeClr val="dk1"/>
                </a:solidFill>
              </a:rPr>
              <a:t>AI &amp;</a:t>
            </a:r>
            <a:endParaRPr b="1" sz="1005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5">
                <a:solidFill>
                  <a:schemeClr val="dk1"/>
                </a:solidFill>
              </a:rPr>
              <a:t>AGENTS</a:t>
            </a:r>
            <a:endParaRPr b="1" sz="1005">
              <a:solidFill>
                <a:schemeClr val="dk1"/>
              </a:solidFill>
            </a:endParaRPr>
          </a:p>
        </p:txBody>
      </p:sp>
      <p:sp>
        <p:nvSpPr>
          <p:cNvPr id="267" name="Google Shape;267;p30"/>
          <p:cNvSpPr/>
          <p:nvPr/>
        </p:nvSpPr>
        <p:spPr>
          <a:xfrm>
            <a:off x="7439804" y="1466741"/>
            <a:ext cx="316223" cy="316223"/>
          </a:xfrm>
          <a:custGeom>
            <a:rect b="b" l="l" r="r" t="t"/>
            <a:pathLst>
              <a:path extrusionOk="0" h="518398" w="518398">
                <a:moveTo>
                  <a:pt x="350520" y="3810"/>
                </a:moveTo>
                <a:cubicBezTo>
                  <a:pt x="355283" y="26670"/>
                  <a:pt x="374333" y="45720"/>
                  <a:pt x="397193" y="50482"/>
                </a:cubicBezTo>
                <a:cubicBezTo>
                  <a:pt x="399098" y="50482"/>
                  <a:pt x="399098" y="53340"/>
                  <a:pt x="397193" y="53340"/>
                </a:cubicBezTo>
                <a:cubicBezTo>
                  <a:pt x="374333" y="58103"/>
                  <a:pt x="355283" y="77153"/>
                  <a:pt x="350520" y="100013"/>
                </a:cubicBezTo>
                <a:cubicBezTo>
                  <a:pt x="350520" y="101918"/>
                  <a:pt x="347663" y="101918"/>
                  <a:pt x="347663" y="100013"/>
                </a:cubicBezTo>
                <a:cubicBezTo>
                  <a:pt x="342900" y="77153"/>
                  <a:pt x="323850" y="58103"/>
                  <a:pt x="300990" y="53340"/>
                </a:cubicBezTo>
                <a:cubicBezTo>
                  <a:pt x="299085" y="53340"/>
                  <a:pt x="299085" y="50482"/>
                  <a:pt x="300990" y="50482"/>
                </a:cubicBezTo>
                <a:cubicBezTo>
                  <a:pt x="323850" y="45720"/>
                  <a:pt x="342900" y="26670"/>
                  <a:pt x="347663" y="3810"/>
                </a:cubicBezTo>
                <a:cubicBezTo>
                  <a:pt x="348615" y="2858"/>
                  <a:pt x="350520" y="2858"/>
                  <a:pt x="350520" y="3810"/>
                </a:cubicBezTo>
                <a:close/>
                <a:moveTo>
                  <a:pt x="226695" y="404813"/>
                </a:moveTo>
                <a:cubicBezTo>
                  <a:pt x="245745" y="316230"/>
                  <a:pt x="316230" y="245745"/>
                  <a:pt x="404813" y="226695"/>
                </a:cubicBezTo>
                <a:cubicBezTo>
                  <a:pt x="413385" y="224790"/>
                  <a:pt x="419100" y="218123"/>
                  <a:pt x="419100" y="209550"/>
                </a:cubicBezTo>
                <a:cubicBezTo>
                  <a:pt x="419100" y="200978"/>
                  <a:pt x="413385" y="194310"/>
                  <a:pt x="404813" y="192405"/>
                </a:cubicBezTo>
                <a:cubicBezTo>
                  <a:pt x="316230" y="173355"/>
                  <a:pt x="245745" y="102870"/>
                  <a:pt x="226695" y="14288"/>
                </a:cubicBezTo>
                <a:cubicBezTo>
                  <a:pt x="224790" y="5715"/>
                  <a:pt x="218123" y="0"/>
                  <a:pt x="209550" y="0"/>
                </a:cubicBezTo>
                <a:cubicBezTo>
                  <a:pt x="200978" y="0"/>
                  <a:pt x="194310" y="5715"/>
                  <a:pt x="192405" y="14288"/>
                </a:cubicBezTo>
                <a:cubicBezTo>
                  <a:pt x="192405" y="14288"/>
                  <a:pt x="192405" y="14288"/>
                  <a:pt x="192405" y="14288"/>
                </a:cubicBezTo>
                <a:cubicBezTo>
                  <a:pt x="173355" y="102870"/>
                  <a:pt x="102870" y="173355"/>
                  <a:pt x="14288" y="192405"/>
                </a:cubicBezTo>
                <a:cubicBezTo>
                  <a:pt x="5715" y="194310"/>
                  <a:pt x="0" y="200978"/>
                  <a:pt x="0" y="209550"/>
                </a:cubicBezTo>
                <a:cubicBezTo>
                  <a:pt x="0" y="218123"/>
                  <a:pt x="5715" y="224790"/>
                  <a:pt x="14288" y="226695"/>
                </a:cubicBezTo>
                <a:cubicBezTo>
                  <a:pt x="102870" y="245745"/>
                  <a:pt x="173355" y="316230"/>
                  <a:pt x="192405" y="404813"/>
                </a:cubicBezTo>
                <a:cubicBezTo>
                  <a:pt x="194310" y="413385"/>
                  <a:pt x="200978" y="419100"/>
                  <a:pt x="209550" y="419100"/>
                </a:cubicBezTo>
                <a:cubicBezTo>
                  <a:pt x="218123" y="419100"/>
                  <a:pt x="224790" y="413385"/>
                  <a:pt x="226695" y="404813"/>
                </a:cubicBezTo>
                <a:close/>
                <a:moveTo>
                  <a:pt x="209550" y="42863"/>
                </a:moveTo>
                <a:cubicBezTo>
                  <a:pt x="235268" y="121920"/>
                  <a:pt x="298133" y="184785"/>
                  <a:pt x="377190" y="209550"/>
                </a:cubicBezTo>
                <a:cubicBezTo>
                  <a:pt x="297180" y="234315"/>
                  <a:pt x="235268" y="297180"/>
                  <a:pt x="209550" y="377190"/>
                </a:cubicBezTo>
                <a:cubicBezTo>
                  <a:pt x="184785" y="297180"/>
                  <a:pt x="121920" y="235268"/>
                  <a:pt x="41910" y="209550"/>
                </a:cubicBezTo>
                <a:cubicBezTo>
                  <a:pt x="121920" y="184785"/>
                  <a:pt x="184785" y="121920"/>
                  <a:pt x="209550" y="42863"/>
                </a:cubicBezTo>
                <a:close/>
                <a:moveTo>
                  <a:pt x="216218" y="20003"/>
                </a:moveTo>
                <a:cubicBezTo>
                  <a:pt x="216218" y="20003"/>
                  <a:pt x="216218" y="20003"/>
                  <a:pt x="216218" y="20003"/>
                </a:cubicBezTo>
                <a:cubicBezTo>
                  <a:pt x="216218" y="20003"/>
                  <a:pt x="216218" y="20003"/>
                  <a:pt x="216218" y="20003"/>
                </a:cubicBezTo>
                <a:lnTo>
                  <a:pt x="216218" y="20003"/>
                </a:lnTo>
                <a:close/>
                <a:moveTo>
                  <a:pt x="417195" y="323850"/>
                </a:moveTo>
                <a:cubicBezTo>
                  <a:pt x="406718" y="370523"/>
                  <a:pt x="370523" y="407670"/>
                  <a:pt x="323850" y="417195"/>
                </a:cubicBezTo>
                <a:cubicBezTo>
                  <a:pt x="320993" y="418148"/>
                  <a:pt x="320993" y="421958"/>
                  <a:pt x="323850" y="422910"/>
                </a:cubicBezTo>
                <a:cubicBezTo>
                  <a:pt x="370523" y="433388"/>
                  <a:pt x="407670" y="469583"/>
                  <a:pt x="417195" y="516255"/>
                </a:cubicBezTo>
                <a:cubicBezTo>
                  <a:pt x="418148" y="519113"/>
                  <a:pt x="421958" y="519113"/>
                  <a:pt x="422910" y="516255"/>
                </a:cubicBezTo>
                <a:cubicBezTo>
                  <a:pt x="433388" y="469583"/>
                  <a:pt x="469583" y="432435"/>
                  <a:pt x="516255" y="422910"/>
                </a:cubicBezTo>
                <a:cubicBezTo>
                  <a:pt x="519113" y="421958"/>
                  <a:pt x="519113" y="418148"/>
                  <a:pt x="516255" y="417195"/>
                </a:cubicBezTo>
                <a:cubicBezTo>
                  <a:pt x="469583" y="406718"/>
                  <a:pt x="432435" y="370523"/>
                  <a:pt x="422910" y="323850"/>
                </a:cubicBezTo>
                <a:cubicBezTo>
                  <a:pt x="421958" y="320993"/>
                  <a:pt x="418148" y="320993"/>
                  <a:pt x="417195" y="323850"/>
                </a:cubicBezTo>
                <a:close/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47875" lIns="95800" spcFirstLastPara="1" rIns="95800" wrap="square" tIns="47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9"/>
              <a:buFont typeface="Arial"/>
              <a:buNone/>
            </a:pPr>
            <a:r>
              <a:t/>
            </a:r>
            <a:endParaRPr b="0" i="0" sz="4609" u="none" cap="none" strike="noStrike">
              <a:solidFill>
                <a:srgbClr val="25252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30"/>
          <p:cNvGrpSpPr/>
          <p:nvPr/>
        </p:nvGrpSpPr>
        <p:grpSpPr>
          <a:xfrm>
            <a:off x="6966799" y="2831509"/>
            <a:ext cx="1262400" cy="1074034"/>
            <a:chOff x="6966799" y="2831509"/>
            <a:chExt cx="1262400" cy="1074034"/>
          </a:xfrm>
        </p:grpSpPr>
        <p:sp>
          <p:nvSpPr>
            <p:cNvPr id="269" name="Google Shape;269;p30"/>
            <p:cNvSpPr/>
            <p:nvPr/>
          </p:nvSpPr>
          <p:spPr>
            <a:xfrm>
              <a:off x="7277206" y="2831509"/>
              <a:ext cx="641400" cy="6165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29B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3450" lIns="43450" spcFirstLastPara="1" rIns="43450" wrap="square" tIns="4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66"/>
            </a:p>
          </p:txBody>
        </p:sp>
        <p:sp>
          <p:nvSpPr>
            <p:cNvPr id="270" name="Google Shape;270;p30"/>
            <p:cNvSpPr txBox="1"/>
            <p:nvPr/>
          </p:nvSpPr>
          <p:spPr>
            <a:xfrm>
              <a:off x="6966799" y="3493943"/>
              <a:ext cx="12624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525" lIns="50525" spcFirstLastPara="1" rIns="50525" wrap="square" tIns="505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5">
                  <a:solidFill>
                    <a:schemeClr val="dk1"/>
                  </a:solidFill>
                </a:rPr>
                <a:t>CODE MIGRATION &amp; REFACTORING</a:t>
              </a:r>
              <a:endParaRPr b="1" sz="1005">
                <a:solidFill>
                  <a:schemeClr val="dk1"/>
                </a:solidFill>
              </a:endParaRPr>
            </a:p>
          </p:txBody>
        </p:sp>
        <p:grpSp>
          <p:nvGrpSpPr>
            <p:cNvPr id="271" name="Google Shape;271;p30"/>
            <p:cNvGrpSpPr/>
            <p:nvPr/>
          </p:nvGrpSpPr>
          <p:grpSpPr>
            <a:xfrm>
              <a:off x="7440114" y="2983577"/>
              <a:ext cx="315624" cy="312384"/>
              <a:chOff x="1228750" y="3855919"/>
              <a:chExt cx="407205" cy="401522"/>
            </a:xfrm>
          </p:grpSpPr>
          <p:sp>
            <p:nvSpPr>
              <p:cNvPr id="272" name="Google Shape;272;p30"/>
              <p:cNvSpPr/>
              <p:nvPr/>
            </p:nvSpPr>
            <p:spPr>
              <a:xfrm>
                <a:off x="1228750" y="3855919"/>
                <a:ext cx="397072" cy="398404"/>
              </a:xfrm>
              <a:custGeom>
                <a:rect b="b" l="l" r="r" t="t"/>
                <a:pathLst>
                  <a:path extrusionOk="0" h="1517728" w="1512655">
                    <a:moveTo>
                      <a:pt x="98757" y="912439"/>
                    </a:moveTo>
                    <a:cubicBezTo>
                      <a:pt x="126132" y="881895"/>
                      <a:pt x="181740" y="859319"/>
                      <a:pt x="252556" y="849359"/>
                    </a:cubicBezTo>
                    <a:lnTo>
                      <a:pt x="252556" y="755544"/>
                    </a:lnTo>
                    <a:cubicBezTo>
                      <a:pt x="251605" y="738166"/>
                      <a:pt x="251605" y="720750"/>
                      <a:pt x="252556" y="703372"/>
                    </a:cubicBezTo>
                    <a:cubicBezTo>
                      <a:pt x="256008" y="681087"/>
                      <a:pt x="257755" y="658573"/>
                      <a:pt x="257784" y="636023"/>
                    </a:cubicBezTo>
                    <a:cubicBezTo>
                      <a:pt x="257869" y="614863"/>
                      <a:pt x="246539" y="595294"/>
                      <a:pt x="228127" y="584800"/>
                    </a:cubicBezTo>
                    <a:lnTo>
                      <a:pt x="141151" y="534525"/>
                    </a:lnTo>
                    <a:lnTo>
                      <a:pt x="256643" y="338643"/>
                    </a:lnTo>
                    <a:lnTo>
                      <a:pt x="337915" y="386072"/>
                    </a:lnTo>
                    <a:cubicBezTo>
                      <a:pt x="359334" y="398698"/>
                      <a:pt x="386414" y="396415"/>
                      <a:pt x="405405" y="380381"/>
                    </a:cubicBezTo>
                    <a:lnTo>
                      <a:pt x="410157" y="376586"/>
                    </a:lnTo>
                    <a:cubicBezTo>
                      <a:pt x="459791" y="328176"/>
                      <a:pt x="519601" y="291398"/>
                      <a:pt x="585249" y="268923"/>
                    </a:cubicBezTo>
                    <a:cubicBezTo>
                      <a:pt x="609835" y="261460"/>
                      <a:pt x="626826" y="239070"/>
                      <a:pt x="627359" y="213431"/>
                    </a:cubicBezTo>
                    <a:lnTo>
                      <a:pt x="627359" y="118573"/>
                    </a:lnTo>
                    <a:lnTo>
                      <a:pt x="864997" y="118573"/>
                    </a:lnTo>
                    <a:lnTo>
                      <a:pt x="864997" y="213431"/>
                    </a:lnTo>
                    <a:cubicBezTo>
                      <a:pt x="864997" y="213431"/>
                      <a:pt x="918228" y="141149"/>
                      <a:pt x="981915" y="108043"/>
                    </a:cubicBezTo>
                    <a:lnTo>
                      <a:pt x="981915" y="90400"/>
                    </a:lnTo>
                    <a:cubicBezTo>
                      <a:pt x="981915" y="26465"/>
                      <a:pt x="955394" y="285"/>
                      <a:pt x="922980" y="0"/>
                    </a:cubicBezTo>
                    <a:lnTo>
                      <a:pt x="568139" y="0"/>
                    </a:lnTo>
                    <a:cubicBezTo>
                      <a:pt x="535612" y="52"/>
                      <a:pt x="509257" y="26353"/>
                      <a:pt x="509205" y="58812"/>
                    </a:cubicBezTo>
                    <a:lnTo>
                      <a:pt x="509205" y="171219"/>
                    </a:lnTo>
                    <a:cubicBezTo>
                      <a:pt x="455287" y="194054"/>
                      <a:pt x="405333" y="225270"/>
                      <a:pt x="361204" y="263705"/>
                    </a:cubicBezTo>
                    <a:lnTo>
                      <a:pt x="266149" y="207739"/>
                    </a:lnTo>
                    <a:cubicBezTo>
                      <a:pt x="257045" y="202487"/>
                      <a:pt x="246721" y="199707"/>
                      <a:pt x="236206" y="199676"/>
                    </a:cubicBezTo>
                    <a:cubicBezTo>
                      <a:pt x="215294" y="199565"/>
                      <a:pt x="195910" y="210593"/>
                      <a:pt x="185352" y="228608"/>
                    </a:cubicBezTo>
                    <a:lnTo>
                      <a:pt x="8739" y="526462"/>
                    </a:lnTo>
                    <a:cubicBezTo>
                      <a:pt x="-114" y="540630"/>
                      <a:pt x="-2368" y="557935"/>
                      <a:pt x="2561" y="573891"/>
                    </a:cubicBezTo>
                    <a:cubicBezTo>
                      <a:pt x="6960" y="589174"/>
                      <a:pt x="17202" y="602120"/>
                      <a:pt x="31077" y="609937"/>
                    </a:cubicBezTo>
                    <a:lnTo>
                      <a:pt x="140391" y="671595"/>
                    </a:lnTo>
                    <a:cubicBezTo>
                      <a:pt x="137167" y="699943"/>
                      <a:pt x="135423" y="728439"/>
                      <a:pt x="135163" y="756967"/>
                    </a:cubicBezTo>
                    <a:lnTo>
                      <a:pt x="135163" y="846134"/>
                    </a:lnTo>
                    <a:close/>
                    <a:moveTo>
                      <a:pt x="1262993" y="765789"/>
                    </a:moveTo>
                    <a:cubicBezTo>
                      <a:pt x="1263772" y="800480"/>
                      <a:pt x="1261225" y="835167"/>
                      <a:pt x="1255389" y="869374"/>
                    </a:cubicBezTo>
                    <a:cubicBezTo>
                      <a:pt x="1249314" y="895065"/>
                      <a:pt x="1261443" y="921600"/>
                      <a:pt x="1284856" y="933877"/>
                    </a:cubicBezTo>
                    <a:lnTo>
                      <a:pt x="1372782" y="981306"/>
                    </a:lnTo>
                    <a:lnTo>
                      <a:pt x="1255864" y="1182880"/>
                    </a:lnTo>
                    <a:lnTo>
                      <a:pt x="1165086" y="1135451"/>
                    </a:lnTo>
                    <a:cubicBezTo>
                      <a:pt x="1156474" y="1130784"/>
                      <a:pt x="1146835" y="1128346"/>
                      <a:pt x="1137045" y="1128336"/>
                    </a:cubicBezTo>
                    <a:cubicBezTo>
                      <a:pt x="1123823" y="1128317"/>
                      <a:pt x="1110952" y="1132652"/>
                      <a:pt x="1100448" y="1140668"/>
                    </a:cubicBezTo>
                    <a:cubicBezTo>
                      <a:pt x="1044518" y="1190260"/>
                      <a:pt x="978778" y="1227586"/>
                      <a:pt x="907486" y="1250229"/>
                    </a:cubicBezTo>
                    <a:cubicBezTo>
                      <a:pt x="882288" y="1257533"/>
                      <a:pt x="864890" y="1280489"/>
                      <a:pt x="864712" y="1306669"/>
                    </a:cubicBezTo>
                    <a:lnTo>
                      <a:pt x="864712" y="1399156"/>
                    </a:lnTo>
                    <a:lnTo>
                      <a:pt x="681350" y="1399156"/>
                    </a:lnTo>
                    <a:cubicBezTo>
                      <a:pt x="663480" y="1465557"/>
                      <a:pt x="605306" y="1517728"/>
                      <a:pt x="593994" y="1517728"/>
                    </a:cubicBezTo>
                    <a:lnTo>
                      <a:pt x="922695" y="1517728"/>
                    </a:lnTo>
                    <a:cubicBezTo>
                      <a:pt x="955119" y="1517415"/>
                      <a:pt x="981316" y="1491273"/>
                      <a:pt x="981629" y="1458917"/>
                    </a:cubicBezTo>
                    <a:lnTo>
                      <a:pt x="981629" y="1345087"/>
                    </a:lnTo>
                    <a:cubicBezTo>
                      <a:pt x="1039071" y="1321856"/>
                      <a:pt x="1092987" y="1290724"/>
                      <a:pt x="1141798" y="1252600"/>
                    </a:cubicBezTo>
                    <a:lnTo>
                      <a:pt x="1250636" y="1310938"/>
                    </a:lnTo>
                    <a:cubicBezTo>
                      <a:pt x="1259381" y="1315757"/>
                      <a:pt x="1269172" y="1318356"/>
                      <a:pt x="1279152" y="1318527"/>
                    </a:cubicBezTo>
                    <a:cubicBezTo>
                      <a:pt x="1300264" y="1318460"/>
                      <a:pt x="1319703" y="1307039"/>
                      <a:pt x="1330007" y="1288646"/>
                    </a:cubicBezTo>
                    <a:lnTo>
                      <a:pt x="1505859" y="985101"/>
                    </a:lnTo>
                    <a:cubicBezTo>
                      <a:pt x="1513083" y="971033"/>
                      <a:pt x="1514614" y="954737"/>
                      <a:pt x="1510136" y="939569"/>
                    </a:cubicBezTo>
                    <a:cubicBezTo>
                      <a:pt x="1505593" y="924218"/>
                      <a:pt x="1495184" y="911269"/>
                      <a:pt x="1481145" y="903523"/>
                    </a:cubicBezTo>
                    <a:lnTo>
                      <a:pt x="1376584" y="846608"/>
                    </a:lnTo>
                    <a:cubicBezTo>
                      <a:pt x="1379407" y="816340"/>
                      <a:pt x="1380510" y="785937"/>
                      <a:pt x="1379911" y="755544"/>
                    </a:cubicBezTo>
                    <a:cubicBezTo>
                      <a:pt x="1379911" y="741316"/>
                      <a:pt x="1379911" y="735814"/>
                      <a:pt x="1379911" y="722154"/>
                    </a:cubicBezTo>
                    <a:cubicBezTo>
                      <a:pt x="1390557" y="716368"/>
                      <a:pt x="1337801" y="751560"/>
                      <a:pt x="1262993" y="765789"/>
                    </a:cubicBezTo>
                    <a:close/>
                  </a:path>
                </a:pathLst>
              </a:custGeom>
              <a:solidFill>
                <a:srgbClr val="2AB5E8"/>
              </a:solidFill>
              <a:ln>
                <a:noFill/>
              </a:ln>
            </p:spPr>
            <p:txBody>
              <a:bodyPr anchorCtr="0" anchor="ctr" bIns="52775" lIns="105575" spcFirstLastPara="1" rIns="105575" wrap="square" tIns="527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52525"/>
                  </a:buClr>
                  <a:buSzPts val="1559"/>
                  <a:buFont typeface="Arial"/>
                  <a:buNone/>
                </a:pPr>
                <a:r>
                  <a:t/>
                </a:r>
                <a:endParaRPr sz="1559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30"/>
              <p:cNvSpPr/>
              <p:nvPr/>
            </p:nvSpPr>
            <p:spPr>
              <a:xfrm>
                <a:off x="1350425" y="3872603"/>
                <a:ext cx="285530" cy="270206"/>
              </a:xfrm>
              <a:custGeom>
                <a:rect b="b" l="l" r="r" t="t"/>
                <a:pathLst>
                  <a:path extrusionOk="0" h="1029356" w="1087732">
                    <a:moveTo>
                      <a:pt x="179940" y="1029357"/>
                    </a:moveTo>
                    <a:lnTo>
                      <a:pt x="621471" y="629815"/>
                    </a:lnTo>
                    <a:cubicBezTo>
                      <a:pt x="787571" y="704845"/>
                      <a:pt x="983175" y="631297"/>
                      <a:pt x="1058354" y="465542"/>
                    </a:cubicBezTo>
                    <a:cubicBezTo>
                      <a:pt x="1093762" y="387490"/>
                      <a:pt x="1097299" y="298745"/>
                      <a:pt x="1068231" y="218131"/>
                    </a:cubicBezTo>
                    <a:cubicBezTo>
                      <a:pt x="1063107" y="203596"/>
                      <a:pt x="1050997" y="192613"/>
                      <a:pt x="1036007" y="188915"/>
                    </a:cubicBezTo>
                    <a:cubicBezTo>
                      <a:pt x="1021102" y="185506"/>
                      <a:pt x="1005466" y="189460"/>
                      <a:pt x="993992" y="199539"/>
                    </a:cubicBezTo>
                    <a:lnTo>
                      <a:pt x="848083" y="332340"/>
                    </a:lnTo>
                    <a:cubicBezTo>
                      <a:pt x="823197" y="355643"/>
                      <a:pt x="784101" y="354403"/>
                      <a:pt x="760746" y="329572"/>
                    </a:cubicBezTo>
                    <a:cubicBezTo>
                      <a:pt x="737400" y="304741"/>
                      <a:pt x="738636" y="265721"/>
                      <a:pt x="763522" y="242419"/>
                    </a:cubicBezTo>
                    <a:cubicBezTo>
                      <a:pt x="764035" y="241934"/>
                      <a:pt x="764567" y="241458"/>
                      <a:pt x="765099" y="240992"/>
                    </a:cubicBezTo>
                    <a:lnTo>
                      <a:pt x="911390" y="108190"/>
                    </a:lnTo>
                    <a:cubicBezTo>
                      <a:pt x="930077" y="91164"/>
                      <a:pt x="931399" y="62245"/>
                      <a:pt x="914336" y="43597"/>
                    </a:cubicBezTo>
                    <a:cubicBezTo>
                      <a:pt x="914298" y="43564"/>
                      <a:pt x="914270" y="43530"/>
                      <a:pt x="914241" y="43497"/>
                    </a:cubicBezTo>
                    <a:cubicBezTo>
                      <a:pt x="910230" y="39151"/>
                      <a:pt x="905420" y="35609"/>
                      <a:pt x="900078" y="33063"/>
                    </a:cubicBezTo>
                    <a:cubicBezTo>
                      <a:pt x="736697" y="-46139"/>
                      <a:pt x="539904" y="21830"/>
                      <a:pt x="460538" y="184875"/>
                    </a:cubicBezTo>
                    <a:cubicBezTo>
                      <a:pt x="422270" y="263489"/>
                      <a:pt x="417003" y="354087"/>
                      <a:pt x="445904" y="436589"/>
                    </a:cubicBezTo>
                    <a:lnTo>
                      <a:pt x="0" y="840305"/>
                    </a:lnTo>
                    <a:moveTo>
                      <a:pt x="541815" y="430044"/>
                    </a:moveTo>
                    <a:cubicBezTo>
                      <a:pt x="487177" y="310384"/>
                      <a:pt x="540094" y="169182"/>
                      <a:pt x="659997" y="114660"/>
                    </a:cubicBezTo>
                    <a:cubicBezTo>
                      <a:pt x="700509" y="96239"/>
                      <a:pt x="745376" y="89497"/>
                      <a:pt x="789529" y="95195"/>
                    </a:cubicBezTo>
                    <a:lnTo>
                      <a:pt x="703979" y="172694"/>
                    </a:lnTo>
                    <a:cubicBezTo>
                      <a:pt x="640986" y="229353"/>
                      <a:pt x="635938" y="326246"/>
                      <a:pt x="692715" y="389112"/>
                    </a:cubicBezTo>
                    <a:cubicBezTo>
                      <a:pt x="749491" y="451979"/>
                      <a:pt x="846590" y="457012"/>
                      <a:pt x="909583" y="400353"/>
                    </a:cubicBezTo>
                    <a:lnTo>
                      <a:pt x="910439" y="399594"/>
                    </a:lnTo>
                    <a:lnTo>
                      <a:pt x="995989" y="322095"/>
                    </a:lnTo>
                    <a:cubicBezTo>
                      <a:pt x="999819" y="453745"/>
                      <a:pt x="895981" y="563568"/>
                      <a:pt x="764063" y="567392"/>
                    </a:cubicBezTo>
                    <a:cubicBezTo>
                      <a:pt x="719701" y="568679"/>
                      <a:pt x="675852" y="557612"/>
                      <a:pt x="637440" y="535431"/>
                    </a:cubicBezTo>
                    <a:cubicBezTo>
                      <a:pt x="616585" y="523237"/>
                      <a:pt x="597783" y="507839"/>
                      <a:pt x="581738" y="489804"/>
                    </a:cubicBezTo>
                    <a:cubicBezTo>
                      <a:pt x="565465" y="471966"/>
                      <a:pt x="551910" y="451829"/>
                      <a:pt x="541530" y="430044"/>
                    </a:cubicBezTo>
                    <a:close/>
                    <a:moveTo>
                      <a:pt x="81557" y="890010"/>
                    </a:moveTo>
                    <a:lnTo>
                      <a:pt x="489249" y="521107"/>
                    </a:lnTo>
                    <a:cubicBezTo>
                      <a:pt x="496920" y="531525"/>
                      <a:pt x="505142" y="541530"/>
                      <a:pt x="513869" y="551083"/>
                    </a:cubicBezTo>
                    <a:cubicBezTo>
                      <a:pt x="522709" y="560568"/>
                      <a:pt x="532024" y="570054"/>
                      <a:pt x="541720" y="578496"/>
                    </a:cubicBezTo>
                    <a:lnTo>
                      <a:pt x="133648" y="947779"/>
                    </a:lnTo>
                    <a:cubicBezTo>
                      <a:pt x="118794" y="926407"/>
                      <a:pt x="101293" y="906999"/>
                      <a:pt x="81557" y="890010"/>
                    </a:cubicBezTo>
                    <a:close/>
                  </a:path>
                </a:pathLst>
              </a:custGeom>
              <a:solidFill>
                <a:srgbClr val="2AB5E8"/>
              </a:solidFill>
              <a:ln>
                <a:noFill/>
              </a:ln>
            </p:spPr>
            <p:txBody>
              <a:bodyPr anchorCtr="0" anchor="ctr" bIns="52775" lIns="105575" spcFirstLastPara="1" rIns="105575" wrap="square" tIns="527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52525"/>
                  </a:buClr>
                  <a:buSzPts val="1559"/>
                  <a:buFont typeface="Arial"/>
                  <a:buNone/>
                </a:pPr>
                <a:r>
                  <a:t/>
                </a:r>
                <a:endParaRPr sz="1559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30"/>
              <p:cNvSpPr/>
              <p:nvPr/>
            </p:nvSpPr>
            <p:spPr>
              <a:xfrm>
                <a:off x="1230335" y="4084405"/>
                <a:ext cx="173386" cy="173036"/>
              </a:xfrm>
              <a:custGeom>
                <a:rect b="b" l="l" r="r" t="t"/>
                <a:pathLst>
                  <a:path extrusionOk="0" h="659185" w="660520">
                    <a:moveTo>
                      <a:pt x="466263" y="29397"/>
                    </a:moveTo>
                    <a:cubicBezTo>
                      <a:pt x="300164" y="-45633"/>
                      <a:pt x="104563" y="27914"/>
                      <a:pt x="29377" y="193672"/>
                    </a:cubicBezTo>
                    <a:cubicBezTo>
                      <a:pt x="-6027" y="271721"/>
                      <a:pt x="-9569" y="360470"/>
                      <a:pt x="19504" y="441080"/>
                    </a:cubicBezTo>
                    <a:cubicBezTo>
                      <a:pt x="24655" y="455594"/>
                      <a:pt x="36756" y="466569"/>
                      <a:pt x="51727" y="470297"/>
                    </a:cubicBezTo>
                    <a:cubicBezTo>
                      <a:pt x="66629" y="473702"/>
                      <a:pt x="82264" y="469756"/>
                      <a:pt x="93742" y="459673"/>
                    </a:cubicBezTo>
                    <a:lnTo>
                      <a:pt x="239652" y="326871"/>
                    </a:lnTo>
                    <a:cubicBezTo>
                      <a:pt x="264534" y="303565"/>
                      <a:pt x="303635" y="304807"/>
                      <a:pt x="326986" y="329641"/>
                    </a:cubicBezTo>
                    <a:cubicBezTo>
                      <a:pt x="350337" y="354466"/>
                      <a:pt x="349095" y="393490"/>
                      <a:pt x="324213" y="416797"/>
                    </a:cubicBezTo>
                    <a:cubicBezTo>
                      <a:pt x="323695" y="417280"/>
                      <a:pt x="323169" y="417755"/>
                      <a:pt x="322635" y="418220"/>
                    </a:cubicBezTo>
                    <a:lnTo>
                      <a:pt x="176345" y="551021"/>
                    </a:lnTo>
                    <a:cubicBezTo>
                      <a:pt x="157676" y="568219"/>
                      <a:pt x="156515" y="597264"/>
                      <a:pt x="173752" y="615894"/>
                    </a:cubicBezTo>
                    <a:cubicBezTo>
                      <a:pt x="177696" y="620163"/>
                      <a:pt x="182414" y="623635"/>
                      <a:pt x="187656" y="626148"/>
                    </a:cubicBezTo>
                    <a:cubicBezTo>
                      <a:pt x="351033" y="705298"/>
                      <a:pt x="547773" y="637361"/>
                      <a:pt x="627192" y="474376"/>
                    </a:cubicBezTo>
                    <a:cubicBezTo>
                      <a:pt x="665573" y="393756"/>
                      <a:pt x="671027" y="301402"/>
                      <a:pt x="642401" y="216836"/>
                    </a:cubicBezTo>
                    <a:moveTo>
                      <a:pt x="546205" y="229168"/>
                    </a:moveTo>
                    <a:cubicBezTo>
                      <a:pt x="600870" y="348812"/>
                      <a:pt x="547990" y="490027"/>
                      <a:pt x="428096" y="544580"/>
                    </a:cubicBezTo>
                    <a:cubicBezTo>
                      <a:pt x="387445" y="563077"/>
                      <a:pt x="342408" y="569812"/>
                      <a:pt x="298111" y="564016"/>
                    </a:cubicBezTo>
                    <a:lnTo>
                      <a:pt x="383660" y="486517"/>
                    </a:lnTo>
                    <a:cubicBezTo>
                      <a:pt x="446657" y="429859"/>
                      <a:pt x="451701" y="332961"/>
                      <a:pt x="394924" y="270099"/>
                    </a:cubicBezTo>
                    <a:cubicBezTo>
                      <a:pt x="338148" y="207236"/>
                      <a:pt x="241053" y="202199"/>
                      <a:pt x="178056" y="258858"/>
                    </a:cubicBezTo>
                    <a:lnTo>
                      <a:pt x="177200" y="259617"/>
                    </a:lnTo>
                    <a:lnTo>
                      <a:pt x="91651" y="337116"/>
                    </a:lnTo>
                    <a:cubicBezTo>
                      <a:pt x="88992" y="267718"/>
                      <a:pt x="117460" y="200748"/>
                      <a:pt x="169311" y="154419"/>
                    </a:cubicBezTo>
                    <a:cubicBezTo>
                      <a:pt x="245850" y="83352"/>
                      <a:pt x="360081" y="70887"/>
                      <a:pt x="450199" y="123780"/>
                    </a:cubicBezTo>
                    <a:cubicBezTo>
                      <a:pt x="471020" y="136131"/>
                      <a:pt x="489755" y="151697"/>
                      <a:pt x="505711" y="169881"/>
                    </a:cubicBezTo>
                    <a:cubicBezTo>
                      <a:pt x="522045" y="187553"/>
                      <a:pt x="535689" y="207530"/>
                      <a:pt x="546205" y="229168"/>
                    </a:cubicBezTo>
                    <a:close/>
                  </a:path>
                </a:pathLst>
              </a:custGeom>
              <a:solidFill>
                <a:srgbClr val="2AB5E8"/>
              </a:solidFill>
              <a:ln>
                <a:noFill/>
              </a:ln>
            </p:spPr>
            <p:txBody>
              <a:bodyPr anchorCtr="0" anchor="ctr" bIns="52775" lIns="105575" spcFirstLastPara="1" rIns="105575" wrap="square" tIns="527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252525"/>
                  </a:buClr>
                  <a:buSzPts val="1559"/>
                  <a:buFont typeface="Arial"/>
                  <a:buNone/>
                </a:pPr>
                <a:r>
                  <a:t/>
                </a:r>
                <a:endParaRPr sz="1559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5" name="Google Shape;275;p30"/>
          <p:cNvSpPr txBox="1"/>
          <p:nvPr/>
        </p:nvSpPr>
        <p:spPr>
          <a:xfrm>
            <a:off x="788875" y="2415030"/>
            <a:ext cx="151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Inter"/>
              <a:buNone/>
            </a:pPr>
            <a:r>
              <a:rPr i="0" lang="en" sz="800" u="none" cap="none" strike="noStrike">
                <a:solidFill>
                  <a:srgbClr val="4B5563"/>
                </a:solidFill>
              </a:rPr>
              <a:t>Search the catalog for data with semantic </a:t>
            </a:r>
            <a:r>
              <a:rPr lang="en" sz="800">
                <a:solidFill>
                  <a:srgbClr val="4B5563"/>
                </a:solidFill>
              </a:rPr>
              <a:t>understanding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276" name="Google Shape;276;p30"/>
          <p:cNvSpPr txBox="1"/>
          <p:nvPr/>
        </p:nvSpPr>
        <p:spPr>
          <a:xfrm>
            <a:off x="2806163" y="2415030"/>
            <a:ext cx="151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Inter"/>
              <a:buNone/>
            </a:pPr>
            <a:r>
              <a:rPr lang="en" sz="800">
                <a:solidFill>
                  <a:srgbClr val="4B5563"/>
                </a:solidFill>
              </a:rPr>
              <a:t>Manage users, permissions, costs and governance</a:t>
            </a:r>
            <a:endParaRPr sz="800">
              <a:solidFill>
                <a:srgbClr val="4B5563"/>
              </a:solidFill>
            </a:endParaRPr>
          </a:p>
        </p:txBody>
      </p:sp>
      <p:sp>
        <p:nvSpPr>
          <p:cNvPr id="277" name="Google Shape;277;p30"/>
          <p:cNvSpPr txBox="1"/>
          <p:nvPr/>
        </p:nvSpPr>
        <p:spPr>
          <a:xfrm>
            <a:off x="4823450" y="2415030"/>
            <a:ext cx="151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Inter"/>
              <a:buNone/>
            </a:pPr>
            <a:r>
              <a:rPr lang="en" sz="800">
                <a:solidFill>
                  <a:srgbClr val="4B5563"/>
                </a:solidFill>
              </a:rPr>
              <a:t>Build &amp; optimize pipelines with dbt and AirFlow</a:t>
            </a:r>
            <a:endParaRPr sz="800">
              <a:solidFill>
                <a:srgbClr val="4B5563"/>
              </a:solidFill>
            </a:endParaRPr>
          </a:p>
        </p:txBody>
      </p:sp>
      <p:sp>
        <p:nvSpPr>
          <p:cNvPr id="278" name="Google Shape;278;p30"/>
          <p:cNvSpPr txBox="1"/>
          <p:nvPr/>
        </p:nvSpPr>
        <p:spPr>
          <a:xfrm>
            <a:off x="6743925" y="2415025"/>
            <a:ext cx="1707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Inter"/>
              <a:buNone/>
            </a:pPr>
            <a:r>
              <a:rPr lang="en" sz="800">
                <a:solidFill>
                  <a:srgbClr val="4B5563"/>
                </a:solidFill>
              </a:rPr>
              <a:t>Build, evaluate, optimize, debug agents and semantic views</a:t>
            </a:r>
            <a:endParaRPr sz="800">
              <a:solidFill>
                <a:srgbClr val="4B5563"/>
              </a:solidFill>
            </a:endParaRPr>
          </a:p>
        </p:txBody>
      </p:sp>
      <p:sp>
        <p:nvSpPr>
          <p:cNvPr id="279" name="Google Shape;279;p30"/>
          <p:cNvSpPr txBox="1"/>
          <p:nvPr/>
        </p:nvSpPr>
        <p:spPr>
          <a:xfrm>
            <a:off x="788875" y="3905555"/>
            <a:ext cx="151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Inter"/>
              <a:buNone/>
            </a:pPr>
            <a:r>
              <a:rPr lang="en" sz="800">
                <a:solidFill>
                  <a:srgbClr val="4B5563"/>
                </a:solidFill>
              </a:rPr>
              <a:t>Auto-generate ML pipelines and feature engineering 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280" name="Google Shape;280;p30"/>
          <p:cNvSpPr txBox="1"/>
          <p:nvPr/>
        </p:nvSpPr>
        <p:spPr>
          <a:xfrm>
            <a:off x="2806163" y="3905555"/>
            <a:ext cx="151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Inter"/>
              <a:buNone/>
            </a:pPr>
            <a:r>
              <a:rPr lang="en" sz="800">
                <a:solidFill>
                  <a:srgbClr val="4B5563"/>
                </a:solidFill>
              </a:rPr>
              <a:t>Complex Analysis with Python and SQL generation</a:t>
            </a:r>
            <a:endParaRPr sz="800">
              <a:solidFill>
                <a:srgbClr val="4B5563"/>
              </a:solidFill>
            </a:endParaRPr>
          </a:p>
        </p:txBody>
      </p:sp>
      <p:sp>
        <p:nvSpPr>
          <p:cNvPr id="281" name="Google Shape;281;p30"/>
          <p:cNvSpPr txBox="1"/>
          <p:nvPr/>
        </p:nvSpPr>
        <p:spPr>
          <a:xfrm>
            <a:off x="4823450" y="3905555"/>
            <a:ext cx="151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Inter"/>
              <a:buNone/>
            </a:pPr>
            <a:r>
              <a:rPr lang="en" sz="800">
                <a:solidFill>
                  <a:srgbClr val="4B5563"/>
                </a:solidFill>
              </a:rPr>
              <a:t>Streamlit apps, dashboards &amp; data applications</a:t>
            </a:r>
            <a:endParaRPr sz="800">
              <a:solidFill>
                <a:srgbClr val="4B5563"/>
              </a:solidFill>
            </a:endParaRPr>
          </a:p>
        </p:txBody>
      </p:sp>
      <p:sp>
        <p:nvSpPr>
          <p:cNvPr id="282" name="Google Shape;282;p30"/>
          <p:cNvSpPr txBox="1"/>
          <p:nvPr/>
        </p:nvSpPr>
        <p:spPr>
          <a:xfrm>
            <a:off x="6840725" y="3905555"/>
            <a:ext cx="151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Inter"/>
              <a:buNone/>
            </a:pPr>
            <a:r>
              <a:rPr lang="en" sz="800">
                <a:solidFill>
                  <a:srgbClr val="4B5563"/>
                </a:solidFill>
              </a:rPr>
              <a:t>Refactor and convert code from other platforms</a:t>
            </a:r>
            <a:endParaRPr sz="800">
              <a:solidFill>
                <a:srgbClr val="4B5563"/>
              </a:solidFill>
            </a:endParaRPr>
          </a:p>
        </p:txBody>
      </p:sp>
      <p:sp>
        <p:nvSpPr>
          <p:cNvPr id="283" name="Google Shape;283;p30"/>
          <p:cNvSpPr/>
          <p:nvPr/>
        </p:nvSpPr>
        <p:spPr>
          <a:xfrm>
            <a:off x="1083375" y="4388576"/>
            <a:ext cx="1563600" cy="316200"/>
          </a:xfrm>
          <a:prstGeom prst="roundRect">
            <a:avLst>
              <a:gd fmla="val 50000" name="adj"/>
            </a:avLst>
          </a:prstGeom>
          <a:solidFill>
            <a:srgbClr val="29B5E8"/>
          </a:solidFill>
          <a:ln cap="flat" cmpd="sng" w="9525">
            <a:solidFill>
              <a:srgbClr val="29B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UNDERSTANDS </a:t>
            </a:r>
            <a:r>
              <a:rPr b="1" lang="en" sz="800">
                <a:solidFill>
                  <a:srgbClr val="FFFFFF"/>
                </a:solidFill>
              </a:rPr>
              <a:t>SNOWFLAKE</a:t>
            </a:r>
            <a:r>
              <a:rPr b="1" lang="en" sz="800">
                <a:solidFill>
                  <a:schemeClr val="lt1"/>
                </a:solidFill>
              </a:rPr>
              <a:t> &amp; DATA</a:t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2944125" y="4388576"/>
            <a:ext cx="1563600" cy="316200"/>
          </a:xfrm>
          <a:prstGeom prst="roundRect">
            <a:avLst>
              <a:gd fmla="val 50000" name="adj"/>
            </a:avLst>
          </a:prstGeom>
          <a:solidFill>
            <a:srgbClr val="29B5E8"/>
          </a:solidFill>
          <a:ln cap="flat" cmpd="sng" w="9525">
            <a:solidFill>
              <a:srgbClr val="29B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AUTOMATES</a:t>
            </a:r>
            <a:endParaRPr b="1" sz="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COMPLEX TASKS</a:t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285" name="Google Shape;285;p30"/>
          <p:cNvSpPr/>
          <p:nvPr/>
        </p:nvSpPr>
        <p:spPr>
          <a:xfrm>
            <a:off x="4804875" y="4388576"/>
            <a:ext cx="1563600" cy="316200"/>
          </a:xfrm>
          <a:prstGeom prst="roundRect">
            <a:avLst>
              <a:gd fmla="val 50000" name="adj"/>
            </a:avLst>
          </a:prstGeom>
          <a:solidFill>
            <a:srgbClr val="29B5E8"/>
          </a:solidFill>
          <a:ln cap="flat" cmpd="sng" w="9525">
            <a:solidFill>
              <a:srgbClr val="29B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CONTEXT AWARE </a:t>
            </a:r>
            <a:endParaRPr b="1" sz="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CLI &amp; UI</a:t>
            </a:r>
            <a:endParaRPr b="1" sz="800">
              <a:solidFill>
                <a:schemeClr val="lt1"/>
              </a:solidFill>
            </a:endParaRPr>
          </a:p>
        </p:txBody>
      </p:sp>
      <p:sp>
        <p:nvSpPr>
          <p:cNvPr id="286" name="Google Shape;286;p30"/>
          <p:cNvSpPr/>
          <p:nvPr/>
        </p:nvSpPr>
        <p:spPr>
          <a:xfrm>
            <a:off x="6665625" y="4388576"/>
            <a:ext cx="1563600" cy="316200"/>
          </a:xfrm>
          <a:prstGeom prst="roundRect">
            <a:avLst>
              <a:gd fmla="val 50000" name="adj"/>
            </a:avLst>
          </a:prstGeom>
          <a:solidFill>
            <a:srgbClr val="29B5E8"/>
          </a:solidFill>
          <a:ln cap="flat" cmpd="sng" w="9525">
            <a:solidFill>
              <a:srgbClr val="29B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SECURE BY </a:t>
            </a:r>
            <a:endParaRPr b="1" sz="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DESIGN</a:t>
            </a:r>
            <a:endParaRPr b="1" sz="800">
              <a:solidFill>
                <a:schemeClr val="lt1"/>
              </a:solidFill>
            </a:endParaRPr>
          </a:p>
        </p:txBody>
      </p:sp>
      <p:grpSp>
        <p:nvGrpSpPr>
          <p:cNvPr id="287" name="Google Shape;287;p30"/>
          <p:cNvGrpSpPr/>
          <p:nvPr/>
        </p:nvGrpSpPr>
        <p:grpSpPr>
          <a:xfrm>
            <a:off x="3667088" y="949516"/>
            <a:ext cx="260193" cy="187339"/>
            <a:chOff x="2536951" y="1063133"/>
            <a:chExt cx="469323" cy="337913"/>
          </a:xfrm>
        </p:grpSpPr>
        <p:sp>
          <p:nvSpPr>
            <p:cNvPr id="288" name="Google Shape;288;p30"/>
            <p:cNvSpPr/>
            <p:nvPr/>
          </p:nvSpPr>
          <p:spPr>
            <a:xfrm>
              <a:off x="2536951" y="1063133"/>
              <a:ext cx="469323" cy="337913"/>
            </a:xfrm>
            <a:custGeom>
              <a:rect b="b" l="l" r="r" t="t"/>
              <a:pathLst>
                <a:path extrusionOk="0" h="337913" w="469323">
                  <a:moveTo>
                    <a:pt x="407517" y="0"/>
                  </a:moveTo>
                  <a:lnTo>
                    <a:pt x="61806" y="0"/>
                  </a:lnTo>
                  <a:cubicBezTo>
                    <a:pt x="27672" y="0"/>
                    <a:pt x="0" y="27672"/>
                    <a:pt x="0" y="61806"/>
                  </a:cubicBezTo>
                  <a:lnTo>
                    <a:pt x="0" y="276107"/>
                  </a:lnTo>
                  <a:cubicBezTo>
                    <a:pt x="0" y="310242"/>
                    <a:pt x="27672" y="337913"/>
                    <a:pt x="61806" y="337913"/>
                  </a:cubicBezTo>
                  <a:lnTo>
                    <a:pt x="407517" y="337913"/>
                  </a:lnTo>
                  <a:cubicBezTo>
                    <a:pt x="441652" y="337913"/>
                    <a:pt x="469324" y="310242"/>
                    <a:pt x="469324" y="276107"/>
                  </a:cubicBezTo>
                  <a:lnTo>
                    <a:pt x="469324" y="61806"/>
                  </a:lnTo>
                  <a:cubicBezTo>
                    <a:pt x="469324" y="27672"/>
                    <a:pt x="441652" y="0"/>
                    <a:pt x="407517" y="0"/>
                  </a:cubicBezTo>
                  <a:close/>
                  <a:moveTo>
                    <a:pt x="433222" y="276107"/>
                  </a:moveTo>
                  <a:cubicBezTo>
                    <a:pt x="433222" y="290303"/>
                    <a:pt x="421714" y="301811"/>
                    <a:pt x="407517" y="301811"/>
                  </a:cubicBezTo>
                  <a:lnTo>
                    <a:pt x="61806" y="301811"/>
                  </a:lnTo>
                  <a:cubicBezTo>
                    <a:pt x="47610" y="301811"/>
                    <a:pt x="36102" y="290303"/>
                    <a:pt x="36102" y="276107"/>
                  </a:cubicBezTo>
                  <a:lnTo>
                    <a:pt x="36102" y="118414"/>
                  </a:lnTo>
                  <a:lnTo>
                    <a:pt x="433222" y="118414"/>
                  </a:lnTo>
                  <a:close/>
                  <a:moveTo>
                    <a:pt x="433222" y="95309"/>
                  </a:moveTo>
                  <a:lnTo>
                    <a:pt x="36102" y="95309"/>
                  </a:lnTo>
                  <a:lnTo>
                    <a:pt x="36102" y="61806"/>
                  </a:lnTo>
                  <a:cubicBezTo>
                    <a:pt x="36102" y="47610"/>
                    <a:pt x="47610" y="36102"/>
                    <a:pt x="61806" y="36102"/>
                  </a:cubicBezTo>
                  <a:lnTo>
                    <a:pt x="407517" y="36102"/>
                  </a:lnTo>
                  <a:cubicBezTo>
                    <a:pt x="421714" y="36102"/>
                    <a:pt x="433222" y="47610"/>
                    <a:pt x="433222" y="618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6125" lIns="92225" spcFirstLastPara="1" rIns="92225" wrap="square" tIns="46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362"/>
                <a:buFont typeface="Arial"/>
                <a:buNone/>
              </a:pPr>
              <a:r>
                <a:t/>
              </a:r>
              <a:endParaRPr sz="136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0"/>
            <p:cNvSpPr/>
            <p:nvPr/>
          </p:nvSpPr>
          <p:spPr>
            <a:xfrm>
              <a:off x="2594858" y="1116123"/>
              <a:ext cx="25126" cy="25127"/>
            </a:xfrm>
            <a:custGeom>
              <a:rect b="b" l="l" r="r" t="t"/>
              <a:pathLst>
                <a:path extrusionOk="0" h="25127" w="25126">
                  <a:moveTo>
                    <a:pt x="12997" y="8"/>
                  </a:moveTo>
                  <a:cubicBezTo>
                    <a:pt x="6062" y="-232"/>
                    <a:pt x="247" y="5196"/>
                    <a:pt x="8" y="12130"/>
                  </a:cubicBezTo>
                  <a:cubicBezTo>
                    <a:pt x="-232" y="19065"/>
                    <a:pt x="5196" y="24880"/>
                    <a:pt x="12130" y="25120"/>
                  </a:cubicBezTo>
                  <a:cubicBezTo>
                    <a:pt x="19065" y="25358"/>
                    <a:pt x="24880" y="19931"/>
                    <a:pt x="25119" y="12997"/>
                  </a:cubicBezTo>
                  <a:cubicBezTo>
                    <a:pt x="25124" y="12855"/>
                    <a:pt x="25127" y="12713"/>
                    <a:pt x="25127" y="12571"/>
                  </a:cubicBezTo>
                  <a:cubicBezTo>
                    <a:pt x="25131" y="5798"/>
                    <a:pt x="19766" y="241"/>
                    <a:pt x="12997" y="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6125" lIns="92225" spcFirstLastPara="1" rIns="92225" wrap="square" tIns="46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362"/>
                <a:buFont typeface="Arial"/>
                <a:buNone/>
              </a:pPr>
              <a:r>
                <a:t/>
              </a:r>
              <a:endParaRPr sz="136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2634714" y="1116130"/>
              <a:ext cx="25126" cy="25126"/>
            </a:xfrm>
            <a:custGeom>
              <a:rect b="b" l="l" r="r" t="t"/>
              <a:pathLst>
                <a:path extrusionOk="0" h="25126" w="25126">
                  <a:moveTo>
                    <a:pt x="12563" y="0"/>
                  </a:moveTo>
                  <a:cubicBezTo>
                    <a:pt x="5625" y="0"/>
                    <a:pt x="0" y="5625"/>
                    <a:pt x="0" y="12563"/>
                  </a:cubicBezTo>
                  <a:cubicBezTo>
                    <a:pt x="0" y="19502"/>
                    <a:pt x="5625" y="25127"/>
                    <a:pt x="12563" y="25127"/>
                  </a:cubicBezTo>
                  <a:cubicBezTo>
                    <a:pt x="19502" y="25127"/>
                    <a:pt x="25127" y="19502"/>
                    <a:pt x="25127" y="12563"/>
                  </a:cubicBezTo>
                  <a:cubicBezTo>
                    <a:pt x="25127" y="5625"/>
                    <a:pt x="19502" y="0"/>
                    <a:pt x="125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6125" lIns="92225" spcFirstLastPara="1" rIns="92225" wrap="square" tIns="46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362"/>
                <a:buFont typeface="Arial"/>
                <a:buNone/>
              </a:pPr>
              <a:r>
                <a:t/>
              </a:r>
              <a:endParaRPr sz="136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30"/>
            <p:cNvSpPr/>
            <p:nvPr/>
          </p:nvSpPr>
          <p:spPr>
            <a:xfrm>
              <a:off x="2745366" y="1211837"/>
              <a:ext cx="51876" cy="127507"/>
            </a:xfrm>
            <a:custGeom>
              <a:rect b="b" l="l" r="r" t="t"/>
              <a:pathLst>
                <a:path extrusionOk="0" h="127507" w="51876">
                  <a:moveTo>
                    <a:pt x="43864" y="468"/>
                  </a:moveTo>
                  <a:cubicBezTo>
                    <a:pt x="38299" y="-1243"/>
                    <a:pt x="32401" y="1881"/>
                    <a:pt x="30690" y="7446"/>
                  </a:cubicBezTo>
                  <a:cubicBezTo>
                    <a:pt x="30651" y="7575"/>
                    <a:pt x="30614" y="7703"/>
                    <a:pt x="30579" y="7833"/>
                  </a:cubicBezTo>
                  <a:lnTo>
                    <a:pt x="398" y="114117"/>
                  </a:lnTo>
                  <a:cubicBezTo>
                    <a:pt x="-1185" y="119814"/>
                    <a:pt x="2093" y="125726"/>
                    <a:pt x="7763" y="127402"/>
                  </a:cubicBezTo>
                  <a:cubicBezTo>
                    <a:pt x="8769" y="127543"/>
                    <a:pt x="9789" y="127543"/>
                    <a:pt x="10795" y="127402"/>
                  </a:cubicBezTo>
                  <a:cubicBezTo>
                    <a:pt x="15626" y="127452"/>
                    <a:pt x="19887" y="124254"/>
                    <a:pt x="21193" y="119604"/>
                  </a:cubicBezTo>
                  <a:lnTo>
                    <a:pt x="51374" y="14043"/>
                  </a:lnTo>
                  <a:cubicBezTo>
                    <a:pt x="53157" y="8417"/>
                    <a:pt x="50042" y="2411"/>
                    <a:pt x="44416" y="627"/>
                  </a:cubicBezTo>
                  <a:cubicBezTo>
                    <a:pt x="44234" y="570"/>
                    <a:pt x="44049" y="516"/>
                    <a:pt x="43864" y="4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6125" lIns="92225" spcFirstLastPara="1" rIns="92225" wrap="square" tIns="46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362"/>
                <a:buFont typeface="Arial"/>
                <a:buNone/>
              </a:pPr>
              <a:r>
                <a:t/>
              </a:r>
              <a:endParaRPr sz="136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0"/>
            <p:cNvSpPr/>
            <p:nvPr/>
          </p:nvSpPr>
          <p:spPr>
            <a:xfrm>
              <a:off x="2813415" y="1222297"/>
              <a:ext cx="75889" cy="105534"/>
            </a:xfrm>
            <a:custGeom>
              <a:rect b="b" l="l" r="r" t="t"/>
              <a:pathLst>
                <a:path extrusionOk="0" h="105534" w="75889">
                  <a:moveTo>
                    <a:pt x="75890" y="59036"/>
                  </a:moveTo>
                  <a:cubicBezTo>
                    <a:pt x="75890" y="59036"/>
                    <a:pt x="75890" y="59036"/>
                    <a:pt x="75890" y="59036"/>
                  </a:cubicBezTo>
                  <a:lnTo>
                    <a:pt x="75890" y="59036"/>
                  </a:lnTo>
                  <a:lnTo>
                    <a:pt x="75890" y="59036"/>
                  </a:lnTo>
                  <a:lnTo>
                    <a:pt x="75890" y="58025"/>
                  </a:lnTo>
                  <a:cubicBezTo>
                    <a:pt x="75890" y="58025"/>
                    <a:pt x="75890" y="58025"/>
                    <a:pt x="75890" y="58025"/>
                  </a:cubicBezTo>
                  <a:lnTo>
                    <a:pt x="75890" y="58025"/>
                  </a:lnTo>
                  <a:lnTo>
                    <a:pt x="75890" y="54992"/>
                  </a:lnTo>
                  <a:cubicBezTo>
                    <a:pt x="75822" y="54757"/>
                    <a:pt x="75822" y="54506"/>
                    <a:pt x="75890" y="54270"/>
                  </a:cubicBezTo>
                  <a:lnTo>
                    <a:pt x="75890" y="54270"/>
                  </a:lnTo>
                  <a:cubicBezTo>
                    <a:pt x="75890" y="54270"/>
                    <a:pt x="75890" y="54270"/>
                    <a:pt x="75890" y="53548"/>
                  </a:cubicBezTo>
                  <a:lnTo>
                    <a:pt x="75890" y="52682"/>
                  </a:lnTo>
                  <a:lnTo>
                    <a:pt x="75890" y="52682"/>
                  </a:lnTo>
                  <a:lnTo>
                    <a:pt x="75890" y="52682"/>
                  </a:lnTo>
                  <a:cubicBezTo>
                    <a:pt x="75890" y="52682"/>
                    <a:pt x="75890" y="52682"/>
                    <a:pt x="75890" y="52682"/>
                  </a:cubicBezTo>
                  <a:lnTo>
                    <a:pt x="75890" y="52682"/>
                  </a:lnTo>
                  <a:cubicBezTo>
                    <a:pt x="75890" y="52682"/>
                    <a:pt x="75890" y="52682"/>
                    <a:pt x="75890" y="52682"/>
                  </a:cubicBezTo>
                  <a:lnTo>
                    <a:pt x="75890" y="52682"/>
                  </a:lnTo>
                  <a:lnTo>
                    <a:pt x="75890" y="52682"/>
                  </a:lnTo>
                  <a:lnTo>
                    <a:pt x="75890" y="52682"/>
                  </a:lnTo>
                  <a:lnTo>
                    <a:pt x="75890" y="52682"/>
                  </a:lnTo>
                  <a:lnTo>
                    <a:pt x="75890" y="52682"/>
                  </a:lnTo>
                  <a:lnTo>
                    <a:pt x="75890" y="52682"/>
                  </a:lnTo>
                  <a:lnTo>
                    <a:pt x="75890" y="52682"/>
                  </a:lnTo>
                  <a:lnTo>
                    <a:pt x="17838" y="2573"/>
                  </a:lnTo>
                  <a:cubicBezTo>
                    <a:pt x="13277" y="-1298"/>
                    <a:pt x="6443" y="-737"/>
                    <a:pt x="2573" y="3823"/>
                  </a:cubicBezTo>
                  <a:cubicBezTo>
                    <a:pt x="-1298" y="8385"/>
                    <a:pt x="-737" y="15218"/>
                    <a:pt x="3823" y="19088"/>
                  </a:cubicBezTo>
                  <a:cubicBezTo>
                    <a:pt x="4103" y="19327"/>
                    <a:pt x="4395" y="19549"/>
                    <a:pt x="4697" y="19757"/>
                  </a:cubicBezTo>
                  <a:lnTo>
                    <a:pt x="48741" y="53260"/>
                  </a:lnTo>
                  <a:lnTo>
                    <a:pt x="4697" y="86906"/>
                  </a:lnTo>
                  <a:cubicBezTo>
                    <a:pt x="398" y="90478"/>
                    <a:pt x="-477" y="96733"/>
                    <a:pt x="2675" y="101347"/>
                  </a:cubicBezTo>
                  <a:cubicBezTo>
                    <a:pt x="4705" y="103997"/>
                    <a:pt x="7856" y="105546"/>
                    <a:pt x="11195" y="105535"/>
                  </a:cubicBezTo>
                  <a:cubicBezTo>
                    <a:pt x="13581" y="105525"/>
                    <a:pt x="15904" y="104768"/>
                    <a:pt x="17838" y="103369"/>
                  </a:cubicBezTo>
                  <a:lnTo>
                    <a:pt x="73146" y="61202"/>
                  </a:lnTo>
                  <a:lnTo>
                    <a:pt x="73146" y="61202"/>
                  </a:lnTo>
                  <a:lnTo>
                    <a:pt x="73146" y="61202"/>
                  </a:lnTo>
                  <a:lnTo>
                    <a:pt x="73146" y="61202"/>
                  </a:lnTo>
                  <a:lnTo>
                    <a:pt x="73146" y="61202"/>
                  </a:lnTo>
                  <a:cubicBezTo>
                    <a:pt x="73146" y="61202"/>
                    <a:pt x="73146" y="61202"/>
                    <a:pt x="73146" y="61202"/>
                  </a:cubicBezTo>
                  <a:lnTo>
                    <a:pt x="73146" y="61202"/>
                  </a:lnTo>
                  <a:cubicBezTo>
                    <a:pt x="73146" y="61202"/>
                    <a:pt x="73146" y="61202"/>
                    <a:pt x="73146" y="612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6125" lIns="92225" spcFirstLastPara="1" rIns="92225" wrap="square" tIns="46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362"/>
                <a:buFont typeface="Arial"/>
                <a:buNone/>
              </a:pPr>
              <a:r>
                <a:t/>
              </a:r>
              <a:endParaRPr sz="136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2656664" y="1222702"/>
              <a:ext cx="72760" cy="105417"/>
            </a:xfrm>
            <a:custGeom>
              <a:rect b="b" l="l" r="r" t="t"/>
              <a:pathLst>
                <a:path extrusionOk="0" h="105417" w="72760">
                  <a:moveTo>
                    <a:pt x="70471" y="4333"/>
                  </a:moveTo>
                  <a:cubicBezTo>
                    <a:pt x="66882" y="-453"/>
                    <a:pt x="60094" y="-1422"/>
                    <a:pt x="55308" y="2167"/>
                  </a:cubicBezTo>
                  <a:lnTo>
                    <a:pt x="0" y="44478"/>
                  </a:lnTo>
                  <a:lnTo>
                    <a:pt x="0" y="44478"/>
                  </a:lnTo>
                  <a:lnTo>
                    <a:pt x="0" y="44478"/>
                  </a:lnTo>
                  <a:lnTo>
                    <a:pt x="0" y="44478"/>
                  </a:lnTo>
                  <a:lnTo>
                    <a:pt x="0" y="44478"/>
                  </a:lnTo>
                  <a:lnTo>
                    <a:pt x="0" y="44478"/>
                  </a:lnTo>
                  <a:lnTo>
                    <a:pt x="0" y="44478"/>
                  </a:lnTo>
                  <a:lnTo>
                    <a:pt x="0" y="44478"/>
                  </a:lnTo>
                  <a:lnTo>
                    <a:pt x="0" y="44478"/>
                  </a:lnTo>
                  <a:lnTo>
                    <a:pt x="0" y="44478"/>
                  </a:lnTo>
                  <a:cubicBezTo>
                    <a:pt x="0" y="44478"/>
                    <a:pt x="0" y="44478"/>
                    <a:pt x="0" y="44478"/>
                  </a:cubicBezTo>
                  <a:lnTo>
                    <a:pt x="0" y="44478"/>
                  </a:lnTo>
                  <a:lnTo>
                    <a:pt x="0" y="44478"/>
                  </a:lnTo>
                  <a:lnTo>
                    <a:pt x="0" y="45344"/>
                  </a:lnTo>
                  <a:cubicBezTo>
                    <a:pt x="0" y="45344"/>
                    <a:pt x="0" y="45344"/>
                    <a:pt x="0" y="46067"/>
                  </a:cubicBezTo>
                  <a:lnTo>
                    <a:pt x="0" y="46067"/>
                  </a:lnTo>
                  <a:cubicBezTo>
                    <a:pt x="68" y="46302"/>
                    <a:pt x="68" y="46553"/>
                    <a:pt x="0" y="46789"/>
                  </a:cubicBezTo>
                  <a:lnTo>
                    <a:pt x="0" y="49821"/>
                  </a:lnTo>
                  <a:lnTo>
                    <a:pt x="0" y="49821"/>
                  </a:lnTo>
                  <a:cubicBezTo>
                    <a:pt x="0" y="49821"/>
                    <a:pt x="0" y="49821"/>
                    <a:pt x="0" y="49821"/>
                  </a:cubicBezTo>
                  <a:lnTo>
                    <a:pt x="0" y="50832"/>
                  </a:lnTo>
                  <a:lnTo>
                    <a:pt x="0" y="50832"/>
                  </a:lnTo>
                  <a:lnTo>
                    <a:pt x="0" y="50832"/>
                  </a:lnTo>
                  <a:cubicBezTo>
                    <a:pt x="0" y="50832"/>
                    <a:pt x="0" y="50832"/>
                    <a:pt x="0" y="50832"/>
                  </a:cubicBezTo>
                  <a:lnTo>
                    <a:pt x="0" y="50832"/>
                  </a:lnTo>
                  <a:cubicBezTo>
                    <a:pt x="0" y="50832"/>
                    <a:pt x="0" y="50832"/>
                    <a:pt x="0" y="50832"/>
                  </a:cubicBezTo>
                  <a:lnTo>
                    <a:pt x="0" y="50832"/>
                  </a:lnTo>
                  <a:cubicBezTo>
                    <a:pt x="0" y="50832"/>
                    <a:pt x="0" y="50832"/>
                    <a:pt x="0" y="50832"/>
                  </a:cubicBezTo>
                  <a:lnTo>
                    <a:pt x="0" y="50832"/>
                  </a:lnTo>
                  <a:lnTo>
                    <a:pt x="0" y="50832"/>
                  </a:lnTo>
                  <a:lnTo>
                    <a:pt x="0" y="50832"/>
                  </a:lnTo>
                  <a:lnTo>
                    <a:pt x="0" y="50832"/>
                  </a:lnTo>
                  <a:lnTo>
                    <a:pt x="55308" y="103252"/>
                  </a:lnTo>
                  <a:cubicBezTo>
                    <a:pt x="57242" y="104651"/>
                    <a:pt x="59565" y="105408"/>
                    <a:pt x="61951" y="105418"/>
                  </a:cubicBezTo>
                  <a:cubicBezTo>
                    <a:pt x="65289" y="105429"/>
                    <a:pt x="68440" y="103880"/>
                    <a:pt x="70471" y="101230"/>
                  </a:cubicBezTo>
                  <a:cubicBezTo>
                    <a:pt x="73623" y="96616"/>
                    <a:pt x="72748" y="90361"/>
                    <a:pt x="68449" y="86789"/>
                  </a:cubicBezTo>
                  <a:lnTo>
                    <a:pt x="25127" y="53142"/>
                  </a:lnTo>
                  <a:lnTo>
                    <a:pt x="68449" y="19640"/>
                  </a:lnTo>
                  <a:cubicBezTo>
                    <a:pt x="73226" y="16038"/>
                    <a:pt x="74178" y="9248"/>
                    <a:pt x="70578" y="4471"/>
                  </a:cubicBezTo>
                  <a:cubicBezTo>
                    <a:pt x="70542" y="4425"/>
                    <a:pt x="70507" y="4379"/>
                    <a:pt x="70471" y="43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6125" lIns="92225" spcFirstLastPara="1" rIns="92225" wrap="square" tIns="46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2525"/>
                </a:buClr>
                <a:buSzPts val="1362"/>
                <a:buFont typeface="Arial"/>
                <a:buNone/>
              </a:pPr>
              <a:r>
                <a:t/>
              </a:r>
              <a:endParaRPr sz="136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4" name="Google Shape;294;p30"/>
          <p:cNvSpPr/>
          <p:nvPr/>
        </p:nvSpPr>
        <p:spPr>
          <a:xfrm>
            <a:off x="3024902" y="876975"/>
            <a:ext cx="3138247" cy="347958"/>
          </a:xfrm>
          <a:custGeom>
            <a:rect b="b" l="l" r="r" t="t"/>
            <a:pathLst>
              <a:path extrusionOk="0" h="973310" w="7607871">
                <a:moveTo>
                  <a:pt x="7493619" y="0"/>
                </a:moveTo>
                <a:cubicBezTo>
                  <a:pt x="7556719" y="0"/>
                  <a:pt x="7607871" y="51141"/>
                  <a:pt x="7607871" y="114227"/>
                </a:cubicBezTo>
                <a:lnTo>
                  <a:pt x="7607871" y="859083"/>
                </a:lnTo>
                <a:cubicBezTo>
                  <a:pt x="7607871" y="922169"/>
                  <a:pt x="7556719" y="973311"/>
                  <a:pt x="7493619" y="973311"/>
                </a:cubicBezTo>
                <a:lnTo>
                  <a:pt x="114252" y="973311"/>
                </a:lnTo>
                <a:cubicBezTo>
                  <a:pt x="51152" y="973311"/>
                  <a:pt x="0" y="922169"/>
                  <a:pt x="0" y="859083"/>
                </a:cubicBezTo>
                <a:lnTo>
                  <a:pt x="0" y="114227"/>
                </a:lnTo>
                <a:cubicBezTo>
                  <a:pt x="0" y="51141"/>
                  <a:pt x="51152" y="0"/>
                  <a:pt x="114252" y="0"/>
                </a:cubicBezTo>
                <a:close/>
              </a:path>
            </a:pathLst>
          </a:custGeom>
          <a:solidFill>
            <a:srgbClr val="29B5E8"/>
          </a:solidFill>
          <a:ln>
            <a:noFill/>
          </a:ln>
        </p:spPr>
        <p:txBody>
          <a:bodyPr anchorCtr="0" anchor="ctr" bIns="55275" lIns="110625" spcFirstLastPara="1" rIns="110625" wrap="square" tIns="55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77">
                <a:solidFill>
                  <a:srgbClr val="FFFFFF"/>
                </a:solidFill>
              </a:rPr>
              <a:t>    CORTEX CODE</a:t>
            </a:r>
            <a:endParaRPr b="1" sz="1477">
              <a:solidFill>
                <a:srgbClr val="FFFFFF"/>
              </a:solidFill>
            </a:endParaRPr>
          </a:p>
        </p:txBody>
      </p:sp>
      <p:sp>
        <p:nvSpPr>
          <p:cNvPr id="295" name="Google Shape;295;p30"/>
          <p:cNvSpPr/>
          <p:nvPr/>
        </p:nvSpPr>
        <p:spPr>
          <a:xfrm>
            <a:off x="3386246" y="944625"/>
            <a:ext cx="306145" cy="197114"/>
          </a:xfrm>
          <a:custGeom>
            <a:rect b="b" l="l" r="r" t="t"/>
            <a:pathLst>
              <a:path extrusionOk="0" h="350424" w="544258">
                <a:moveTo>
                  <a:pt x="515684" y="271463"/>
                </a:moveTo>
                <a:lnTo>
                  <a:pt x="515684" y="147352"/>
                </a:lnTo>
                <a:cubicBezTo>
                  <a:pt x="532162" y="142208"/>
                  <a:pt x="544259" y="127064"/>
                  <a:pt x="544259" y="108871"/>
                </a:cubicBezTo>
                <a:cubicBezTo>
                  <a:pt x="544259" y="90678"/>
                  <a:pt x="532162" y="75533"/>
                  <a:pt x="515684" y="70390"/>
                </a:cubicBezTo>
                <a:lnTo>
                  <a:pt x="515684" y="28575"/>
                </a:lnTo>
                <a:lnTo>
                  <a:pt x="280988" y="28575"/>
                </a:lnTo>
                <a:cubicBezTo>
                  <a:pt x="275844" y="12097"/>
                  <a:pt x="260699" y="0"/>
                  <a:pt x="242507" y="0"/>
                </a:cubicBezTo>
                <a:cubicBezTo>
                  <a:pt x="224314" y="0"/>
                  <a:pt x="209169" y="12097"/>
                  <a:pt x="204026" y="28575"/>
                </a:cubicBezTo>
                <a:lnTo>
                  <a:pt x="78962" y="28575"/>
                </a:lnTo>
                <a:cubicBezTo>
                  <a:pt x="73819" y="12097"/>
                  <a:pt x="58674" y="0"/>
                  <a:pt x="40481" y="0"/>
                </a:cubicBezTo>
                <a:cubicBezTo>
                  <a:pt x="18193" y="0"/>
                  <a:pt x="0" y="18193"/>
                  <a:pt x="0" y="40481"/>
                </a:cubicBezTo>
                <a:cubicBezTo>
                  <a:pt x="0" y="58198"/>
                  <a:pt x="11525" y="73152"/>
                  <a:pt x="27527" y="78581"/>
                </a:cubicBezTo>
                <a:lnTo>
                  <a:pt x="27527" y="270701"/>
                </a:lnTo>
                <a:cubicBezTo>
                  <a:pt x="11621" y="276130"/>
                  <a:pt x="0" y="291084"/>
                  <a:pt x="0" y="308801"/>
                </a:cubicBezTo>
                <a:cubicBezTo>
                  <a:pt x="0" y="331089"/>
                  <a:pt x="18193" y="349282"/>
                  <a:pt x="40481" y="349282"/>
                </a:cubicBezTo>
                <a:cubicBezTo>
                  <a:pt x="58198" y="349282"/>
                  <a:pt x="73152" y="337757"/>
                  <a:pt x="78581" y="321850"/>
                </a:cubicBezTo>
                <a:lnTo>
                  <a:pt x="465201" y="321850"/>
                </a:lnTo>
                <a:cubicBezTo>
                  <a:pt x="470345" y="338328"/>
                  <a:pt x="485489" y="350425"/>
                  <a:pt x="503682" y="350425"/>
                </a:cubicBezTo>
                <a:cubicBezTo>
                  <a:pt x="525971" y="350425"/>
                  <a:pt x="544163" y="332232"/>
                  <a:pt x="544163" y="309944"/>
                </a:cubicBezTo>
                <a:cubicBezTo>
                  <a:pt x="544163" y="291846"/>
                  <a:pt x="532067" y="276606"/>
                  <a:pt x="515588" y="271463"/>
                </a:cubicBezTo>
                <a:close/>
                <a:moveTo>
                  <a:pt x="78010" y="293656"/>
                </a:moveTo>
                <a:cubicBezTo>
                  <a:pt x="139922" y="274796"/>
                  <a:pt x="226505" y="250508"/>
                  <a:pt x="275558" y="236887"/>
                </a:cubicBezTo>
                <a:cubicBezTo>
                  <a:pt x="282131" y="250317"/>
                  <a:pt x="295847" y="259652"/>
                  <a:pt x="311753" y="259652"/>
                </a:cubicBezTo>
                <a:cubicBezTo>
                  <a:pt x="326136" y="259652"/>
                  <a:pt x="338614" y="252127"/>
                  <a:pt x="345853" y="240792"/>
                </a:cubicBezTo>
                <a:lnTo>
                  <a:pt x="468821" y="289846"/>
                </a:lnTo>
                <a:cubicBezTo>
                  <a:pt x="467392" y="292418"/>
                  <a:pt x="466249" y="295085"/>
                  <a:pt x="465296" y="297942"/>
                </a:cubicBezTo>
                <a:lnTo>
                  <a:pt x="79343" y="297942"/>
                </a:lnTo>
                <a:cubicBezTo>
                  <a:pt x="78962" y="296513"/>
                  <a:pt x="78581" y="294989"/>
                  <a:pt x="78010" y="293561"/>
                </a:cubicBezTo>
                <a:close/>
                <a:moveTo>
                  <a:pt x="63532" y="73724"/>
                </a:moveTo>
                <a:lnTo>
                  <a:pt x="124492" y="148114"/>
                </a:lnTo>
                <a:cubicBezTo>
                  <a:pt x="118491" y="155162"/>
                  <a:pt x="114681" y="164211"/>
                  <a:pt x="114681" y="174212"/>
                </a:cubicBezTo>
                <a:cubicBezTo>
                  <a:pt x="114681" y="184214"/>
                  <a:pt x="118301" y="192786"/>
                  <a:pt x="124016" y="199739"/>
                </a:cubicBezTo>
                <a:lnTo>
                  <a:pt x="60770" y="273939"/>
                </a:lnTo>
                <a:cubicBezTo>
                  <a:pt x="57817" y="272225"/>
                  <a:pt x="54769" y="270891"/>
                  <a:pt x="51435" y="270034"/>
                </a:cubicBezTo>
                <a:lnTo>
                  <a:pt x="51435" y="79248"/>
                </a:lnTo>
                <a:cubicBezTo>
                  <a:pt x="55816" y="78010"/>
                  <a:pt x="59912" y="76200"/>
                  <a:pt x="63532" y="73724"/>
                </a:cubicBezTo>
                <a:close/>
                <a:moveTo>
                  <a:pt x="214789" y="69818"/>
                </a:moveTo>
                <a:lnTo>
                  <a:pt x="170879" y="137065"/>
                </a:lnTo>
                <a:cubicBezTo>
                  <a:pt x="166021" y="134969"/>
                  <a:pt x="160687" y="133826"/>
                  <a:pt x="155067" y="133826"/>
                </a:cubicBezTo>
                <a:cubicBezTo>
                  <a:pt x="147923" y="133826"/>
                  <a:pt x="141351" y="135827"/>
                  <a:pt x="135446" y="139065"/>
                </a:cubicBezTo>
                <a:lnTo>
                  <a:pt x="73628" y="63532"/>
                </a:lnTo>
                <a:cubicBezTo>
                  <a:pt x="76010" y="60198"/>
                  <a:pt x="77724" y="56388"/>
                  <a:pt x="78962" y="52292"/>
                </a:cubicBezTo>
                <a:lnTo>
                  <a:pt x="204026" y="52292"/>
                </a:lnTo>
                <a:cubicBezTo>
                  <a:pt x="206121" y="59055"/>
                  <a:pt x="209836" y="64960"/>
                  <a:pt x="214789" y="69723"/>
                </a:cubicBezTo>
                <a:close/>
                <a:moveTo>
                  <a:pt x="242507" y="80963"/>
                </a:moveTo>
                <a:cubicBezTo>
                  <a:pt x="254318" y="80963"/>
                  <a:pt x="264890" y="75724"/>
                  <a:pt x="272320" y="67628"/>
                </a:cubicBezTo>
                <a:lnTo>
                  <a:pt x="314325" y="93917"/>
                </a:lnTo>
                <a:cubicBezTo>
                  <a:pt x="312420" y="98584"/>
                  <a:pt x="311372" y="103632"/>
                  <a:pt x="311372" y="108966"/>
                </a:cubicBezTo>
                <a:cubicBezTo>
                  <a:pt x="311372" y="122111"/>
                  <a:pt x="317754" y="133731"/>
                  <a:pt x="327565" y="141065"/>
                </a:cubicBezTo>
                <a:lnTo>
                  <a:pt x="313849" y="179070"/>
                </a:lnTo>
                <a:cubicBezTo>
                  <a:pt x="313182" y="179070"/>
                  <a:pt x="312515" y="178880"/>
                  <a:pt x="311849" y="178880"/>
                </a:cubicBezTo>
                <a:cubicBezTo>
                  <a:pt x="295847" y="178880"/>
                  <a:pt x="282131" y="188309"/>
                  <a:pt x="275558" y="201739"/>
                </a:cubicBezTo>
                <a:lnTo>
                  <a:pt x="195167" y="178499"/>
                </a:lnTo>
                <a:cubicBezTo>
                  <a:pt x="195358" y="177070"/>
                  <a:pt x="195548" y="175736"/>
                  <a:pt x="195548" y="174308"/>
                </a:cubicBezTo>
                <a:cubicBezTo>
                  <a:pt x="195548" y="162782"/>
                  <a:pt x="190595" y="152400"/>
                  <a:pt x="182785" y="144971"/>
                </a:cubicBezTo>
                <a:lnTo>
                  <a:pt x="226695" y="77724"/>
                </a:lnTo>
                <a:cubicBezTo>
                  <a:pt x="231553" y="79820"/>
                  <a:pt x="236887" y="80963"/>
                  <a:pt x="242507" y="80963"/>
                </a:cubicBezTo>
                <a:close/>
                <a:moveTo>
                  <a:pt x="464058" y="116015"/>
                </a:moveTo>
                <a:cubicBezTo>
                  <a:pt x="464439" y="118301"/>
                  <a:pt x="465106" y="120396"/>
                  <a:pt x="465868" y="122492"/>
                </a:cubicBezTo>
                <a:lnTo>
                  <a:pt x="342805" y="193453"/>
                </a:lnTo>
                <a:cubicBezTo>
                  <a:pt x="340900" y="191072"/>
                  <a:pt x="338709" y="188976"/>
                  <a:pt x="336233" y="187166"/>
                </a:cubicBezTo>
                <a:lnTo>
                  <a:pt x="350044" y="149162"/>
                </a:lnTo>
                <a:cubicBezTo>
                  <a:pt x="350711" y="149162"/>
                  <a:pt x="351282" y="149352"/>
                  <a:pt x="351949" y="149352"/>
                </a:cubicBezTo>
                <a:cubicBezTo>
                  <a:pt x="371761" y="149352"/>
                  <a:pt x="388239" y="134969"/>
                  <a:pt x="391668" y="116015"/>
                </a:cubicBezTo>
                <a:lnTo>
                  <a:pt x="464058" y="116015"/>
                </a:lnTo>
                <a:close/>
                <a:moveTo>
                  <a:pt x="478631" y="278511"/>
                </a:moveTo>
                <a:lnTo>
                  <a:pt x="351377" y="227743"/>
                </a:lnTo>
                <a:cubicBezTo>
                  <a:pt x="351949" y="224981"/>
                  <a:pt x="352330" y="222218"/>
                  <a:pt x="352330" y="219265"/>
                </a:cubicBezTo>
                <a:cubicBezTo>
                  <a:pt x="352330" y="214503"/>
                  <a:pt x="351377" y="210026"/>
                  <a:pt x="349853" y="205740"/>
                </a:cubicBezTo>
                <a:lnTo>
                  <a:pt x="473107" y="134874"/>
                </a:lnTo>
                <a:cubicBezTo>
                  <a:pt x="478060" y="140684"/>
                  <a:pt x="484537" y="145066"/>
                  <a:pt x="491966" y="147352"/>
                </a:cubicBezTo>
                <a:lnTo>
                  <a:pt x="491966" y="271463"/>
                </a:lnTo>
                <a:cubicBezTo>
                  <a:pt x="487109" y="272987"/>
                  <a:pt x="482632" y="275368"/>
                  <a:pt x="478727" y="278511"/>
                </a:cubicBezTo>
                <a:close/>
                <a:moveTo>
                  <a:pt x="134779" y="209074"/>
                </a:moveTo>
                <a:cubicBezTo>
                  <a:pt x="140780" y="212598"/>
                  <a:pt x="147638" y="214789"/>
                  <a:pt x="155067" y="214789"/>
                </a:cubicBezTo>
                <a:cubicBezTo>
                  <a:pt x="170974" y="214789"/>
                  <a:pt x="184594" y="205550"/>
                  <a:pt x="191167" y="192214"/>
                </a:cubicBezTo>
                <a:lnTo>
                  <a:pt x="271653" y="215456"/>
                </a:lnTo>
                <a:cubicBezTo>
                  <a:pt x="271558" y="216694"/>
                  <a:pt x="271272" y="217932"/>
                  <a:pt x="271272" y="219265"/>
                </a:cubicBezTo>
                <a:cubicBezTo>
                  <a:pt x="271272" y="220599"/>
                  <a:pt x="271558" y="221933"/>
                  <a:pt x="271653" y="223266"/>
                </a:cubicBezTo>
                <a:cubicBezTo>
                  <a:pt x="222599" y="236887"/>
                  <a:pt x="136493" y="260985"/>
                  <a:pt x="74486" y="279845"/>
                </a:cubicBezTo>
                <a:lnTo>
                  <a:pt x="134779" y="209074"/>
                </a:lnTo>
                <a:close/>
                <a:moveTo>
                  <a:pt x="503777" y="125540"/>
                </a:moveTo>
                <a:cubicBezTo>
                  <a:pt x="494633" y="125540"/>
                  <a:pt x="487109" y="118110"/>
                  <a:pt x="487109" y="108871"/>
                </a:cubicBezTo>
                <a:cubicBezTo>
                  <a:pt x="487109" y="99632"/>
                  <a:pt x="494538" y="92202"/>
                  <a:pt x="503777" y="92202"/>
                </a:cubicBezTo>
                <a:cubicBezTo>
                  <a:pt x="513017" y="92202"/>
                  <a:pt x="520446" y="99632"/>
                  <a:pt x="520446" y="108871"/>
                </a:cubicBezTo>
                <a:cubicBezTo>
                  <a:pt x="520446" y="118110"/>
                  <a:pt x="513017" y="125540"/>
                  <a:pt x="503777" y="125540"/>
                </a:cubicBezTo>
                <a:close/>
                <a:moveTo>
                  <a:pt x="491871" y="70390"/>
                </a:moveTo>
                <a:cubicBezTo>
                  <a:pt x="477584" y="74867"/>
                  <a:pt x="466725" y="86773"/>
                  <a:pt x="464058" y="101727"/>
                </a:cubicBezTo>
                <a:lnTo>
                  <a:pt x="391668" y="101727"/>
                </a:lnTo>
                <a:cubicBezTo>
                  <a:pt x="388239" y="82868"/>
                  <a:pt x="371761" y="68390"/>
                  <a:pt x="351949" y="68390"/>
                </a:cubicBezTo>
                <a:cubicBezTo>
                  <a:pt x="340138" y="68390"/>
                  <a:pt x="329470" y="73628"/>
                  <a:pt x="322136" y="81725"/>
                </a:cubicBezTo>
                <a:lnTo>
                  <a:pt x="280130" y="55435"/>
                </a:lnTo>
                <a:cubicBezTo>
                  <a:pt x="280511" y="54388"/>
                  <a:pt x="280797" y="53340"/>
                  <a:pt x="281083" y="52292"/>
                </a:cubicBezTo>
                <a:lnTo>
                  <a:pt x="491966" y="52292"/>
                </a:lnTo>
                <a:lnTo>
                  <a:pt x="491966" y="70295"/>
                </a:lnTo>
                <a:close/>
                <a:moveTo>
                  <a:pt x="242507" y="23908"/>
                </a:moveTo>
                <a:cubicBezTo>
                  <a:pt x="251651" y="23908"/>
                  <a:pt x="259175" y="31337"/>
                  <a:pt x="259175" y="40577"/>
                </a:cubicBezTo>
                <a:cubicBezTo>
                  <a:pt x="259175" y="49816"/>
                  <a:pt x="251746" y="57245"/>
                  <a:pt x="242507" y="57245"/>
                </a:cubicBezTo>
                <a:cubicBezTo>
                  <a:pt x="233267" y="57245"/>
                  <a:pt x="225838" y="49816"/>
                  <a:pt x="225838" y="40577"/>
                </a:cubicBezTo>
                <a:cubicBezTo>
                  <a:pt x="225838" y="31337"/>
                  <a:pt x="233267" y="23908"/>
                  <a:pt x="242507" y="23908"/>
                </a:cubicBezTo>
                <a:close/>
                <a:moveTo>
                  <a:pt x="40577" y="23908"/>
                </a:moveTo>
                <a:cubicBezTo>
                  <a:pt x="49721" y="23908"/>
                  <a:pt x="57245" y="31337"/>
                  <a:pt x="57245" y="40577"/>
                </a:cubicBezTo>
                <a:cubicBezTo>
                  <a:pt x="57245" y="49816"/>
                  <a:pt x="49816" y="57245"/>
                  <a:pt x="40577" y="57245"/>
                </a:cubicBezTo>
                <a:cubicBezTo>
                  <a:pt x="31337" y="57245"/>
                  <a:pt x="23908" y="49816"/>
                  <a:pt x="23908" y="40577"/>
                </a:cubicBezTo>
                <a:cubicBezTo>
                  <a:pt x="23908" y="31337"/>
                  <a:pt x="31337" y="23908"/>
                  <a:pt x="40577" y="23908"/>
                </a:cubicBezTo>
                <a:close/>
                <a:moveTo>
                  <a:pt x="40577" y="325469"/>
                </a:moveTo>
                <a:cubicBezTo>
                  <a:pt x="31433" y="325469"/>
                  <a:pt x="23908" y="318040"/>
                  <a:pt x="23908" y="308801"/>
                </a:cubicBezTo>
                <a:cubicBezTo>
                  <a:pt x="23908" y="299561"/>
                  <a:pt x="31337" y="292132"/>
                  <a:pt x="40577" y="292132"/>
                </a:cubicBezTo>
                <a:cubicBezTo>
                  <a:pt x="49816" y="292132"/>
                  <a:pt x="57245" y="299561"/>
                  <a:pt x="57245" y="308801"/>
                </a:cubicBezTo>
                <a:cubicBezTo>
                  <a:pt x="57245" y="318040"/>
                  <a:pt x="49816" y="325469"/>
                  <a:pt x="40577" y="3254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1"/>
          <p:cNvSpPr txBox="1"/>
          <p:nvPr>
            <p:ph type="title"/>
          </p:nvPr>
        </p:nvSpPr>
        <p:spPr>
          <a:xfrm>
            <a:off x="365750" y="274323"/>
            <a:ext cx="8344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400"/>
              <a:t>What Have Cortex Code Achieved in this Project?</a:t>
            </a:r>
            <a:endParaRPr sz="2400"/>
          </a:p>
        </p:txBody>
      </p:sp>
      <p:pic>
        <p:nvPicPr>
          <p:cNvPr id="301" name="Google Shape;30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5" y="1983519"/>
            <a:ext cx="8969597" cy="128003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1"/>
          <p:cNvSpPr txBox="1"/>
          <p:nvPr/>
        </p:nvSpPr>
        <p:spPr>
          <a:xfrm>
            <a:off x="831775" y="1196750"/>
            <a:ext cx="769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16,074 total lines of code </a:t>
            </a:r>
            <a:endParaRPr b="1" sz="18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31"/>
          <p:cNvSpPr txBox="1"/>
          <p:nvPr/>
        </p:nvSpPr>
        <p:spPr>
          <a:xfrm>
            <a:off x="831775" y="3263550"/>
            <a:ext cx="2761800" cy="14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Language	Lines</a:t>
            </a:r>
            <a:endParaRPr b="1" sz="18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TypeScript	492</a:t>
            </a:r>
            <a:endParaRPr b="1" sz="18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TSX (React)	845</a:t>
            </a:r>
            <a:endParaRPr b="1" sz="18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Python	1,506</a:t>
            </a:r>
            <a:endParaRPr b="1" sz="18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SQL	1,123</a:t>
            </a:r>
            <a:endParaRPr b="1" sz="18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31"/>
          <p:cNvSpPr txBox="1"/>
          <p:nvPr/>
        </p:nvSpPr>
        <p:spPr>
          <a:xfrm>
            <a:off x="4912374" y="3293200"/>
            <a:ext cx="3872100" cy="14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Language	Lines</a:t>
            </a:r>
            <a:endParaRPr b="1" sz="18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HTML	868</a:t>
            </a:r>
            <a:endParaRPr b="1" sz="18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CSS	333</a:t>
            </a:r>
            <a:endParaRPr b="1" sz="18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YAML	260</a:t>
            </a:r>
            <a:endParaRPr b="1" sz="18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Config/JSON/JS/Shell	10,801</a:t>
            </a:r>
            <a:endParaRPr b="1" sz="18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31"/>
          <p:cNvSpPr txBox="1"/>
          <p:nvPr/>
        </p:nvSpPr>
        <p:spPr>
          <a:xfrm>
            <a:off x="6716430" y="4799752"/>
            <a:ext cx="466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Built with ✨ Cortex Code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5" y="1983519"/>
            <a:ext cx="8969597" cy="128003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2"/>
          <p:cNvSpPr txBox="1"/>
          <p:nvPr/>
        </p:nvSpPr>
        <p:spPr>
          <a:xfrm>
            <a:off x="457200" y="194344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We Built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2" name="Google Shape;312;p32"/>
          <p:cNvSpPr txBox="1"/>
          <p:nvPr/>
        </p:nvSpPr>
        <p:spPr>
          <a:xfrm>
            <a:off x="457200" y="687058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Five components · one Snowflake account · zero external infrastructure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3" name="Google Shape;313;p32"/>
          <p:cNvSpPr/>
          <p:nvPr/>
        </p:nvSpPr>
        <p:spPr>
          <a:xfrm>
            <a:off x="274325" y="1024125"/>
            <a:ext cx="1627500" cy="32529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2"/>
          <p:cNvSpPr/>
          <p:nvPr/>
        </p:nvSpPr>
        <p:spPr>
          <a:xfrm>
            <a:off x="274320" y="1024128"/>
            <a:ext cx="1627500" cy="54900"/>
          </a:xfrm>
          <a:prstGeom prst="roundRect">
            <a:avLst>
              <a:gd fmla="val 5000" name="adj"/>
            </a:avLst>
          </a:prstGeom>
          <a:solidFill>
            <a:srgbClr val="FF9F3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2"/>
          <p:cNvSpPr txBox="1"/>
          <p:nvPr/>
        </p:nvSpPr>
        <p:spPr>
          <a:xfrm>
            <a:off x="411480" y="1133856"/>
            <a:ext cx="13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🎮  Game on SPCS</a:t>
            </a:r>
            <a:endParaRPr/>
          </a:p>
        </p:txBody>
      </p:sp>
      <p:sp>
        <p:nvSpPr>
          <p:cNvPr id="316" name="Google Shape;316;p32"/>
          <p:cNvSpPr txBox="1"/>
          <p:nvPr/>
        </p:nvSpPr>
        <p:spPr>
          <a:xfrm>
            <a:off x="411480" y="1527048"/>
            <a:ext cx="13533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HTML5 Super Mario in a Docker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container with public ingress,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authentication, and auto-resume</a:t>
            </a:r>
            <a:endParaRPr/>
          </a:p>
        </p:txBody>
      </p:sp>
      <p:sp>
        <p:nvSpPr>
          <p:cNvPr id="317" name="Google Shape;317;p32"/>
          <p:cNvSpPr/>
          <p:nvPr/>
        </p:nvSpPr>
        <p:spPr>
          <a:xfrm>
            <a:off x="1993400" y="1024125"/>
            <a:ext cx="1605300" cy="32529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2"/>
          <p:cNvSpPr/>
          <p:nvPr/>
        </p:nvSpPr>
        <p:spPr>
          <a:xfrm>
            <a:off x="1993391" y="1024128"/>
            <a:ext cx="1627500" cy="54900"/>
          </a:xfrm>
          <a:prstGeom prst="roundRect">
            <a:avLst>
              <a:gd fmla="val 5000" name="adj"/>
            </a:avLst>
          </a:prstGeom>
          <a:solidFill>
            <a:srgbClr val="71D3D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2"/>
          <p:cNvSpPr txBox="1"/>
          <p:nvPr/>
        </p:nvSpPr>
        <p:spPr>
          <a:xfrm>
            <a:off x="2130551" y="1133856"/>
            <a:ext cx="13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📡  Telemetry Pipeline</a:t>
            </a:r>
            <a:endParaRPr/>
          </a:p>
        </p:txBody>
      </p:sp>
      <p:sp>
        <p:nvSpPr>
          <p:cNvPr id="320" name="Google Shape;320;p32"/>
          <p:cNvSpPr txBox="1"/>
          <p:nvPr/>
        </p:nvSpPr>
        <p:spPr>
          <a:xfrm>
            <a:off x="2130551" y="1527048"/>
            <a:ext cx="13533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Browser JS → nginx → Python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sidecar → OpenTelemetry OTLP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gRPC → SPCS Event Table</a:t>
            </a:r>
            <a:endParaRPr/>
          </a:p>
        </p:txBody>
      </p:sp>
      <p:sp>
        <p:nvSpPr>
          <p:cNvPr id="321" name="Google Shape;321;p32"/>
          <p:cNvSpPr/>
          <p:nvPr/>
        </p:nvSpPr>
        <p:spPr>
          <a:xfrm>
            <a:off x="3712474" y="1024125"/>
            <a:ext cx="1578000" cy="32529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2"/>
          <p:cNvSpPr/>
          <p:nvPr/>
        </p:nvSpPr>
        <p:spPr>
          <a:xfrm>
            <a:off x="3712463" y="1024128"/>
            <a:ext cx="1627500" cy="54900"/>
          </a:xfrm>
          <a:prstGeom prst="roundRect">
            <a:avLst>
              <a:gd fmla="val 5000" name="adj"/>
            </a:avLst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2"/>
          <p:cNvSpPr txBox="1"/>
          <p:nvPr/>
        </p:nvSpPr>
        <p:spPr>
          <a:xfrm>
            <a:off x="3849623" y="1133856"/>
            <a:ext cx="13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⚡  Interactive Tables</a:t>
            </a:r>
            <a:endParaRPr/>
          </a:p>
        </p:txBody>
      </p:sp>
      <p:sp>
        <p:nvSpPr>
          <p:cNvPr id="324" name="Google Shape;324;p32"/>
          <p:cNvSpPr txBox="1"/>
          <p:nvPr/>
        </p:nvSpPr>
        <p:spPr>
          <a:xfrm>
            <a:off x="3849623" y="1527048"/>
            <a:ext cx="13533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6 live tables at 1-min lag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Interactive Warehouse (IWH)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sub-second query latency</a:t>
            </a:r>
            <a:endParaRPr/>
          </a:p>
        </p:txBody>
      </p:sp>
      <p:sp>
        <p:nvSpPr>
          <p:cNvPr id="325" name="Google Shape;325;p32"/>
          <p:cNvSpPr/>
          <p:nvPr/>
        </p:nvSpPr>
        <p:spPr>
          <a:xfrm>
            <a:off x="5431525" y="1024125"/>
            <a:ext cx="1578000" cy="32529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2"/>
          <p:cNvSpPr/>
          <p:nvPr/>
        </p:nvSpPr>
        <p:spPr>
          <a:xfrm>
            <a:off x="5431536" y="1024128"/>
            <a:ext cx="1627500" cy="54900"/>
          </a:xfrm>
          <a:prstGeom prst="roundRect">
            <a:avLst>
              <a:gd fmla="val 5000" name="adj"/>
            </a:avLst>
          </a:prstGeom>
          <a:solidFill>
            <a:srgbClr val="D45B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2"/>
          <p:cNvSpPr txBox="1"/>
          <p:nvPr/>
        </p:nvSpPr>
        <p:spPr>
          <a:xfrm>
            <a:off x="5568696" y="1133856"/>
            <a:ext cx="135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🤖  Cortex AI</a:t>
            </a:r>
            <a:endParaRPr/>
          </a:p>
        </p:txBody>
      </p:sp>
      <p:sp>
        <p:nvSpPr>
          <p:cNvPr id="328" name="Google Shape;328;p32"/>
          <p:cNvSpPr txBox="1"/>
          <p:nvPr/>
        </p:nvSpPr>
        <p:spPr>
          <a:xfrm>
            <a:off x="5568696" y="1527048"/>
            <a:ext cx="13533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Semantic View + 10 VQRs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FastGen-generated queries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Cortex Agent for NL analytics</a:t>
            </a:r>
            <a:endParaRPr/>
          </a:p>
        </p:txBody>
      </p:sp>
      <p:sp>
        <p:nvSpPr>
          <p:cNvPr id="329" name="Google Shape;329;p32"/>
          <p:cNvSpPr/>
          <p:nvPr/>
        </p:nvSpPr>
        <p:spPr>
          <a:xfrm>
            <a:off x="7150600" y="1024125"/>
            <a:ext cx="1578000" cy="32529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2"/>
          <p:cNvSpPr/>
          <p:nvPr/>
        </p:nvSpPr>
        <p:spPr>
          <a:xfrm>
            <a:off x="7150607" y="1024128"/>
            <a:ext cx="1627500" cy="54900"/>
          </a:xfrm>
          <a:prstGeom prst="roundRect">
            <a:avLst>
              <a:gd fmla="val 5000" name="adj"/>
            </a:avLst>
          </a:prstGeom>
          <a:solidFill>
            <a:srgbClr val="FF9F3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2"/>
          <p:cNvSpPr txBox="1"/>
          <p:nvPr/>
        </p:nvSpPr>
        <p:spPr>
          <a:xfrm>
            <a:off x="7287767" y="1133856"/>
            <a:ext cx="135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📊  Dashboards</a:t>
            </a:r>
            <a:endParaRPr/>
          </a:p>
        </p:txBody>
      </p:sp>
      <p:sp>
        <p:nvSpPr>
          <p:cNvPr id="332" name="Google Shape;332;p32"/>
          <p:cNvSpPr txBox="1"/>
          <p:nvPr/>
        </p:nvSpPr>
        <p:spPr>
          <a:xfrm>
            <a:off x="7287767" y="1527048"/>
            <a:ext cx="13533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Streamlit SiS + React Next.js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Leaderboard, metrics, events,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animated data pipeline tab</a:t>
            </a:r>
            <a:endParaRPr/>
          </a:p>
        </p:txBody>
      </p:sp>
      <p:sp>
        <p:nvSpPr>
          <p:cNvPr id="333" name="Google Shape;333;p32"/>
          <p:cNvSpPr txBox="1"/>
          <p:nvPr/>
        </p:nvSpPr>
        <p:spPr>
          <a:xfrm>
            <a:off x="5031200" y="4427322"/>
            <a:ext cx="8229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data stays in Snowflake · No external APIs · No extra accounts needed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4" name="Google Shape;334;p32"/>
          <p:cNvSpPr txBox="1"/>
          <p:nvPr/>
        </p:nvSpPr>
        <p:spPr>
          <a:xfrm>
            <a:off x="6716430" y="4799752"/>
            <a:ext cx="466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Built with ✨ Cortex Code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5" y="1983519"/>
            <a:ext cx="8969597" cy="1280036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3"/>
          <p:cNvSpPr txBox="1"/>
          <p:nvPr/>
        </p:nvSpPr>
        <p:spPr>
          <a:xfrm>
            <a:off x="457200" y="256032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1" name="Google Shape;341;p33"/>
          <p:cNvSpPr txBox="1"/>
          <p:nvPr/>
        </p:nvSpPr>
        <p:spPr>
          <a:xfrm>
            <a:off x="457200" y="82296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Browser → SPCS Container → Event Table → Interactive Tables → Dashboards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2" name="Google Shape;342;p33"/>
          <p:cNvSpPr/>
          <p:nvPr/>
        </p:nvSpPr>
        <p:spPr>
          <a:xfrm>
            <a:off x="164592" y="1097280"/>
            <a:ext cx="1417200" cy="10059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3"/>
          <p:cNvSpPr/>
          <p:nvPr/>
        </p:nvSpPr>
        <p:spPr>
          <a:xfrm>
            <a:off x="164592" y="1097280"/>
            <a:ext cx="1417200" cy="45600"/>
          </a:xfrm>
          <a:prstGeom prst="roundRect">
            <a:avLst>
              <a:gd fmla="val 4000" name="adj"/>
            </a:avLst>
          </a:prstGeom>
          <a:solidFill>
            <a:srgbClr val="71D3D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3"/>
          <p:cNvSpPr txBox="1"/>
          <p:nvPr/>
        </p:nvSpPr>
        <p:spPr>
          <a:xfrm>
            <a:off x="256032" y="1188720"/>
            <a:ext cx="1234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🌐  Browser</a:t>
            </a:r>
            <a:endParaRPr/>
          </a:p>
        </p:txBody>
      </p:sp>
      <p:sp>
        <p:nvSpPr>
          <p:cNvPr id="345" name="Google Shape;345;p33"/>
          <p:cNvSpPr txBox="1"/>
          <p:nvPr/>
        </p:nvSpPr>
        <p:spPr>
          <a:xfrm>
            <a:off x="256032" y="1536192"/>
            <a:ext cx="1234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telemetry.js</a:t>
            </a:r>
            <a:endParaRPr/>
          </a:p>
        </p:txBody>
      </p:sp>
      <p:sp>
        <p:nvSpPr>
          <p:cNvPr id="346" name="Google Shape;346;p33"/>
          <p:cNvSpPr/>
          <p:nvPr/>
        </p:nvSpPr>
        <p:spPr>
          <a:xfrm>
            <a:off x="1828800" y="1097280"/>
            <a:ext cx="1417200" cy="10059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3"/>
          <p:cNvSpPr/>
          <p:nvPr/>
        </p:nvSpPr>
        <p:spPr>
          <a:xfrm>
            <a:off x="1828800" y="1097280"/>
            <a:ext cx="1417200" cy="45600"/>
          </a:xfrm>
          <a:prstGeom prst="roundRect">
            <a:avLst>
              <a:gd fmla="val 4000" name="adj"/>
            </a:avLst>
          </a:prstGeom>
          <a:solidFill>
            <a:srgbClr val="FF9F3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3"/>
          <p:cNvSpPr txBox="1"/>
          <p:nvPr/>
        </p:nvSpPr>
        <p:spPr>
          <a:xfrm>
            <a:off x="1920240" y="1188720"/>
            <a:ext cx="123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🔐  SPCS Ingress</a:t>
            </a:r>
            <a:endParaRPr/>
          </a:p>
        </p:txBody>
      </p:sp>
      <p:sp>
        <p:nvSpPr>
          <p:cNvPr id="349" name="Google Shape;349;p33"/>
          <p:cNvSpPr txBox="1"/>
          <p:nvPr/>
        </p:nvSpPr>
        <p:spPr>
          <a:xfrm>
            <a:off x="1920240" y="1536192"/>
            <a:ext cx="123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injects user header</a:t>
            </a:r>
            <a:endParaRPr/>
          </a:p>
        </p:txBody>
      </p:sp>
      <p:sp>
        <p:nvSpPr>
          <p:cNvPr id="350" name="Google Shape;350;p33"/>
          <p:cNvSpPr/>
          <p:nvPr/>
        </p:nvSpPr>
        <p:spPr>
          <a:xfrm>
            <a:off x="3493008" y="1097280"/>
            <a:ext cx="1417200" cy="10059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3"/>
          <p:cNvSpPr/>
          <p:nvPr/>
        </p:nvSpPr>
        <p:spPr>
          <a:xfrm>
            <a:off x="3493008" y="1097280"/>
            <a:ext cx="1417200" cy="45600"/>
          </a:xfrm>
          <a:prstGeom prst="roundRect">
            <a:avLst>
              <a:gd fmla="val 4000" name="adj"/>
            </a:avLst>
          </a:prstGeom>
          <a:solidFill>
            <a:srgbClr val="29B5E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3"/>
          <p:cNvSpPr txBox="1"/>
          <p:nvPr/>
        </p:nvSpPr>
        <p:spPr>
          <a:xfrm>
            <a:off x="3584448" y="1188720"/>
            <a:ext cx="123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⚙️  nginx :8080</a:t>
            </a:r>
            <a:endParaRPr/>
          </a:p>
        </p:txBody>
      </p:sp>
      <p:sp>
        <p:nvSpPr>
          <p:cNvPr id="353" name="Google Shape;353;p33"/>
          <p:cNvSpPr txBox="1"/>
          <p:nvPr/>
        </p:nvSpPr>
        <p:spPr>
          <a:xfrm>
            <a:off x="3584448" y="1536192"/>
            <a:ext cx="1234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routes traffic</a:t>
            </a:r>
            <a:endParaRPr/>
          </a:p>
        </p:txBody>
      </p:sp>
      <p:sp>
        <p:nvSpPr>
          <p:cNvPr id="354" name="Google Shape;354;p33"/>
          <p:cNvSpPr/>
          <p:nvPr/>
        </p:nvSpPr>
        <p:spPr>
          <a:xfrm>
            <a:off x="3493008" y="2468880"/>
            <a:ext cx="1417200" cy="9144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3"/>
          <p:cNvSpPr/>
          <p:nvPr/>
        </p:nvSpPr>
        <p:spPr>
          <a:xfrm>
            <a:off x="3493008" y="2468880"/>
            <a:ext cx="1417200" cy="45600"/>
          </a:xfrm>
          <a:prstGeom prst="roundRect">
            <a:avLst>
              <a:gd fmla="val 4000" name="adj"/>
            </a:avLst>
          </a:prstGeom>
          <a:solidFill>
            <a:srgbClr val="D45B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3"/>
          <p:cNvSpPr txBox="1"/>
          <p:nvPr/>
        </p:nvSpPr>
        <p:spPr>
          <a:xfrm>
            <a:off x="3584448" y="2560320"/>
            <a:ext cx="123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🐱  Tomcat :8888</a:t>
            </a:r>
            <a:endParaRPr/>
          </a:p>
        </p:txBody>
      </p:sp>
      <p:sp>
        <p:nvSpPr>
          <p:cNvPr id="357" name="Google Shape;357;p33"/>
          <p:cNvSpPr txBox="1"/>
          <p:nvPr/>
        </p:nvSpPr>
        <p:spPr>
          <a:xfrm>
            <a:off x="3584448" y="2907792"/>
            <a:ext cx="1234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game server</a:t>
            </a:r>
            <a:endParaRPr/>
          </a:p>
        </p:txBody>
      </p:sp>
      <p:sp>
        <p:nvSpPr>
          <p:cNvPr id="358" name="Google Shape;358;p33"/>
          <p:cNvSpPr/>
          <p:nvPr/>
        </p:nvSpPr>
        <p:spPr>
          <a:xfrm>
            <a:off x="5193792" y="1097280"/>
            <a:ext cx="1481400" cy="10059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3"/>
          <p:cNvSpPr/>
          <p:nvPr/>
        </p:nvSpPr>
        <p:spPr>
          <a:xfrm>
            <a:off x="5193792" y="1097280"/>
            <a:ext cx="1481400" cy="45600"/>
          </a:xfrm>
          <a:prstGeom prst="roundRect">
            <a:avLst>
              <a:gd fmla="val 4000" name="adj"/>
            </a:avLst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3"/>
          <p:cNvSpPr txBox="1"/>
          <p:nvPr/>
        </p:nvSpPr>
        <p:spPr>
          <a:xfrm>
            <a:off x="5285232" y="1188720"/>
            <a:ext cx="129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🐍  Python Sidecar</a:t>
            </a:r>
            <a:endParaRPr/>
          </a:p>
        </p:txBody>
      </p:sp>
      <p:sp>
        <p:nvSpPr>
          <p:cNvPr id="361" name="Google Shape;361;p33"/>
          <p:cNvSpPr txBox="1"/>
          <p:nvPr/>
        </p:nvSpPr>
        <p:spPr>
          <a:xfrm>
            <a:off x="5285232" y="1536192"/>
            <a:ext cx="1298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OTel :9090</a:t>
            </a:r>
            <a:endParaRPr/>
          </a:p>
        </p:txBody>
      </p:sp>
      <p:sp>
        <p:nvSpPr>
          <p:cNvPr id="362" name="Google Shape;362;p33"/>
          <p:cNvSpPr/>
          <p:nvPr/>
        </p:nvSpPr>
        <p:spPr>
          <a:xfrm>
            <a:off x="6949440" y="1097280"/>
            <a:ext cx="1938600" cy="10059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3"/>
          <p:cNvSpPr/>
          <p:nvPr/>
        </p:nvSpPr>
        <p:spPr>
          <a:xfrm>
            <a:off x="6949440" y="1097280"/>
            <a:ext cx="1938600" cy="45600"/>
          </a:xfrm>
          <a:prstGeom prst="roundRect">
            <a:avLst>
              <a:gd fmla="val 4000" name="adj"/>
            </a:avLst>
          </a:prstGeom>
          <a:solidFill>
            <a:srgbClr val="71D3D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3"/>
          <p:cNvSpPr txBox="1"/>
          <p:nvPr/>
        </p:nvSpPr>
        <p:spPr>
          <a:xfrm>
            <a:off x="7040880" y="1188720"/>
            <a:ext cx="1755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📋  Event Table</a:t>
            </a:r>
            <a:endParaRPr/>
          </a:p>
        </p:txBody>
      </p:sp>
      <p:sp>
        <p:nvSpPr>
          <p:cNvPr id="365" name="Google Shape;365;p33"/>
          <p:cNvSpPr txBox="1"/>
          <p:nvPr/>
        </p:nvSpPr>
        <p:spPr>
          <a:xfrm>
            <a:off x="7040880" y="1536192"/>
            <a:ext cx="175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event_db.event_sh</a:t>
            </a:r>
            <a:endParaRPr/>
          </a:p>
        </p:txBody>
      </p:sp>
      <p:sp>
        <p:nvSpPr>
          <p:cNvPr id="366" name="Google Shape;366;p33"/>
          <p:cNvSpPr/>
          <p:nvPr/>
        </p:nvSpPr>
        <p:spPr>
          <a:xfrm>
            <a:off x="6949440" y="2468880"/>
            <a:ext cx="1938600" cy="9144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6949440" y="2468880"/>
            <a:ext cx="1938600" cy="45600"/>
          </a:xfrm>
          <a:prstGeom prst="roundRect">
            <a:avLst>
              <a:gd fmla="val 4000" name="adj"/>
            </a:avLst>
          </a:prstGeom>
          <a:solidFill>
            <a:srgbClr val="FF9F3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3"/>
          <p:cNvSpPr txBox="1"/>
          <p:nvPr/>
        </p:nvSpPr>
        <p:spPr>
          <a:xfrm>
            <a:off x="7040880" y="2560320"/>
            <a:ext cx="1755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⚡  Interactive Tables</a:t>
            </a:r>
            <a:endParaRPr/>
          </a:p>
        </p:txBody>
      </p:sp>
      <p:sp>
        <p:nvSpPr>
          <p:cNvPr id="369" name="Google Shape;369;p33"/>
          <p:cNvSpPr txBox="1"/>
          <p:nvPr/>
        </p:nvSpPr>
        <p:spPr>
          <a:xfrm>
            <a:off x="7040880" y="2907792"/>
            <a:ext cx="175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DIS_MARIO 6×</a:t>
            </a:r>
            <a:endParaRPr/>
          </a:p>
        </p:txBody>
      </p:sp>
      <p:sp>
        <p:nvSpPr>
          <p:cNvPr id="370" name="Google Shape;370;p33"/>
          <p:cNvSpPr/>
          <p:nvPr/>
        </p:nvSpPr>
        <p:spPr>
          <a:xfrm>
            <a:off x="6949440" y="3749039"/>
            <a:ext cx="1938600" cy="7773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3"/>
          <p:cNvSpPr/>
          <p:nvPr/>
        </p:nvSpPr>
        <p:spPr>
          <a:xfrm>
            <a:off x="6949440" y="3749039"/>
            <a:ext cx="1938600" cy="45600"/>
          </a:xfrm>
          <a:prstGeom prst="roundRect">
            <a:avLst>
              <a:gd fmla="val 4000" name="adj"/>
            </a:avLst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3"/>
          <p:cNvSpPr txBox="1"/>
          <p:nvPr/>
        </p:nvSpPr>
        <p:spPr>
          <a:xfrm>
            <a:off x="7040880" y="3840479"/>
            <a:ext cx="1755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🤖  Cortex AI</a:t>
            </a:r>
            <a:endParaRPr/>
          </a:p>
        </p:txBody>
      </p:sp>
      <p:sp>
        <p:nvSpPr>
          <p:cNvPr id="373" name="Google Shape;373;p33"/>
          <p:cNvSpPr txBox="1"/>
          <p:nvPr/>
        </p:nvSpPr>
        <p:spPr>
          <a:xfrm>
            <a:off x="7040880" y="4187951"/>
            <a:ext cx="175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Agent + Semantic View</a:t>
            </a:r>
            <a:endParaRPr/>
          </a:p>
        </p:txBody>
      </p:sp>
      <p:sp>
        <p:nvSpPr>
          <p:cNvPr id="374" name="Google Shape;374;p33"/>
          <p:cNvSpPr txBox="1"/>
          <p:nvPr/>
        </p:nvSpPr>
        <p:spPr>
          <a:xfrm>
            <a:off x="1600200" y="1344168"/>
            <a:ext cx="18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375" name="Google Shape;375;p33"/>
          <p:cNvSpPr txBox="1"/>
          <p:nvPr/>
        </p:nvSpPr>
        <p:spPr>
          <a:xfrm>
            <a:off x="1508760" y="1545336"/>
            <a:ext cx="38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00" u="none" cap="none" strike="noStrike">
                <a:solidFill>
                  <a:srgbClr val="E8F4FB"/>
                </a:solidFill>
                <a:latin typeface="Arial"/>
                <a:ea typeface="Arial"/>
                <a:cs typeface="Arial"/>
                <a:sym typeface="Arial"/>
              </a:rPr>
              <a:t>GET pixel</a:t>
            </a:r>
            <a:endParaRPr/>
          </a:p>
        </p:txBody>
      </p:sp>
      <p:sp>
        <p:nvSpPr>
          <p:cNvPr id="376" name="Google Shape;376;p33"/>
          <p:cNvSpPr txBox="1"/>
          <p:nvPr/>
        </p:nvSpPr>
        <p:spPr>
          <a:xfrm>
            <a:off x="3273552" y="1344168"/>
            <a:ext cx="18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377" name="Google Shape;377;p33"/>
          <p:cNvSpPr txBox="1"/>
          <p:nvPr/>
        </p:nvSpPr>
        <p:spPr>
          <a:xfrm>
            <a:off x="3182112" y="1545336"/>
            <a:ext cx="38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00" u="none" cap="none" strike="noStrike">
                <a:solidFill>
                  <a:srgbClr val="E8F4FB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378" name="Google Shape;378;p33"/>
          <p:cNvSpPr txBox="1"/>
          <p:nvPr/>
        </p:nvSpPr>
        <p:spPr>
          <a:xfrm>
            <a:off x="4992624" y="1344168"/>
            <a:ext cx="18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379" name="Google Shape;379;p33"/>
          <p:cNvSpPr txBox="1"/>
          <p:nvPr/>
        </p:nvSpPr>
        <p:spPr>
          <a:xfrm>
            <a:off x="4901184" y="1545336"/>
            <a:ext cx="38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00" u="none" cap="none" strike="noStrike">
                <a:solidFill>
                  <a:srgbClr val="E8F4FB"/>
                </a:solidFill>
                <a:latin typeface="Arial"/>
                <a:ea typeface="Arial"/>
                <a:cs typeface="Arial"/>
                <a:sym typeface="Arial"/>
              </a:rPr>
              <a:t>OTLP gRPC</a:t>
            </a:r>
            <a:endParaRPr/>
          </a:p>
        </p:txBody>
      </p:sp>
      <p:sp>
        <p:nvSpPr>
          <p:cNvPr id="380" name="Google Shape;380;p33"/>
          <p:cNvSpPr txBox="1"/>
          <p:nvPr/>
        </p:nvSpPr>
        <p:spPr>
          <a:xfrm>
            <a:off x="6949440" y="1984248"/>
            <a:ext cx="18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381" name="Google Shape;381;p33"/>
          <p:cNvSpPr txBox="1"/>
          <p:nvPr/>
        </p:nvSpPr>
        <p:spPr>
          <a:xfrm>
            <a:off x="6858000" y="2185416"/>
            <a:ext cx="38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00" u="none" cap="none" strike="noStrike">
                <a:solidFill>
                  <a:srgbClr val="E8F4FB"/>
                </a:solidFill>
                <a:latin typeface="Arial"/>
                <a:ea typeface="Arial"/>
                <a:cs typeface="Arial"/>
                <a:sym typeface="Arial"/>
              </a:rPr>
              <a:t>1-min lag</a:t>
            </a:r>
            <a:endParaRPr/>
          </a:p>
        </p:txBody>
      </p:sp>
      <p:sp>
        <p:nvSpPr>
          <p:cNvPr id="382" name="Google Shape;382;p33"/>
          <p:cNvSpPr txBox="1"/>
          <p:nvPr/>
        </p:nvSpPr>
        <p:spPr>
          <a:xfrm>
            <a:off x="6949440" y="3264408"/>
            <a:ext cx="18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383" name="Google Shape;383;p33"/>
          <p:cNvSpPr txBox="1"/>
          <p:nvPr/>
        </p:nvSpPr>
        <p:spPr>
          <a:xfrm>
            <a:off x="6858000" y="3465576"/>
            <a:ext cx="38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00" u="none" cap="none" strike="noStrike">
                <a:solidFill>
                  <a:srgbClr val="E8F4FB"/>
                </a:solidFill>
                <a:latin typeface="Arial"/>
                <a:ea typeface="Arial"/>
                <a:cs typeface="Arial"/>
                <a:sym typeface="Arial"/>
              </a:rPr>
              <a:t>SQL views</a:t>
            </a:r>
            <a:endParaRPr/>
          </a:p>
        </p:txBody>
      </p:sp>
      <p:sp>
        <p:nvSpPr>
          <p:cNvPr id="384" name="Google Shape;384;p33"/>
          <p:cNvSpPr txBox="1"/>
          <p:nvPr/>
        </p:nvSpPr>
        <p:spPr>
          <a:xfrm>
            <a:off x="4224528" y="1865376"/>
            <a:ext cx="18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385" name="Google Shape;385;p33"/>
          <p:cNvSpPr txBox="1"/>
          <p:nvPr/>
        </p:nvSpPr>
        <p:spPr>
          <a:xfrm>
            <a:off x="4133088" y="2066544"/>
            <a:ext cx="38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700" u="none" cap="none" strike="noStrike">
                <a:solidFill>
                  <a:srgbClr val="E8F4FB"/>
                </a:solidFill>
                <a:latin typeface="Arial"/>
                <a:ea typeface="Arial"/>
                <a:cs typeface="Arial"/>
                <a:sym typeface="Arial"/>
              </a:rPr>
              <a:t>proxy /</a:t>
            </a:r>
            <a:endParaRPr/>
          </a:p>
        </p:txBody>
      </p:sp>
      <p:sp>
        <p:nvSpPr>
          <p:cNvPr id="386" name="Google Shape;386;p33"/>
          <p:cNvSpPr txBox="1"/>
          <p:nvPr/>
        </p:nvSpPr>
        <p:spPr>
          <a:xfrm>
            <a:off x="6949455" y="4764702"/>
            <a:ext cx="466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Built with ✨ Cortex Code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5" y="1983519"/>
            <a:ext cx="8969597" cy="1280036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4"/>
          <p:cNvSpPr txBox="1"/>
          <p:nvPr/>
        </p:nvSpPr>
        <p:spPr>
          <a:xfrm>
            <a:off x="457200" y="256032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Container Stack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3" name="Google Shape;393;p34"/>
          <p:cNvSpPr txBox="1"/>
          <p:nvPr/>
        </p:nvSpPr>
        <p:spPr>
          <a:xfrm>
            <a:off x="457200" y="82296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Docker image · three processes · everything Snowflake needs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4" name="Google Shape;394;p34"/>
          <p:cNvSpPr/>
          <p:nvPr/>
        </p:nvSpPr>
        <p:spPr>
          <a:xfrm>
            <a:off x="365760" y="1078992"/>
            <a:ext cx="8412600" cy="841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4"/>
          <p:cNvSpPr/>
          <p:nvPr/>
        </p:nvSpPr>
        <p:spPr>
          <a:xfrm>
            <a:off x="365760" y="1078992"/>
            <a:ext cx="73200" cy="841200"/>
          </a:xfrm>
          <a:prstGeom prst="rect">
            <a:avLst/>
          </a:prstGeom>
          <a:solidFill>
            <a:srgbClr val="71D3D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4"/>
          <p:cNvSpPr txBox="1"/>
          <p:nvPr/>
        </p:nvSpPr>
        <p:spPr>
          <a:xfrm>
            <a:off x="594360" y="1170432"/>
            <a:ext cx="320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🌐  nginx  ·  Port 8080</a:t>
            </a:r>
            <a:endParaRPr/>
          </a:p>
        </p:txBody>
      </p:sp>
      <p:sp>
        <p:nvSpPr>
          <p:cNvPr id="397" name="Google Shape;397;p34"/>
          <p:cNvSpPr txBox="1"/>
          <p:nvPr/>
        </p:nvSpPr>
        <p:spPr>
          <a:xfrm>
            <a:off x="594360" y="1554480"/>
            <a:ext cx="8046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Public SPCS ingress endpoint. Exact location = /telemetry (avoids catching /telemetry.js). Forwards Sf-Context-Current-User header to sidecar.</a:t>
            </a:r>
            <a:endParaRPr/>
          </a:p>
        </p:txBody>
      </p:sp>
      <p:sp>
        <p:nvSpPr>
          <p:cNvPr id="398" name="Google Shape;398;p34"/>
          <p:cNvSpPr/>
          <p:nvPr/>
        </p:nvSpPr>
        <p:spPr>
          <a:xfrm>
            <a:off x="365760" y="2048256"/>
            <a:ext cx="8412600" cy="841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4"/>
          <p:cNvSpPr/>
          <p:nvPr/>
        </p:nvSpPr>
        <p:spPr>
          <a:xfrm>
            <a:off x="365760" y="2048256"/>
            <a:ext cx="73200" cy="841200"/>
          </a:xfrm>
          <a:prstGeom prst="rect">
            <a:avLst/>
          </a:prstGeom>
          <a:solidFill>
            <a:srgbClr val="FF9F3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4"/>
          <p:cNvSpPr txBox="1"/>
          <p:nvPr/>
        </p:nvSpPr>
        <p:spPr>
          <a:xfrm>
            <a:off x="594360" y="2139696"/>
            <a:ext cx="320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🐱  Tomcat 9  ·  Port 8888</a:t>
            </a:r>
            <a:endParaRPr/>
          </a:p>
        </p:txBody>
      </p:sp>
      <p:sp>
        <p:nvSpPr>
          <p:cNvPr id="401" name="Google Shape;401;p34"/>
          <p:cNvSpPr txBox="1"/>
          <p:nvPr/>
        </p:nvSpPr>
        <p:spPr>
          <a:xfrm>
            <a:off x="594360" y="2523744"/>
            <a:ext cx="8046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HTML5 Super Mario game. telemetry.js injected at Docker build time. jQuery bundled locally — SPCS egress blocks external CDN URLs.</a:t>
            </a:r>
            <a:endParaRPr/>
          </a:p>
        </p:txBody>
      </p:sp>
      <p:sp>
        <p:nvSpPr>
          <p:cNvPr id="402" name="Google Shape;402;p34"/>
          <p:cNvSpPr/>
          <p:nvPr/>
        </p:nvSpPr>
        <p:spPr>
          <a:xfrm>
            <a:off x="365760" y="3017520"/>
            <a:ext cx="8412600" cy="841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4"/>
          <p:cNvSpPr/>
          <p:nvPr/>
        </p:nvSpPr>
        <p:spPr>
          <a:xfrm>
            <a:off x="365760" y="3017520"/>
            <a:ext cx="73200" cy="841200"/>
          </a:xfrm>
          <a:prstGeom prst="rect">
            <a:avLst/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4"/>
          <p:cNvSpPr txBox="1"/>
          <p:nvPr/>
        </p:nvSpPr>
        <p:spPr>
          <a:xfrm>
            <a:off x="594360" y="3108960"/>
            <a:ext cx="320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🐍  Python Sidecar  ·  Port 9090</a:t>
            </a:r>
            <a:endParaRPr/>
          </a:p>
        </p:txBody>
      </p:sp>
      <p:sp>
        <p:nvSpPr>
          <p:cNvPr id="405" name="Google Shape;405;p34"/>
          <p:cNvSpPr txBox="1"/>
          <p:nvPr/>
        </p:nvSpPr>
        <p:spPr>
          <a:xfrm>
            <a:off x="594360" y="3493008"/>
            <a:ext cx="8046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OpenTelemetry TracerProvider + MeterProvider. GET tracking pixel /telemetry?d=... · /whoami endpoint. BatchSpanProcessor exports every 5 seconds.</a:t>
            </a:r>
            <a:endParaRPr/>
          </a:p>
        </p:txBody>
      </p:sp>
      <p:sp>
        <p:nvSpPr>
          <p:cNvPr id="406" name="Google Shape;406;p34"/>
          <p:cNvSpPr/>
          <p:nvPr/>
        </p:nvSpPr>
        <p:spPr>
          <a:xfrm>
            <a:off x="365760" y="3986784"/>
            <a:ext cx="8412600" cy="841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4"/>
          <p:cNvSpPr/>
          <p:nvPr/>
        </p:nvSpPr>
        <p:spPr>
          <a:xfrm>
            <a:off x="365760" y="3986784"/>
            <a:ext cx="73200" cy="841200"/>
          </a:xfrm>
          <a:prstGeom prst="rect">
            <a:avLst/>
          </a:prstGeom>
          <a:solidFill>
            <a:srgbClr val="D45B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4"/>
          <p:cNvSpPr txBox="1"/>
          <p:nvPr/>
        </p:nvSpPr>
        <p:spPr>
          <a:xfrm>
            <a:off x="594360" y="4078224"/>
            <a:ext cx="320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📡  OpenTelemetry OTLP gRPC</a:t>
            </a:r>
            <a:endParaRPr/>
          </a:p>
        </p:txBody>
      </p:sp>
      <p:sp>
        <p:nvSpPr>
          <p:cNvPr id="409" name="Google Shape;409;p34"/>
          <p:cNvSpPr txBox="1"/>
          <p:nvPr/>
        </p:nvSpPr>
        <p:spPr>
          <a:xfrm>
            <a:off x="594360" y="4462272"/>
            <a:ext cx="8046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Spans → record_attributes · Metrics → 90+ platform types · Logs → service messages. All land in event_db.event_sh.my_events automatically.</a:t>
            </a:r>
            <a:endParaRPr/>
          </a:p>
        </p:txBody>
      </p:sp>
      <p:sp>
        <p:nvSpPr>
          <p:cNvPr id="410" name="Google Shape;410;p34"/>
          <p:cNvSpPr txBox="1"/>
          <p:nvPr/>
        </p:nvSpPr>
        <p:spPr>
          <a:xfrm>
            <a:off x="2918325" y="4890953"/>
            <a:ext cx="8229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Resources: 500m–1 vCPU · 512Mi–2Gi RAM · AUTO_RESUME = TRUE · platformMonitor: system, network, storage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1" name="Google Shape;411;p34"/>
          <p:cNvSpPr txBox="1"/>
          <p:nvPr/>
        </p:nvSpPr>
        <p:spPr>
          <a:xfrm>
            <a:off x="42780" y="4890952"/>
            <a:ext cx="466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Built with ✨ Cortex Code 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5" y="1983519"/>
            <a:ext cx="8969597" cy="1280036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5"/>
          <p:cNvSpPr txBox="1"/>
          <p:nvPr/>
        </p:nvSpPr>
        <p:spPr>
          <a:xfrm>
            <a:off x="457200" y="256032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Player Identity Flow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8" name="Google Shape;418;p35"/>
          <p:cNvSpPr txBox="1"/>
          <p:nvPr/>
        </p:nvSpPr>
        <p:spPr>
          <a:xfrm>
            <a:off x="448050" y="71336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SPCS login to named leaderboard entry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9" name="Google Shape;419;p35"/>
          <p:cNvSpPr/>
          <p:nvPr/>
        </p:nvSpPr>
        <p:spPr>
          <a:xfrm>
            <a:off x="256032" y="1005840"/>
            <a:ext cx="1161300" cy="14631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5"/>
          <p:cNvSpPr/>
          <p:nvPr/>
        </p:nvSpPr>
        <p:spPr>
          <a:xfrm>
            <a:off x="256032" y="1005840"/>
            <a:ext cx="1161300" cy="50400"/>
          </a:xfrm>
          <a:prstGeom prst="roundRect">
            <a:avLst>
              <a:gd fmla="val 4000" name="adj"/>
            </a:avLst>
          </a:prstGeom>
          <a:solidFill>
            <a:srgbClr val="71D3D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5"/>
          <p:cNvSpPr/>
          <p:nvPr/>
        </p:nvSpPr>
        <p:spPr>
          <a:xfrm>
            <a:off x="612648" y="1097280"/>
            <a:ext cx="438900" cy="438900"/>
          </a:xfrm>
          <a:prstGeom prst="ellipse">
            <a:avLst/>
          </a:prstGeom>
          <a:solidFill>
            <a:srgbClr val="71D3D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22" name="Google Shape;422;p35"/>
          <p:cNvSpPr txBox="1"/>
          <p:nvPr/>
        </p:nvSpPr>
        <p:spPr>
          <a:xfrm>
            <a:off x="329184" y="1627632"/>
            <a:ext cx="101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Ingress Auth</a:t>
            </a:r>
            <a:endParaRPr/>
          </a:p>
        </p:txBody>
      </p:sp>
      <p:sp>
        <p:nvSpPr>
          <p:cNvPr id="423" name="Google Shape;423;p35"/>
          <p:cNvSpPr txBox="1"/>
          <p:nvPr/>
        </p:nvSpPr>
        <p:spPr>
          <a:xfrm>
            <a:off x="329184" y="1993392"/>
            <a:ext cx="1014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Cookie</a:t>
            </a:r>
            <a:endParaRPr/>
          </a:p>
        </p:txBody>
      </p:sp>
      <p:sp>
        <p:nvSpPr>
          <p:cNvPr id="424" name="Google Shape;424;p35"/>
          <p:cNvSpPr txBox="1"/>
          <p:nvPr/>
        </p:nvSpPr>
        <p:spPr>
          <a:xfrm>
            <a:off x="1417320" y="1664208"/>
            <a:ext cx="9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425" name="Google Shape;425;p35"/>
          <p:cNvSpPr/>
          <p:nvPr/>
        </p:nvSpPr>
        <p:spPr>
          <a:xfrm>
            <a:off x="1499616" y="1005840"/>
            <a:ext cx="1161300" cy="14631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5"/>
          <p:cNvSpPr/>
          <p:nvPr/>
        </p:nvSpPr>
        <p:spPr>
          <a:xfrm>
            <a:off x="1499616" y="1005840"/>
            <a:ext cx="1161300" cy="50400"/>
          </a:xfrm>
          <a:prstGeom prst="roundRect">
            <a:avLst>
              <a:gd fmla="val 4000" name="adj"/>
            </a:avLst>
          </a:prstGeom>
          <a:solidFill>
            <a:srgbClr val="FF9F3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5"/>
          <p:cNvSpPr/>
          <p:nvPr/>
        </p:nvSpPr>
        <p:spPr>
          <a:xfrm>
            <a:off x="1856232" y="1097280"/>
            <a:ext cx="438900" cy="438900"/>
          </a:xfrm>
          <a:prstGeom prst="ellipse">
            <a:avLst/>
          </a:prstGeom>
          <a:solidFill>
            <a:srgbClr val="FF9F3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28" name="Google Shape;428;p35"/>
          <p:cNvSpPr txBox="1"/>
          <p:nvPr/>
        </p:nvSpPr>
        <p:spPr>
          <a:xfrm>
            <a:off x="1572768" y="1627632"/>
            <a:ext cx="101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Inject Header</a:t>
            </a:r>
            <a:endParaRPr/>
          </a:p>
        </p:txBody>
      </p:sp>
      <p:sp>
        <p:nvSpPr>
          <p:cNvPr id="429" name="Google Shape;429;p35"/>
          <p:cNvSpPr txBox="1"/>
          <p:nvPr/>
        </p:nvSpPr>
        <p:spPr>
          <a:xfrm>
            <a:off x="1572768" y="1993392"/>
            <a:ext cx="1014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Sf-Context-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Current-User</a:t>
            </a:r>
            <a:endParaRPr/>
          </a:p>
        </p:txBody>
      </p:sp>
      <p:sp>
        <p:nvSpPr>
          <p:cNvPr id="430" name="Google Shape;430;p35"/>
          <p:cNvSpPr txBox="1"/>
          <p:nvPr/>
        </p:nvSpPr>
        <p:spPr>
          <a:xfrm>
            <a:off x="2660904" y="1664208"/>
            <a:ext cx="9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431" name="Google Shape;431;p35"/>
          <p:cNvSpPr/>
          <p:nvPr/>
        </p:nvSpPr>
        <p:spPr>
          <a:xfrm>
            <a:off x="2743200" y="1005840"/>
            <a:ext cx="1161300" cy="14631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5"/>
          <p:cNvSpPr/>
          <p:nvPr/>
        </p:nvSpPr>
        <p:spPr>
          <a:xfrm>
            <a:off x="2743200" y="1005840"/>
            <a:ext cx="1161300" cy="50400"/>
          </a:xfrm>
          <a:prstGeom prst="roundRect">
            <a:avLst>
              <a:gd fmla="val 4000" name="adj"/>
            </a:avLst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5"/>
          <p:cNvSpPr/>
          <p:nvPr/>
        </p:nvSpPr>
        <p:spPr>
          <a:xfrm>
            <a:off x="3099816" y="1097280"/>
            <a:ext cx="438900" cy="438900"/>
          </a:xfrm>
          <a:prstGeom prst="ellipse">
            <a:avLst/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34" name="Google Shape;434;p35"/>
          <p:cNvSpPr txBox="1"/>
          <p:nvPr/>
        </p:nvSpPr>
        <p:spPr>
          <a:xfrm>
            <a:off x="2816352" y="1627632"/>
            <a:ext cx="101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nginx Forward</a:t>
            </a:r>
            <a:endParaRPr/>
          </a:p>
        </p:txBody>
      </p:sp>
      <p:sp>
        <p:nvSpPr>
          <p:cNvPr id="435" name="Google Shape;435;p35"/>
          <p:cNvSpPr txBox="1"/>
          <p:nvPr/>
        </p:nvSpPr>
        <p:spPr>
          <a:xfrm>
            <a:off x="2816352" y="1993392"/>
            <a:ext cx="101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proxy_set_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436" name="Google Shape;436;p35"/>
          <p:cNvSpPr txBox="1"/>
          <p:nvPr/>
        </p:nvSpPr>
        <p:spPr>
          <a:xfrm>
            <a:off x="3904488" y="1664208"/>
            <a:ext cx="9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437" name="Google Shape;437;p35"/>
          <p:cNvSpPr/>
          <p:nvPr/>
        </p:nvSpPr>
        <p:spPr>
          <a:xfrm>
            <a:off x="3986784" y="1005840"/>
            <a:ext cx="1161300" cy="14631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5"/>
          <p:cNvSpPr/>
          <p:nvPr/>
        </p:nvSpPr>
        <p:spPr>
          <a:xfrm>
            <a:off x="3986784" y="1005840"/>
            <a:ext cx="1161300" cy="50400"/>
          </a:xfrm>
          <a:prstGeom prst="roundRect">
            <a:avLst>
              <a:gd fmla="val 4000" name="adj"/>
            </a:avLst>
          </a:prstGeom>
          <a:solidFill>
            <a:srgbClr val="D45B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5"/>
          <p:cNvSpPr/>
          <p:nvPr/>
        </p:nvSpPr>
        <p:spPr>
          <a:xfrm>
            <a:off x="4343400" y="1097280"/>
            <a:ext cx="438900" cy="438900"/>
          </a:xfrm>
          <a:prstGeom prst="ellipse">
            <a:avLst/>
          </a:prstGeom>
          <a:solidFill>
            <a:srgbClr val="D45B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440" name="Google Shape;440;p35"/>
          <p:cNvSpPr txBox="1"/>
          <p:nvPr/>
        </p:nvSpPr>
        <p:spPr>
          <a:xfrm>
            <a:off x="4059936" y="1627632"/>
            <a:ext cx="101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/whoami</a:t>
            </a:r>
            <a:endParaRPr/>
          </a:p>
        </p:txBody>
      </p:sp>
      <p:sp>
        <p:nvSpPr>
          <p:cNvPr id="441" name="Google Shape;441;p35"/>
          <p:cNvSpPr txBox="1"/>
          <p:nvPr/>
        </p:nvSpPr>
        <p:spPr>
          <a:xfrm>
            <a:off x="4059936" y="1993392"/>
            <a:ext cx="101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_get_player_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name()</a:t>
            </a:r>
            <a:endParaRPr/>
          </a:p>
        </p:txBody>
      </p:sp>
      <p:sp>
        <p:nvSpPr>
          <p:cNvPr id="442" name="Google Shape;442;p35"/>
          <p:cNvSpPr txBox="1"/>
          <p:nvPr/>
        </p:nvSpPr>
        <p:spPr>
          <a:xfrm>
            <a:off x="5148072" y="1664208"/>
            <a:ext cx="9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443" name="Google Shape;443;p35"/>
          <p:cNvSpPr/>
          <p:nvPr/>
        </p:nvSpPr>
        <p:spPr>
          <a:xfrm>
            <a:off x="5230368" y="1005840"/>
            <a:ext cx="1161300" cy="14631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5"/>
          <p:cNvSpPr/>
          <p:nvPr/>
        </p:nvSpPr>
        <p:spPr>
          <a:xfrm>
            <a:off x="5230368" y="1005840"/>
            <a:ext cx="1161300" cy="50400"/>
          </a:xfrm>
          <a:prstGeom prst="roundRect">
            <a:avLst>
              <a:gd fmla="val 4000" name="adj"/>
            </a:avLst>
          </a:prstGeom>
          <a:solidFill>
            <a:srgbClr val="71D3D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5"/>
          <p:cNvSpPr/>
          <p:nvPr/>
        </p:nvSpPr>
        <p:spPr>
          <a:xfrm>
            <a:off x="5586984" y="1097280"/>
            <a:ext cx="438900" cy="438900"/>
          </a:xfrm>
          <a:prstGeom prst="ellipse">
            <a:avLst/>
          </a:prstGeom>
          <a:solidFill>
            <a:srgbClr val="71D3D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446" name="Google Shape;446;p35"/>
          <p:cNvSpPr txBox="1"/>
          <p:nvPr/>
        </p:nvSpPr>
        <p:spPr>
          <a:xfrm>
            <a:off x="5303520" y="1627632"/>
            <a:ext cx="101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Browser Fetch</a:t>
            </a:r>
            <a:endParaRPr/>
          </a:p>
        </p:txBody>
      </p:sp>
      <p:sp>
        <p:nvSpPr>
          <p:cNvPr id="447" name="Google Shape;447;p35"/>
          <p:cNvSpPr txBox="1"/>
          <p:nvPr/>
        </p:nvSpPr>
        <p:spPr>
          <a:xfrm>
            <a:off x="5303520" y="1993392"/>
            <a:ext cx="101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XHR on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game init</a:t>
            </a:r>
            <a:endParaRPr/>
          </a:p>
        </p:txBody>
      </p:sp>
      <p:sp>
        <p:nvSpPr>
          <p:cNvPr id="448" name="Google Shape;448;p35"/>
          <p:cNvSpPr txBox="1"/>
          <p:nvPr/>
        </p:nvSpPr>
        <p:spPr>
          <a:xfrm>
            <a:off x="6391656" y="1664208"/>
            <a:ext cx="9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449" name="Google Shape;449;p35"/>
          <p:cNvSpPr/>
          <p:nvPr/>
        </p:nvSpPr>
        <p:spPr>
          <a:xfrm>
            <a:off x="6473952" y="1005840"/>
            <a:ext cx="1161300" cy="14631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5"/>
          <p:cNvSpPr/>
          <p:nvPr/>
        </p:nvSpPr>
        <p:spPr>
          <a:xfrm>
            <a:off x="6473952" y="1005840"/>
            <a:ext cx="1161300" cy="50400"/>
          </a:xfrm>
          <a:prstGeom prst="roundRect">
            <a:avLst>
              <a:gd fmla="val 4000" name="adj"/>
            </a:avLst>
          </a:prstGeom>
          <a:solidFill>
            <a:srgbClr val="FF9F3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5"/>
          <p:cNvSpPr/>
          <p:nvPr/>
        </p:nvSpPr>
        <p:spPr>
          <a:xfrm>
            <a:off x="6830568" y="1097280"/>
            <a:ext cx="438900" cy="438900"/>
          </a:xfrm>
          <a:prstGeom prst="ellipse">
            <a:avLst/>
          </a:prstGeom>
          <a:solidFill>
            <a:srgbClr val="FF9F3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452" name="Google Shape;452;p35"/>
          <p:cNvSpPr txBox="1"/>
          <p:nvPr/>
        </p:nvSpPr>
        <p:spPr>
          <a:xfrm>
            <a:off x="6547104" y="1627632"/>
            <a:ext cx="101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Event Payload</a:t>
            </a:r>
            <a:endParaRPr/>
          </a:p>
        </p:txBody>
      </p:sp>
      <p:sp>
        <p:nvSpPr>
          <p:cNvPr id="453" name="Google Shape;453;p35"/>
          <p:cNvSpPr txBox="1"/>
          <p:nvPr/>
        </p:nvSpPr>
        <p:spPr>
          <a:xfrm>
            <a:off x="6547104" y="1993392"/>
            <a:ext cx="101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player_name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send()</a:t>
            </a:r>
            <a:endParaRPr/>
          </a:p>
        </p:txBody>
      </p:sp>
      <p:sp>
        <p:nvSpPr>
          <p:cNvPr id="454" name="Google Shape;454;p35"/>
          <p:cNvSpPr txBox="1"/>
          <p:nvPr/>
        </p:nvSpPr>
        <p:spPr>
          <a:xfrm>
            <a:off x="7635240" y="1664208"/>
            <a:ext cx="9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</a:t>
            </a:r>
            <a:endParaRPr/>
          </a:p>
        </p:txBody>
      </p:sp>
      <p:sp>
        <p:nvSpPr>
          <p:cNvPr id="455" name="Google Shape;455;p35"/>
          <p:cNvSpPr/>
          <p:nvPr/>
        </p:nvSpPr>
        <p:spPr>
          <a:xfrm>
            <a:off x="7717536" y="1005840"/>
            <a:ext cx="1161300" cy="14631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5"/>
          <p:cNvSpPr/>
          <p:nvPr/>
        </p:nvSpPr>
        <p:spPr>
          <a:xfrm>
            <a:off x="7717536" y="1005840"/>
            <a:ext cx="1161300" cy="50400"/>
          </a:xfrm>
          <a:prstGeom prst="roundRect">
            <a:avLst>
              <a:gd fmla="val 4000" name="adj"/>
            </a:avLst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5"/>
          <p:cNvSpPr/>
          <p:nvPr/>
        </p:nvSpPr>
        <p:spPr>
          <a:xfrm>
            <a:off x="8074152" y="1097280"/>
            <a:ext cx="438900" cy="438900"/>
          </a:xfrm>
          <a:prstGeom prst="ellipse">
            <a:avLst/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458" name="Google Shape;458;p35"/>
          <p:cNvSpPr txBox="1"/>
          <p:nvPr/>
        </p:nvSpPr>
        <p:spPr>
          <a:xfrm>
            <a:off x="7790688" y="1627632"/>
            <a:ext cx="101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OTel Span</a:t>
            </a:r>
            <a:endParaRPr/>
          </a:p>
        </p:txBody>
      </p:sp>
      <p:sp>
        <p:nvSpPr>
          <p:cNvPr id="459" name="Google Shape;459;p35"/>
          <p:cNvSpPr txBox="1"/>
          <p:nvPr/>
        </p:nvSpPr>
        <p:spPr>
          <a:xfrm>
            <a:off x="7790688" y="1993392"/>
            <a:ext cx="101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record_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attributes</a:t>
            </a:r>
            <a:endParaRPr/>
          </a:p>
        </p:txBody>
      </p:sp>
      <p:sp>
        <p:nvSpPr>
          <p:cNvPr id="460" name="Google Shape;460;p35"/>
          <p:cNvSpPr/>
          <p:nvPr/>
        </p:nvSpPr>
        <p:spPr>
          <a:xfrm>
            <a:off x="365760" y="2697480"/>
            <a:ext cx="8412600" cy="14631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5"/>
          <p:cNvSpPr/>
          <p:nvPr/>
        </p:nvSpPr>
        <p:spPr>
          <a:xfrm>
            <a:off x="365760" y="2697480"/>
            <a:ext cx="8412600" cy="50400"/>
          </a:xfrm>
          <a:prstGeom prst="roundRect">
            <a:avLst>
              <a:gd fmla="val 4000" name="adj"/>
            </a:avLst>
          </a:prstGeom>
          <a:solidFill>
            <a:srgbClr val="11567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5"/>
          <p:cNvSpPr txBox="1"/>
          <p:nvPr/>
        </p:nvSpPr>
        <p:spPr>
          <a:xfrm>
            <a:off x="548640" y="2788920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Priority Chain</a:t>
            </a:r>
            <a:endParaRPr/>
          </a:p>
        </p:txBody>
      </p:sp>
      <p:sp>
        <p:nvSpPr>
          <p:cNvPr id="463" name="Google Shape;463;p35"/>
          <p:cNvSpPr/>
          <p:nvPr/>
        </p:nvSpPr>
        <p:spPr>
          <a:xfrm>
            <a:off x="457200" y="3200400"/>
            <a:ext cx="255900" cy="237600"/>
          </a:xfrm>
          <a:prstGeom prst="roundRect">
            <a:avLst>
              <a:gd fmla="val 5000" name="adj"/>
            </a:avLst>
          </a:prstGeom>
          <a:solidFill>
            <a:srgbClr val="71D3D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5"/>
          <p:cNvSpPr txBox="1"/>
          <p:nvPr/>
        </p:nvSpPr>
        <p:spPr>
          <a:xfrm>
            <a:off x="475488" y="3236976"/>
            <a:ext cx="219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65" name="Google Shape;465;p35"/>
          <p:cNvSpPr txBox="1"/>
          <p:nvPr/>
        </p:nvSpPr>
        <p:spPr>
          <a:xfrm>
            <a:off x="804672" y="3236976"/>
            <a:ext cx="2560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Sf-Context-Current-User header</a:t>
            </a:r>
            <a:endParaRPr/>
          </a:p>
        </p:txBody>
      </p:sp>
      <p:sp>
        <p:nvSpPr>
          <p:cNvPr id="466" name="Google Shape;466;p35"/>
          <p:cNvSpPr txBox="1"/>
          <p:nvPr/>
        </p:nvSpPr>
        <p:spPr>
          <a:xfrm>
            <a:off x="3429000" y="3236976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Injected by SPCS ingress — most reliable</a:t>
            </a:r>
            <a:endParaRPr/>
          </a:p>
        </p:txBody>
      </p:sp>
      <p:sp>
        <p:nvSpPr>
          <p:cNvPr id="467" name="Google Shape;467;p35"/>
          <p:cNvSpPr/>
          <p:nvPr/>
        </p:nvSpPr>
        <p:spPr>
          <a:xfrm>
            <a:off x="457200" y="3502152"/>
            <a:ext cx="255900" cy="237600"/>
          </a:xfrm>
          <a:prstGeom prst="roundRect">
            <a:avLst>
              <a:gd fmla="val 5000" name="adj"/>
            </a:avLst>
          </a:prstGeom>
          <a:solidFill>
            <a:srgbClr val="FF9F3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5"/>
          <p:cNvSpPr txBox="1"/>
          <p:nvPr/>
        </p:nvSpPr>
        <p:spPr>
          <a:xfrm>
            <a:off x="475488" y="3538728"/>
            <a:ext cx="219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69" name="Google Shape;469;p35"/>
          <p:cNvSpPr txBox="1"/>
          <p:nvPr/>
        </p:nvSpPr>
        <p:spPr>
          <a:xfrm>
            <a:off x="804672" y="3538728"/>
            <a:ext cx="2560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player_name in event payload</a:t>
            </a:r>
            <a:endParaRPr/>
          </a:p>
        </p:txBody>
      </p:sp>
      <p:sp>
        <p:nvSpPr>
          <p:cNvPr id="470" name="Google Shape;470;p35"/>
          <p:cNvSpPr txBox="1"/>
          <p:nvPr/>
        </p:nvSpPr>
        <p:spPr>
          <a:xfrm>
            <a:off x="3429000" y="3538728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Sent by browser after /whoami fetch — reliable fallback</a:t>
            </a:r>
            <a:endParaRPr/>
          </a:p>
        </p:txBody>
      </p:sp>
      <p:sp>
        <p:nvSpPr>
          <p:cNvPr id="471" name="Google Shape;471;p35"/>
          <p:cNvSpPr/>
          <p:nvPr/>
        </p:nvSpPr>
        <p:spPr>
          <a:xfrm>
            <a:off x="457200" y="3803904"/>
            <a:ext cx="255900" cy="237600"/>
          </a:xfrm>
          <a:prstGeom prst="roundRect">
            <a:avLst>
              <a:gd fmla="val 5000" name="adj"/>
            </a:avLst>
          </a:prstGeom>
          <a:solidFill>
            <a:srgbClr val="D45B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5"/>
          <p:cNvSpPr txBox="1"/>
          <p:nvPr/>
        </p:nvSpPr>
        <p:spPr>
          <a:xfrm>
            <a:off x="475488" y="3840480"/>
            <a:ext cx="219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73" name="Google Shape;473;p35"/>
          <p:cNvSpPr txBox="1"/>
          <p:nvPr/>
        </p:nvSpPr>
        <p:spPr>
          <a:xfrm>
            <a:off x="804672" y="3840480"/>
            <a:ext cx="2560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"unknown"</a:t>
            </a:r>
            <a:endParaRPr/>
          </a:p>
        </p:txBody>
      </p:sp>
      <p:sp>
        <p:nvSpPr>
          <p:cNvPr id="474" name="Google Shape;474;p35"/>
          <p:cNvSpPr txBox="1"/>
          <p:nvPr/>
        </p:nvSpPr>
        <p:spPr>
          <a:xfrm>
            <a:off x="3429000" y="384048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Last resort if both header and browser sources are empty</a:t>
            </a:r>
            <a:endParaRPr/>
          </a:p>
        </p:txBody>
      </p:sp>
      <p:sp>
        <p:nvSpPr>
          <p:cNvPr id="475" name="Google Shape;475;p35"/>
          <p:cNvSpPr txBox="1"/>
          <p:nvPr/>
        </p:nvSpPr>
        <p:spPr>
          <a:xfrm>
            <a:off x="448050" y="4389103"/>
            <a:ext cx="8229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Root cause: telemetry.js fetched /whoami for the banner but never included player_name in event payloads — fixed by adding it to every send()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6" name="Google Shape;476;p35"/>
          <p:cNvSpPr txBox="1"/>
          <p:nvPr/>
        </p:nvSpPr>
        <p:spPr>
          <a:xfrm>
            <a:off x="6716430" y="4799752"/>
            <a:ext cx="466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Built with ✨ Cortex Code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5" y="1983519"/>
            <a:ext cx="8969597" cy="1280036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6"/>
          <p:cNvSpPr txBox="1"/>
          <p:nvPr/>
        </p:nvSpPr>
        <p:spPr>
          <a:xfrm>
            <a:off x="457200" y="256032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</a:rPr>
              <a:t>Close to </a:t>
            </a:r>
            <a:r>
              <a:rPr b="1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Real-time Data Pipeline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3" name="Google Shape;483;p36"/>
          <p:cNvSpPr txBox="1"/>
          <p:nvPr/>
        </p:nvSpPr>
        <p:spPr>
          <a:xfrm>
            <a:off x="457200" y="727085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DIS_MARIO: Interactive Tables + IWH + Semantic View + Cortex Agent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4" name="Google Shape;484;p36"/>
          <p:cNvSpPr/>
          <p:nvPr/>
        </p:nvSpPr>
        <p:spPr>
          <a:xfrm>
            <a:off x="347472" y="1005840"/>
            <a:ext cx="5120700" cy="5853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6"/>
          <p:cNvSpPr/>
          <p:nvPr/>
        </p:nvSpPr>
        <p:spPr>
          <a:xfrm>
            <a:off x="347472" y="1005840"/>
            <a:ext cx="63900" cy="585300"/>
          </a:xfrm>
          <a:prstGeom prst="rect">
            <a:avLst/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6"/>
          <p:cNvSpPr txBox="1"/>
          <p:nvPr/>
        </p:nvSpPr>
        <p:spPr>
          <a:xfrm>
            <a:off x="530352" y="1078992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GAME_EVENTS_LIVE</a:t>
            </a:r>
            <a:endParaRPr/>
          </a:p>
        </p:txBody>
      </p:sp>
      <p:sp>
        <p:nvSpPr>
          <p:cNvPr id="487" name="Google Shape;487;p36"/>
          <p:cNvSpPr txBox="1"/>
          <p:nvPr/>
        </p:nvSpPr>
        <p:spPr>
          <a:xfrm>
            <a:off x="530352" y="1353312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All game spans + player_name</a:t>
            </a:r>
            <a:endParaRPr/>
          </a:p>
        </p:txBody>
      </p:sp>
      <p:sp>
        <p:nvSpPr>
          <p:cNvPr id="488" name="Google Shape;488;p36"/>
          <p:cNvSpPr/>
          <p:nvPr/>
        </p:nvSpPr>
        <p:spPr>
          <a:xfrm>
            <a:off x="3108960" y="1143000"/>
            <a:ext cx="1005900" cy="274200"/>
          </a:xfrm>
          <a:prstGeom prst="roundRect">
            <a:avLst>
              <a:gd fmla="val 6000" name="adj"/>
            </a:avLst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6"/>
          <p:cNvSpPr txBox="1"/>
          <p:nvPr/>
        </p:nvSpPr>
        <p:spPr>
          <a:xfrm>
            <a:off x="3108960" y="1143000"/>
            <a:ext cx="100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⚡ EVENT_TIME</a:t>
            </a:r>
            <a:endParaRPr/>
          </a:p>
        </p:txBody>
      </p:sp>
      <p:sp>
        <p:nvSpPr>
          <p:cNvPr id="490" name="Google Shape;490;p36"/>
          <p:cNvSpPr txBox="1"/>
          <p:nvPr/>
        </p:nvSpPr>
        <p:spPr>
          <a:xfrm>
            <a:off x="4206240" y="1188720"/>
            <a:ext cx="1188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lag: 1 min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91" name="Google Shape;491;p36"/>
          <p:cNvSpPr/>
          <p:nvPr/>
        </p:nvSpPr>
        <p:spPr>
          <a:xfrm>
            <a:off x="347472" y="1664208"/>
            <a:ext cx="5120700" cy="5853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6"/>
          <p:cNvSpPr/>
          <p:nvPr/>
        </p:nvSpPr>
        <p:spPr>
          <a:xfrm>
            <a:off x="347472" y="1664208"/>
            <a:ext cx="63900" cy="585300"/>
          </a:xfrm>
          <a:prstGeom prst="rect">
            <a:avLst/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6"/>
          <p:cNvSpPr txBox="1"/>
          <p:nvPr/>
        </p:nvSpPr>
        <p:spPr>
          <a:xfrm>
            <a:off x="530352" y="1737360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EVENT_TIMELINE_LIVE</a:t>
            </a:r>
            <a:endParaRPr/>
          </a:p>
        </p:txBody>
      </p:sp>
      <p:sp>
        <p:nvSpPr>
          <p:cNvPr id="494" name="Google Shape;494;p36"/>
          <p:cNvSpPr txBox="1"/>
          <p:nvPr/>
        </p:nvSpPr>
        <p:spPr>
          <a:xfrm>
            <a:off x="530352" y="2011680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Event counts per minute</a:t>
            </a:r>
            <a:endParaRPr/>
          </a:p>
        </p:txBody>
      </p:sp>
      <p:sp>
        <p:nvSpPr>
          <p:cNvPr id="495" name="Google Shape;495;p36"/>
          <p:cNvSpPr/>
          <p:nvPr/>
        </p:nvSpPr>
        <p:spPr>
          <a:xfrm>
            <a:off x="3108960" y="1801368"/>
            <a:ext cx="1005900" cy="274200"/>
          </a:xfrm>
          <a:prstGeom prst="roundRect">
            <a:avLst>
              <a:gd fmla="val 6000" name="adj"/>
            </a:avLst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6"/>
          <p:cNvSpPr txBox="1"/>
          <p:nvPr/>
        </p:nvSpPr>
        <p:spPr>
          <a:xfrm>
            <a:off x="3108960" y="1801368"/>
            <a:ext cx="100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⚡ MINUTE</a:t>
            </a:r>
            <a:endParaRPr/>
          </a:p>
        </p:txBody>
      </p:sp>
      <p:sp>
        <p:nvSpPr>
          <p:cNvPr id="497" name="Google Shape;497;p36"/>
          <p:cNvSpPr txBox="1"/>
          <p:nvPr/>
        </p:nvSpPr>
        <p:spPr>
          <a:xfrm>
            <a:off x="4206240" y="1847088"/>
            <a:ext cx="1188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lag: 1 min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98" name="Google Shape;498;p36"/>
          <p:cNvSpPr/>
          <p:nvPr/>
        </p:nvSpPr>
        <p:spPr>
          <a:xfrm>
            <a:off x="347472" y="2322576"/>
            <a:ext cx="5120700" cy="5853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6"/>
          <p:cNvSpPr/>
          <p:nvPr/>
        </p:nvSpPr>
        <p:spPr>
          <a:xfrm>
            <a:off x="347472" y="2322576"/>
            <a:ext cx="63900" cy="585300"/>
          </a:xfrm>
          <a:prstGeom prst="rect">
            <a:avLst/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6"/>
          <p:cNvSpPr txBox="1"/>
          <p:nvPr/>
        </p:nvSpPr>
        <p:spPr>
          <a:xfrm>
            <a:off x="530352" y="2395728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KEY_PRESSES_LIVE</a:t>
            </a:r>
            <a:endParaRPr/>
          </a:p>
        </p:txBody>
      </p:sp>
      <p:sp>
        <p:nvSpPr>
          <p:cNvPr id="501" name="Google Shape;501;p36"/>
          <p:cNvSpPr txBox="1"/>
          <p:nvPr/>
        </p:nvSpPr>
        <p:spPr>
          <a:xfrm>
            <a:off x="530352" y="2670048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Key press aggregates</a:t>
            </a:r>
            <a:endParaRPr/>
          </a:p>
        </p:txBody>
      </p:sp>
      <p:sp>
        <p:nvSpPr>
          <p:cNvPr id="502" name="Google Shape;502;p36"/>
          <p:cNvSpPr/>
          <p:nvPr/>
        </p:nvSpPr>
        <p:spPr>
          <a:xfrm>
            <a:off x="3108960" y="2459736"/>
            <a:ext cx="1005900" cy="274200"/>
          </a:xfrm>
          <a:prstGeom prst="roundRect">
            <a:avLst>
              <a:gd fmla="val 6000" name="adj"/>
            </a:avLst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6"/>
          <p:cNvSpPr txBox="1"/>
          <p:nvPr/>
        </p:nvSpPr>
        <p:spPr>
          <a:xfrm>
            <a:off x="3108960" y="2459736"/>
            <a:ext cx="100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⚡ KEY_NAME</a:t>
            </a:r>
            <a:endParaRPr/>
          </a:p>
        </p:txBody>
      </p:sp>
      <p:sp>
        <p:nvSpPr>
          <p:cNvPr id="504" name="Google Shape;504;p36"/>
          <p:cNvSpPr txBox="1"/>
          <p:nvPr/>
        </p:nvSpPr>
        <p:spPr>
          <a:xfrm>
            <a:off x="4206240" y="2505456"/>
            <a:ext cx="1188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lag: 1 min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05" name="Google Shape;505;p36"/>
          <p:cNvSpPr/>
          <p:nvPr/>
        </p:nvSpPr>
        <p:spPr>
          <a:xfrm>
            <a:off x="347472" y="2980944"/>
            <a:ext cx="5120700" cy="5853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36"/>
          <p:cNvSpPr/>
          <p:nvPr/>
        </p:nvSpPr>
        <p:spPr>
          <a:xfrm>
            <a:off x="347472" y="2980944"/>
            <a:ext cx="63900" cy="585300"/>
          </a:xfrm>
          <a:prstGeom prst="rect">
            <a:avLst/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6"/>
          <p:cNvSpPr txBox="1"/>
          <p:nvPr/>
        </p:nvSpPr>
        <p:spPr>
          <a:xfrm>
            <a:off x="530352" y="3054096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DEATHS_BY_LEVEL_LIVE</a:t>
            </a:r>
            <a:endParaRPr/>
          </a:p>
        </p:txBody>
      </p:sp>
      <p:sp>
        <p:nvSpPr>
          <p:cNvPr id="508" name="Google Shape;508;p36"/>
          <p:cNvSpPr txBox="1"/>
          <p:nvPr/>
        </p:nvSpPr>
        <p:spPr>
          <a:xfrm>
            <a:off x="530352" y="3328416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Deaths per level</a:t>
            </a:r>
            <a:endParaRPr/>
          </a:p>
        </p:txBody>
      </p:sp>
      <p:sp>
        <p:nvSpPr>
          <p:cNvPr id="509" name="Google Shape;509;p36"/>
          <p:cNvSpPr/>
          <p:nvPr/>
        </p:nvSpPr>
        <p:spPr>
          <a:xfrm>
            <a:off x="3108960" y="3118104"/>
            <a:ext cx="1005900" cy="274200"/>
          </a:xfrm>
          <a:prstGeom prst="roundRect">
            <a:avLst>
              <a:gd fmla="val 6000" name="adj"/>
            </a:avLst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6"/>
          <p:cNvSpPr txBox="1"/>
          <p:nvPr/>
        </p:nvSpPr>
        <p:spPr>
          <a:xfrm>
            <a:off x="3108960" y="3118104"/>
            <a:ext cx="100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⚡ LEVEL</a:t>
            </a:r>
            <a:endParaRPr/>
          </a:p>
        </p:txBody>
      </p:sp>
      <p:sp>
        <p:nvSpPr>
          <p:cNvPr id="511" name="Google Shape;511;p36"/>
          <p:cNvSpPr txBox="1"/>
          <p:nvPr/>
        </p:nvSpPr>
        <p:spPr>
          <a:xfrm>
            <a:off x="4206240" y="3163824"/>
            <a:ext cx="1188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lag: 1 min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2" name="Google Shape;512;p36"/>
          <p:cNvSpPr/>
          <p:nvPr/>
        </p:nvSpPr>
        <p:spPr>
          <a:xfrm>
            <a:off x="347472" y="3639312"/>
            <a:ext cx="5120700" cy="5853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6"/>
          <p:cNvSpPr/>
          <p:nvPr/>
        </p:nvSpPr>
        <p:spPr>
          <a:xfrm>
            <a:off x="347472" y="3639312"/>
            <a:ext cx="63900" cy="585300"/>
          </a:xfrm>
          <a:prstGeom prst="rect">
            <a:avLst/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6"/>
          <p:cNvSpPr txBox="1"/>
          <p:nvPr/>
        </p:nvSpPr>
        <p:spPr>
          <a:xfrm>
            <a:off x="530352" y="3712464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POWERUPS_LIVE</a:t>
            </a:r>
            <a:endParaRPr/>
          </a:p>
        </p:txBody>
      </p:sp>
      <p:sp>
        <p:nvSpPr>
          <p:cNvPr id="515" name="Google Shape;515;p36"/>
          <p:cNvSpPr txBox="1"/>
          <p:nvPr/>
        </p:nvSpPr>
        <p:spPr>
          <a:xfrm>
            <a:off x="530352" y="3986784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Powerup spawn counts</a:t>
            </a:r>
            <a:endParaRPr/>
          </a:p>
        </p:txBody>
      </p:sp>
      <p:sp>
        <p:nvSpPr>
          <p:cNvPr id="516" name="Google Shape;516;p36"/>
          <p:cNvSpPr/>
          <p:nvPr/>
        </p:nvSpPr>
        <p:spPr>
          <a:xfrm>
            <a:off x="3108960" y="3776472"/>
            <a:ext cx="1005900" cy="274200"/>
          </a:xfrm>
          <a:prstGeom prst="roundRect">
            <a:avLst>
              <a:gd fmla="val 6000" name="adj"/>
            </a:avLst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6"/>
          <p:cNvSpPr txBox="1"/>
          <p:nvPr/>
        </p:nvSpPr>
        <p:spPr>
          <a:xfrm>
            <a:off x="3108960" y="3776472"/>
            <a:ext cx="10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⚡ POWERUP_TYPE</a:t>
            </a:r>
            <a:endParaRPr/>
          </a:p>
        </p:txBody>
      </p:sp>
      <p:sp>
        <p:nvSpPr>
          <p:cNvPr id="518" name="Google Shape;518;p36"/>
          <p:cNvSpPr txBox="1"/>
          <p:nvPr/>
        </p:nvSpPr>
        <p:spPr>
          <a:xfrm>
            <a:off x="4206240" y="3822192"/>
            <a:ext cx="1188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lag: 1 min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9" name="Google Shape;519;p36"/>
          <p:cNvSpPr/>
          <p:nvPr/>
        </p:nvSpPr>
        <p:spPr>
          <a:xfrm>
            <a:off x="347472" y="4297679"/>
            <a:ext cx="5120700" cy="5853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6"/>
          <p:cNvSpPr/>
          <p:nvPr/>
        </p:nvSpPr>
        <p:spPr>
          <a:xfrm>
            <a:off x="347472" y="4297679"/>
            <a:ext cx="63900" cy="585300"/>
          </a:xfrm>
          <a:prstGeom prst="rect">
            <a:avLst/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6"/>
          <p:cNvSpPr txBox="1"/>
          <p:nvPr/>
        </p:nvSpPr>
        <p:spPr>
          <a:xfrm>
            <a:off x="530352" y="4370831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PLAYER_SESSIONS_LIVE</a:t>
            </a:r>
            <a:endParaRPr/>
          </a:p>
        </p:txBody>
      </p:sp>
      <p:sp>
        <p:nvSpPr>
          <p:cNvPr id="522" name="Google Shape;522;p36"/>
          <p:cNvSpPr txBox="1"/>
          <p:nvPr/>
        </p:nvSpPr>
        <p:spPr>
          <a:xfrm>
            <a:off x="530352" y="4645151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Per-player session summaries</a:t>
            </a:r>
            <a:endParaRPr/>
          </a:p>
        </p:txBody>
      </p:sp>
      <p:sp>
        <p:nvSpPr>
          <p:cNvPr id="523" name="Google Shape;523;p36"/>
          <p:cNvSpPr/>
          <p:nvPr/>
        </p:nvSpPr>
        <p:spPr>
          <a:xfrm>
            <a:off x="3108960" y="4434839"/>
            <a:ext cx="1005900" cy="274200"/>
          </a:xfrm>
          <a:prstGeom prst="roundRect">
            <a:avLst>
              <a:gd fmla="val 6000" name="adj"/>
            </a:avLst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6"/>
          <p:cNvSpPr txBox="1"/>
          <p:nvPr/>
        </p:nvSpPr>
        <p:spPr>
          <a:xfrm>
            <a:off x="3108960" y="4434839"/>
            <a:ext cx="10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⚡ SESSION_START</a:t>
            </a:r>
            <a:endParaRPr/>
          </a:p>
        </p:txBody>
      </p:sp>
      <p:sp>
        <p:nvSpPr>
          <p:cNvPr id="525" name="Google Shape;525;p36"/>
          <p:cNvSpPr txBox="1"/>
          <p:nvPr/>
        </p:nvSpPr>
        <p:spPr>
          <a:xfrm>
            <a:off x="4206240" y="4480559"/>
            <a:ext cx="1188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lag: 1 min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26" name="Google Shape;526;p36"/>
          <p:cNvSpPr/>
          <p:nvPr/>
        </p:nvSpPr>
        <p:spPr>
          <a:xfrm>
            <a:off x="5669280" y="1005840"/>
            <a:ext cx="3200400" cy="12069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6"/>
          <p:cNvSpPr/>
          <p:nvPr/>
        </p:nvSpPr>
        <p:spPr>
          <a:xfrm>
            <a:off x="5669280" y="1005840"/>
            <a:ext cx="3200400" cy="54900"/>
          </a:xfrm>
          <a:prstGeom prst="roundRect">
            <a:avLst>
              <a:gd fmla="val 5000" name="adj"/>
            </a:avLst>
          </a:prstGeom>
          <a:solidFill>
            <a:srgbClr val="FF9F3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6"/>
          <p:cNvSpPr txBox="1"/>
          <p:nvPr/>
        </p:nvSpPr>
        <p:spPr>
          <a:xfrm>
            <a:off x="5806440" y="1115568"/>
            <a:ext cx="292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⚡ Interactive Warehouse</a:t>
            </a:r>
            <a:endParaRPr/>
          </a:p>
        </p:txBody>
      </p:sp>
      <p:sp>
        <p:nvSpPr>
          <p:cNvPr id="529" name="Google Shape;529;p36"/>
          <p:cNvSpPr txBox="1"/>
          <p:nvPr/>
        </p:nvSpPr>
        <p:spPr>
          <a:xfrm>
            <a:off x="5806440" y="1508760"/>
            <a:ext cx="2926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DIS_MARIO_IWH · XSMALL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24h auto-suspend · sub-second latency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For all 6 tables (ALTER INTERACTIVE TABLE … SET WAREHOUSE)</a:t>
            </a:r>
            <a:endParaRPr/>
          </a:p>
        </p:txBody>
      </p:sp>
      <p:sp>
        <p:nvSpPr>
          <p:cNvPr id="530" name="Google Shape;530;p36"/>
          <p:cNvSpPr/>
          <p:nvPr/>
        </p:nvSpPr>
        <p:spPr>
          <a:xfrm>
            <a:off x="5669280" y="2304288"/>
            <a:ext cx="3200400" cy="12069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6"/>
          <p:cNvSpPr/>
          <p:nvPr/>
        </p:nvSpPr>
        <p:spPr>
          <a:xfrm>
            <a:off x="5669280" y="2304288"/>
            <a:ext cx="3200400" cy="54900"/>
          </a:xfrm>
          <a:prstGeom prst="roundRect">
            <a:avLst>
              <a:gd fmla="val 5000" name="adj"/>
            </a:avLst>
          </a:prstGeom>
          <a:solidFill>
            <a:srgbClr val="71D3D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6"/>
          <p:cNvSpPr txBox="1"/>
          <p:nvPr/>
        </p:nvSpPr>
        <p:spPr>
          <a:xfrm>
            <a:off x="5806440" y="2414016"/>
            <a:ext cx="292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🧠 Semantic View</a:t>
            </a:r>
            <a:endParaRPr/>
          </a:p>
        </p:txBody>
      </p:sp>
      <p:sp>
        <p:nvSpPr>
          <p:cNvPr id="533" name="Google Shape;533;p36"/>
          <p:cNvSpPr txBox="1"/>
          <p:nvPr/>
        </p:nvSpPr>
        <p:spPr>
          <a:xfrm>
            <a:off x="5806440" y="2807208"/>
            <a:ext cx="29262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DIS_MARIO.PUBLIC.MARIO_TELEMETRY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6 tables · 2 joins · 10 VQRs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Created via SYSTEM$CORTEX_ANALYST_FAST_GENERATION</a:t>
            </a:r>
            <a:endParaRPr/>
          </a:p>
        </p:txBody>
      </p:sp>
      <p:sp>
        <p:nvSpPr>
          <p:cNvPr id="534" name="Google Shape;534;p36"/>
          <p:cNvSpPr/>
          <p:nvPr/>
        </p:nvSpPr>
        <p:spPr>
          <a:xfrm>
            <a:off x="5669280" y="3602736"/>
            <a:ext cx="3200400" cy="10059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6"/>
          <p:cNvSpPr/>
          <p:nvPr/>
        </p:nvSpPr>
        <p:spPr>
          <a:xfrm>
            <a:off x="5669280" y="3602736"/>
            <a:ext cx="3200400" cy="54900"/>
          </a:xfrm>
          <a:prstGeom prst="roundRect">
            <a:avLst>
              <a:gd fmla="val 5000" name="adj"/>
            </a:avLst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6"/>
          <p:cNvSpPr txBox="1"/>
          <p:nvPr/>
        </p:nvSpPr>
        <p:spPr>
          <a:xfrm>
            <a:off x="5806440" y="3712464"/>
            <a:ext cx="292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🤖 Cortex Agent</a:t>
            </a:r>
            <a:endParaRPr/>
          </a:p>
        </p:txBody>
      </p:sp>
      <p:sp>
        <p:nvSpPr>
          <p:cNvPr id="537" name="Google Shape;537;p36"/>
          <p:cNvSpPr txBox="1"/>
          <p:nvPr/>
        </p:nvSpPr>
        <p:spPr>
          <a:xfrm>
            <a:off x="5806440" y="4105656"/>
            <a:ext cx="2926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DIS_MARIO.PUBLIC.MARIO_INTELLIGENCE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model: auto · 900s / 400k tokens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NL → SQL via MARIO_TELEMETRY</a:t>
            </a:r>
            <a:endParaRPr/>
          </a:p>
        </p:txBody>
      </p:sp>
      <p:sp>
        <p:nvSpPr>
          <p:cNvPr id="538" name="Google Shape;538;p36"/>
          <p:cNvSpPr txBox="1"/>
          <p:nvPr/>
        </p:nvSpPr>
        <p:spPr>
          <a:xfrm>
            <a:off x="2651023" y="4897423"/>
            <a:ext cx="8229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INTERACTIVE TABLE (not DYNAMIC) · ALTER INTERACTIVE TABLE … SET WAREHOUSE = DIS_MARIO_IWH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9" name="Google Shape;539;p36"/>
          <p:cNvSpPr txBox="1"/>
          <p:nvPr/>
        </p:nvSpPr>
        <p:spPr>
          <a:xfrm>
            <a:off x="6430680" y="165102"/>
            <a:ext cx="466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Built with ✨ Cortex Code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5" y="1983519"/>
            <a:ext cx="8969597" cy="1280036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37"/>
          <p:cNvSpPr txBox="1"/>
          <p:nvPr/>
        </p:nvSpPr>
        <p:spPr>
          <a:xfrm>
            <a:off x="457200" y="256032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Dashboards &amp; AI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546" name="Google Shape;546;p37"/>
          <p:cNvSpPr txBox="1"/>
          <p:nvPr/>
        </p:nvSpPr>
        <p:spPr>
          <a:xfrm>
            <a:off x="457200" y="767654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Four ways to consume the real-time telemetry data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547" name="Google Shape;547;p37"/>
          <p:cNvSpPr/>
          <p:nvPr/>
        </p:nvSpPr>
        <p:spPr>
          <a:xfrm>
            <a:off x="274320" y="1005840"/>
            <a:ext cx="4160400" cy="1755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37"/>
          <p:cNvSpPr/>
          <p:nvPr/>
        </p:nvSpPr>
        <p:spPr>
          <a:xfrm>
            <a:off x="274320" y="1005840"/>
            <a:ext cx="4160400" cy="54900"/>
          </a:xfrm>
          <a:prstGeom prst="roundRect">
            <a:avLst>
              <a:gd fmla="val 4000" name="adj"/>
            </a:avLst>
          </a:prstGeom>
          <a:solidFill>
            <a:srgbClr val="71D3D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7"/>
          <p:cNvSpPr txBox="1"/>
          <p:nvPr/>
        </p:nvSpPr>
        <p:spPr>
          <a:xfrm>
            <a:off x="402336" y="1115568"/>
            <a:ext cx="384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📊</a:t>
            </a:r>
            <a:endParaRPr/>
          </a:p>
        </p:txBody>
      </p:sp>
      <p:sp>
        <p:nvSpPr>
          <p:cNvPr id="550" name="Google Shape;550;p37"/>
          <p:cNvSpPr txBox="1"/>
          <p:nvPr/>
        </p:nvSpPr>
        <p:spPr>
          <a:xfrm>
            <a:off x="868680" y="1097280"/>
            <a:ext cx="342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Streamlit — Legacy</a:t>
            </a:r>
            <a:endParaRPr/>
          </a:p>
        </p:txBody>
      </p:sp>
      <p:sp>
        <p:nvSpPr>
          <p:cNvPr id="551" name="Google Shape;551;p37"/>
          <p:cNvSpPr txBox="1"/>
          <p:nvPr/>
        </p:nvSpPr>
        <p:spPr>
          <a:xfrm>
            <a:off x="868680" y="1408176"/>
            <a:ext cx="3429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MARIO_DB.PUBLIC.MARIO_TELEMETRY_DASHBOARD</a:t>
            </a:r>
            <a:endParaRPr/>
          </a:p>
        </p:txBody>
      </p:sp>
      <p:sp>
        <p:nvSpPr>
          <p:cNvPr id="552" name="Google Shape;552;p37"/>
          <p:cNvSpPr txBox="1"/>
          <p:nvPr/>
        </p:nvSpPr>
        <p:spPr>
          <a:xfrm>
            <a:off x="402336" y="1700784"/>
            <a:ext cx="3904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Event table views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Leaderboard: last 24h only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5 tabs: Leaderboard, Events,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Deaths, Controls, Platform Metrics</a:t>
            </a:r>
            <a:endParaRPr/>
          </a:p>
        </p:txBody>
      </p:sp>
      <p:sp>
        <p:nvSpPr>
          <p:cNvPr id="553" name="Google Shape;553;p37"/>
          <p:cNvSpPr/>
          <p:nvPr/>
        </p:nvSpPr>
        <p:spPr>
          <a:xfrm>
            <a:off x="274320" y="2907792"/>
            <a:ext cx="4160400" cy="1755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7"/>
          <p:cNvSpPr/>
          <p:nvPr/>
        </p:nvSpPr>
        <p:spPr>
          <a:xfrm>
            <a:off x="274320" y="2907792"/>
            <a:ext cx="4160400" cy="54900"/>
          </a:xfrm>
          <a:prstGeom prst="roundRect">
            <a:avLst>
              <a:gd fmla="val 4000" name="adj"/>
            </a:avLst>
          </a:prstGeom>
          <a:solidFill>
            <a:srgbClr val="FF9F3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7"/>
          <p:cNvSpPr txBox="1"/>
          <p:nvPr/>
        </p:nvSpPr>
        <p:spPr>
          <a:xfrm>
            <a:off x="402336" y="3017520"/>
            <a:ext cx="384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⚡</a:t>
            </a:r>
            <a:endParaRPr/>
          </a:p>
        </p:txBody>
      </p:sp>
      <p:sp>
        <p:nvSpPr>
          <p:cNvPr id="556" name="Google Shape;556;p37"/>
          <p:cNvSpPr txBox="1"/>
          <p:nvPr/>
        </p:nvSpPr>
        <p:spPr>
          <a:xfrm>
            <a:off x="868680" y="2999232"/>
            <a:ext cx="342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Streamlit — Live</a:t>
            </a:r>
            <a:endParaRPr/>
          </a:p>
        </p:txBody>
      </p:sp>
      <p:sp>
        <p:nvSpPr>
          <p:cNvPr id="557" name="Google Shape;557;p37"/>
          <p:cNvSpPr txBox="1"/>
          <p:nvPr/>
        </p:nvSpPr>
        <p:spPr>
          <a:xfrm>
            <a:off x="868680" y="3310128"/>
            <a:ext cx="342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DIS_MARIO.PUBLIC.DIS_MARIO_TELEMETRY_DASHBOARD</a:t>
            </a:r>
            <a:endParaRPr/>
          </a:p>
        </p:txBody>
      </p:sp>
      <p:sp>
        <p:nvSpPr>
          <p:cNvPr id="558" name="Google Shape;558;p37"/>
          <p:cNvSpPr txBox="1"/>
          <p:nvPr/>
        </p:nvSpPr>
        <p:spPr>
          <a:xfrm>
            <a:off x="402336" y="3602736"/>
            <a:ext cx="3904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Interactive Tables backend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10s cache TTL · near-realtime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Player dropdown filter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6 KPI cards + Snowflake branding</a:t>
            </a:r>
            <a:endParaRPr/>
          </a:p>
        </p:txBody>
      </p:sp>
      <p:sp>
        <p:nvSpPr>
          <p:cNvPr id="559" name="Google Shape;559;p37"/>
          <p:cNvSpPr/>
          <p:nvPr/>
        </p:nvSpPr>
        <p:spPr>
          <a:xfrm>
            <a:off x="4663440" y="1005840"/>
            <a:ext cx="4160400" cy="1755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7"/>
          <p:cNvSpPr/>
          <p:nvPr/>
        </p:nvSpPr>
        <p:spPr>
          <a:xfrm>
            <a:off x="4663440" y="1005840"/>
            <a:ext cx="4160400" cy="54900"/>
          </a:xfrm>
          <a:prstGeom prst="roundRect">
            <a:avLst>
              <a:gd fmla="val 4000" name="adj"/>
            </a:avLst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7"/>
          <p:cNvSpPr txBox="1"/>
          <p:nvPr/>
        </p:nvSpPr>
        <p:spPr>
          <a:xfrm>
            <a:off x="4791456" y="1115568"/>
            <a:ext cx="384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⚛️</a:t>
            </a:r>
            <a:endParaRPr/>
          </a:p>
        </p:txBody>
      </p:sp>
      <p:sp>
        <p:nvSpPr>
          <p:cNvPr id="562" name="Google Shape;562;p37"/>
          <p:cNvSpPr txBox="1"/>
          <p:nvPr/>
        </p:nvSpPr>
        <p:spPr>
          <a:xfrm>
            <a:off x="5257800" y="1097280"/>
            <a:ext cx="342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React App</a:t>
            </a:r>
            <a:endParaRPr/>
          </a:p>
        </p:txBody>
      </p:sp>
      <p:sp>
        <p:nvSpPr>
          <p:cNvPr id="563" name="Google Shape;563;p37"/>
          <p:cNvSpPr txBox="1"/>
          <p:nvPr/>
        </p:nvSpPr>
        <p:spPr>
          <a:xfrm>
            <a:off x="5257800" y="1408176"/>
            <a:ext cx="3429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Next.js 16.2.3 · port 3456</a:t>
            </a:r>
            <a:endParaRPr/>
          </a:p>
        </p:txBody>
      </p:sp>
      <p:sp>
        <p:nvSpPr>
          <p:cNvPr id="564" name="Google Shape;564;p37"/>
          <p:cNvSpPr txBox="1"/>
          <p:nvPr/>
        </p:nvSpPr>
        <p:spPr>
          <a:xfrm>
            <a:off x="4791456" y="1700784"/>
            <a:ext cx="3904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JWT auth locally, OAuth in SPCS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5s polling · Recharts charts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Animated Data Pipeline tab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Snowflake logo + Cortex Code badge</a:t>
            </a:r>
            <a:endParaRPr/>
          </a:p>
        </p:txBody>
      </p:sp>
      <p:sp>
        <p:nvSpPr>
          <p:cNvPr id="565" name="Google Shape;565;p37"/>
          <p:cNvSpPr/>
          <p:nvPr/>
        </p:nvSpPr>
        <p:spPr>
          <a:xfrm>
            <a:off x="4663440" y="2907792"/>
            <a:ext cx="4160400" cy="1755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7"/>
          <p:cNvSpPr/>
          <p:nvPr/>
        </p:nvSpPr>
        <p:spPr>
          <a:xfrm>
            <a:off x="4663440" y="2907792"/>
            <a:ext cx="4160400" cy="54900"/>
          </a:xfrm>
          <a:prstGeom prst="roundRect">
            <a:avLst>
              <a:gd fmla="val 4000" name="adj"/>
            </a:avLst>
          </a:prstGeom>
          <a:solidFill>
            <a:srgbClr val="D45B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7"/>
          <p:cNvSpPr txBox="1"/>
          <p:nvPr/>
        </p:nvSpPr>
        <p:spPr>
          <a:xfrm>
            <a:off x="4791456" y="3017520"/>
            <a:ext cx="384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🤖</a:t>
            </a:r>
            <a:endParaRPr/>
          </a:p>
        </p:txBody>
      </p:sp>
      <p:sp>
        <p:nvSpPr>
          <p:cNvPr id="568" name="Google Shape;568;p37"/>
          <p:cNvSpPr txBox="1"/>
          <p:nvPr/>
        </p:nvSpPr>
        <p:spPr>
          <a:xfrm>
            <a:off x="5257800" y="2999232"/>
            <a:ext cx="342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Cortex Agent</a:t>
            </a:r>
            <a:endParaRPr/>
          </a:p>
        </p:txBody>
      </p:sp>
      <p:sp>
        <p:nvSpPr>
          <p:cNvPr id="569" name="Google Shape;569;p37"/>
          <p:cNvSpPr txBox="1"/>
          <p:nvPr/>
        </p:nvSpPr>
        <p:spPr>
          <a:xfrm>
            <a:off x="5257800" y="3310128"/>
            <a:ext cx="3429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DIS_MARIO.PUBLIC.MARIO_INTELLIGENCE</a:t>
            </a:r>
            <a:endParaRPr/>
          </a:p>
        </p:txBody>
      </p:sp>
      <p:sp>
        <p:nvSpPr>
          <p:cNvPr id="570" name="Google Shape;570;p37"/>
          <p:cNvSpPr txBox="1"/>
          <p:nvPr/>
        </p:nvSpPr>
        <p:spPr>
          <a:xfrm>
            <a:off x="4791456" y="3602736"/>
            <a:ext cx="3904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NL → SQL via MARIO_TELEMETRY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model: auto · 900s budget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Try: 'Who died most on 1-1?'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'What's the avg session time?'</a:t>
            </a:r>
            <a:endParaRPr/>
          </a:p>
        </p:txBody>
      </p:sp>
      <p:sp>
        <p:nvSpPr>
          <p:cNvPr id="571" name="Google Shape;571;p37"/>
          <p:cNvSpPr txBox="1"/>
          <p:nvPr/>
        </p:nvSpPr>
        <p:spPr>
          <a:xfrm>
            <a:off x="2558848" y="4768378"/>
            <a:ext cx="8229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dashboards: Snowflake logotype SVG · Powered by Cortex Code badge · Animated polar bear 🐻‍❄️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2" name="Google Shape;572;p37"/>
          <p:cNvSpPr txBox="1"/>
          <p:nvPr/>
        </p:nvSpPr>
        <p:spPr>
          <a:xfrm>
            <a:off x="6080405" y="9727"/>
            <a:ext cx="466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Built with ✨ Cortex Code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Google Shape;57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5" y="1983519"/>
            <a:ext cx="8969597" cy="1280036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8"/>
          <p:cNvSpPr txBox="1"/>
          <p:nvPr/>
        </p:nvSpPr>
        <p:spPr>
          <a:xfrm>
            <a:off x="457200" y="256032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Snowflake Features Demonstrated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9" name="Google Shape;579;p38"/>
          <p:cNvSpPr txBox="1"/>
          <p:nvPr/>
        </p:nvSpPr>
        <p:spPr>
          <a:xfrm>
            <a:off x="457200" y="786089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 component in this demo is a production Snowflake feature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0" name="Google Shape;580;p38"/>
          <p:cNvSpPr/>
          <p:nvPr/>
        </p:nvSpPr>
        <p:spPr>
          <a:xfrm>
            <a:off x="347472" y="1005840"/>
            <a:ext cx="8449200" cy="5121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8"/>
          <p:cNvSpPr/>
          <p:nvPr/>
        </p:nvSpPr>
        <p:spPr>
          <a:xfrm>
            <a:off x="347472" y="1005840"/>
            <a:ext cx="63900" cy="512100"/>
          </a:xfrm>
          <a:prstGeom prst="rect">
            <a:avLst/>
          </a:prstGeom>
          <a:solidFill>
            <a:srgbClr val="71D3D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8"/>
          <p:cNvSpPr txBox="1"/>
          <p:nvPr/>
        </p:nvSpPr>
        <p:spPr>
          <a:xfrm>
            <a:off x="530352" y="1078992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Snowpark Container Services</a:t>
            </a:r>
            <a:endParaRPr/>
          </a:p>
        </p:txBody>
      </p:sp>
      <p:sp>
        <p:nvSpPr>
          <p:cNvPr id="583" name="Google Shape;583;p38"/>
          <p:cNvSpPr txBox="1"/>
          <p:nvPr/>
        </p:nvSpPr>
        <p:spPr>
          <a:xfrm>
            <a:off x="530352" y="1298448"/>
            <a:ext cx="813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Docker container · public ingress · platform monitoring · Sf-Context-Current-User header injection</a:t>
            </a:r>
            <a:endParaRPr/>
          </a:p>
        </p:txBody>
      </p:sp>
      <p:sp>
        <p:nvSpPr>
          <p:cNvPr id="584" name="Google Shape;584;p38"/>
          <p:cNvSpPr/>
          <p:nvPr/>
        </p:nvSpPr>
        <p:spPr>
          <a:xfrm>
            <a:off x="347472" y="1581912"/>
            <a:ext cx="8449200" cy="5121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8"/>
          <p:cNvSpPr/>
          <p:nvPr/>
        </p:nvSpPr>
        <p:spPr>
          <a:xfrm>
            <a:off x="347472" y="1581912"/>
            <a:ext cx="63900" cy="512100"/>
          </a:xfrm>
          <a:prstGeom prst="rect">
            <a:avLst/>
          </a:prstGeom>
          <a:solidFill>
            <a:srgbClr val="FF9F3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8"/>
          <p:cNvSpPr txBox="1"/>
          <p:nvPr/>
        </p:nvSpPr>
        <p:spPr>
          <a:xfrm>
            <a:off x="530352" y="1655064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SPCS Event Tables</a:t>
            </a:r>
            <a:endParaRPr/>
          </a:p>
        </p:txBody>
      </p:sp>
      <p:sp>
        <p:nvSpPr>
          <p:cNvPr id="587" name="Google Shape;587;p38"/>
          <p:cNvSpPr txBox="1"/>
          <p:nvPr/>
        </p:nvSpPr>
        <p:spPr>
          <a:xfrm>
            <a:off x="530352" y="1874520"/>
            <a:ext cx="813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Native OTel store for spans, metrics, logs · OTLP gRPC exporter · 90+ built-in platform metric types</a:t>
            </a:r>
            <a:endParaRPr/>
          </a:p>
        </p:txBody>
      </p:sp>
      <p:sp>
        <p:nvSpPr>
          <p:cNvPr id="588" name="Google Shape;588;p38"/>
          <p:cNvSpPr/>
          <p:nvPr/>
        </p:nvSpPr>
        <p:spPr>
          <a:xfrm>
            <a:off x="347472" y="2157984"/>
            <a:ext cx="8449200" cy="5121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8"/>
          <p:cNvSpPr/>
          <p:nvPr/>
        </p:nvSpPr>
        <p:spPr>
          <a:xfrm>
            <a:off x="347472" y="2157984"/>
            <a:ext cx="63900" cy="512100"/>
          </a:xfrm>
          <a:prstGeom prst="rect">
            <a:avLst/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8"/>
          <p:cNvSpPr txBox="1"/>
          <p:nvPr/>
        </p:nvSpPr>
        <p:spPr>
          <a:xfrm>
            <a:off x="530352" y="2231136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Interactive Tables</a:t>
            </a:r>
            <a:endParaRPr/>
          </a:p>
        </p:txBody>
      </p:sp>
      <p:sp>
        <p:nvSpPr>
          <p:cNvPr id="591" name="Google Shape;591;p38"/>
          <p:cNvSpPr txBox="1"/>
          <p:nvPr/>
        </p:nvSpPr>
        <p:spPr>
          <a:xfrm>
            <a:off x="530352" y="2450592"/>
            <a:ext cx="813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Sub-second query latency · 1-min target lag · cluster keys · Interactive Warehouse · near-realtime dashboards</a:t>
            </a:r>
            <a:endParaRPr/>
          </a:p>
        </p:txBody>
      </p:sp>
      <p:sp>
        <p:nvSpPr>
          <p:cNvPr id="592" name="Google Shape;592;p38"/>
          <p:cNvSpPr/>
          <p:nvPr/>
        </p:nvSpPr>
        <p:spPr>
          <a:xfrm>
            <a:off x="347472" y="2734056"/>
            <a:ext cx="8449200" cy="5121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8"/>
          <p:cNvSpPr/>
          <p:nvPr/>
        </p:nvSpPr>
        <p:spPr>
          <a:xfrm>
            <a:off x="347472" y="2734056"/>
            <a:ext cx="63900" cy="512100"/>
          </a:xfrm>
          <a:prstGeom prst="rect">
            <a:avLst/>
          </a:prstGeom>
          <a:solidFill>
            <a:srgbClr val="D45B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8"/>
          <p:cNvSpPr txBox="1"/>
          <p:nvPr/>
        </p:nvSpPr>
        <p:spPr>
          <a:xfrm>
            <a:off x="530352" y="2807208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Cortex Analyst</a:t>
            </a:r>
            <a:endParaRPr/>
          </a:p>
        </p:txBody>
      </p:sp>
      <p:sp>
        <p:nvSpPr>
          <p:cNvPr id="595" name="Google Shape;595;p38"/>
          <p:cNvSpPr txBox="1"/>
          <p:nvPr/>
        </p:nvSpPr>
        <p:spPr>
          <a:xfrm>
            <a:off x="530352" y="3026664"/>
            <a:ext cx="813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Semantic View over 6 tables · FastGen VQR generation · SYSTEM$CREATE_SEMANTIC_VIEW_FROM_YAML</a:t>
            </a:r>
            <a:endParaRPr/>
          </a:p>
        </p:txBody>
      </p:sp>
      <p:sp>
        <p:nvSpPr>
          <p:cNvPr id="596" name="Google Shape;596;p38"/>
          <p:cNvSpPr/>
          <p:nvPr/>
        </p:nvSpPr>
        <p:spPr>
          <a:xfrm>
            <a:off x="347472" y="3310128"/>
            <a:ext cx="8449200" cy="5121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8"/>
          <p:cNvSpPr/>
          <p:nvPr/>
        </p:nvSpPr>
        <p:spPr>
          <a:xfrm>
            <a:off x="347472" y="3310128"/>
            <a:ext cx="63900" cy="512100"/>
          </a:xfrm>
          <a:prstGeom prst="rect">
            <a:avLst/>
          </a:prstGeom>
          <a:solidFill>
            <a:srgbClr val="71D3D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8"/>
          <p:cNvSpPr txBox="1"/>
          <p:nvPr/>
        </p:nvSpPr>
        <p:spPr>
          <a:xfrm>
            <a:off x="530352" y="3383280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Cortex Agents</a:t>
            </a:r>
            <a:endParaRPr/>
          </a:p>
        </p:txBody>
      </p:sp>
      <p:sp>
        <p:nvSpPr>
          <p:cNvPr id="599" name="Google Shape;599;p38"/>
          <p:cNvSpPr txBox="1"/>
          <p:nvPr/>
        </p:nvSpPr>
        <p:spPr>
          <a:xfrm>
            <a:off x="530352" y="3602736"/>
            <a:ext cx="813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Custom orchestration + response instructions · MARIO_INTELLIGENCE agent · cortex_analyst_text_to_sql tool</a:t>
            </a:r>
            <a:endParaRPr/>
          </a:p>
        </p:txBody>
      </p:sp>
      <p:sp>
        <p:nvSpPr>
          <p:cNvPr id="600" name="Google Shape;600;p38"/>
          <p:cNvSpPr/>
          <p:nvPr/>
        </p:nvSpPr>
        <p:spPr>
          <a:xfrm>
            <a:off x="347472" y="3886200"/>
            <a:ext cx="8449200" cy="5121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8"/>
          <p:cNvSpPr/>
          <p:nvPr/>
        </p:nvSpPr>
        <p:spPr>
          <a:xfrm>
            <a:off x="347472" y="3886200"/>
            <a:ext cx="63900" cy="512100"/>
          </a:xfrm>
          <a:prstGeom prst="rect">
            <a:avLst/>
          </a:prstGeom>
          <a:solidFill>
            <a:srgbClr val="FF9F3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8"/>
          <p:cNvSpPr txBox="1"/>
          <p:nvPr/>
        </p:nvSpPr>
        <p:spPr>
          <a:xfrm>
            <a:off x="530352" y="3959352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Streamlit in Snowsight</a:t>
            </a:r>
            <a:endParaRPr/>
          </a:p>
        </p:txBody>
      </p:sp>
      <p:sp>
        <p:nvSpPr>
          <p:cNvPr id="603" name="Google Shape;603;p38"/>
          <p:cNvSpPr txBox="1"/>
          <p:nvPr/>
        </p:nvSpPr>
        <p:spPr>
          <a:xfrm>
            <a:off x="530352" y="4178808"/>
            <a:ext cx="813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Container runtime · SYSTEM_COMPUTE_POOL_CPU · pip packages · snow CLI deploy · player filter</a:t>
            </a:r>
            <a:endParaRPr/>
          </a:p>
        </p:txBody>
      </p:sp>
      <p:sp>
        <p:nvSpPr>
          <p:cNvPr id="604" name="Google Shape;604;p38"/>
          <p:cNvSpPr/>
          <p:nvPr/>
        </p:nvSpPr>
        <p:spPr>
          <a:xfrm>
            <a:off x="347472" y="4462272"/>
            <a:ext cx="8449200" cy="5121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8"/>
          <p:cNvSpPr/>
          <p:nvPr/>
        </p:nvSpPr>
        <p:spPr>
          <a:xfrm>
            <a:off x="347472" y="4462272"/>
            <a:ext cx="63900" cy="512100"/>
          </a:xfrm>
          <a:prstGeom prst="rect">
            <a:avLst/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8"/>
          <p:cNvSpPr txBox="1"/>
          <p:nvPr/>
        </p:nvSpPr>
        <p:spPr>
          <a:xfrm>
            <a:off x="530352" y="4535424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Semi-structured JSON</a:t>
            </a:r>
            <a:endParaRPr/>
          </a:p>
        </p:txBody>
      </p:sp>
      <p:sp>
        <p:nvSpPr>
          <p:cNvPr id="607" name="Google Shape;607;p38"/>
          <p:cNvSpPr txBox="1"/>
          <p:nvPr/>
        </p:nvSpPr>
        <p:spPr>
          <a:xfrm>
            <a:off x="530352" y="4754880"/>
            <a:ext cx="8138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record:name::STRING · record_attributes:player_name::STRING · VARIANT extraction at query time</a:t>
            </a:r>
            <a:endParaRPr/>
          </a:p>
        </p:txBody>
      </p:sp>
      <p:sp>
        <p:nvSpPr>
          <p:cNvPr id="608" name="Google Shape;608;p38"/>
          <p:cNvSpPr txBox="1"/>
          <p:nvPr/>
        </p:nvSpPr>
        <p:spPr>
          <a:xfrm>
            <a:off x="457200" y="4796028"/>
            <a:ext cx="8229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 u="none" cap="none" strike="noStrike">
                <a:solidFill>
                  <a:srgbClr val="E8F4FB"/>
                </a:solidFill>
                <a:latin typeface="Arial"/>
                <a:ea typeface="Arial"/>
                <a:cs typeface="Arial"/>
                <a:sym typeface="Arial"/>
              </a:rPr>
              <a:t>Zero external infrastructure · All data stays in Snowflake · Everything demos in a single account</a:t>
            </a:r>
            <a:endParaRPr/>
          </a:p>
        </p:txBody>
      </p:sp>
      <p:sp>
        <p:nvSpPr>
          <p:cNvPr id="609" name="Google Shape;609;p38"/>
          <p:cNvSpPr txBox="1"/>
          <p:nvPr/>
        </p:nvSpPr>
        <p:spPr>
          <a:xfrm>
            <a:off x="6679555" y="36502"/>
            <a:ext cx="466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Built with ✨ Cortex Code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5" y="1983519"/>
            <a:ext cx="8969597" cy="1280036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9"/>
          <p:cNvSpPr txBox="1"/>
          <p:nvPr/>
        </p:nvSpPr>
        <p:spPr>
          <a:xfrm>
            <a:off x="457200" y="256032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Learnings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6" name="Google Shape;616;p39"/>
          <p:cNvSpPr txBox="1"/>
          <p:nvPr/>
        </p:nvSpPr>
        <p:spPr>
          <a:xfrm>
            <a:off x="457200" y="71336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Five things that surprised us building this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7" name="Google Shape;617;p39"/>
          <p:cNvSpPr/>
          <p:nvPr/>
        </p:nvSpPr>
        <p:spPr>
          <a:xfrm>
            <a:off x="274320" y="1005840"/>
            <a:ext cx="281640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39"/>
          <p:cNvSpPr/>
          <p:nvPr/>
        </p:nvSpPr>
        <p:spPr>
          <a:xfrm>
            <a:off x="274320" y="1005840"/>
            <a:ext cx="2816400" cy="54900"/>
          </a:xfrm>
          <a:prstGeom prst="roundRect">
            <a:avLst>
              <a:gd fmla="val 5000" name="adj"/>
            </a:avLst>
          </a:prstGeom>
          <a:solidFill>
            <a:srgbClr val="71D3D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39"/>
          <p:cNvSpPr txBox="1"/>
          <p:nvPr/>
        </p:nvSpPr>
        <p:spPr>
          <a:xfrm>
            <a:off x="411480" y="1115568"/>
            <a:ext cx="2541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🐳  Always use --no-cache</a:t>
            </a:r>
            <a:endParaRPr/>
          </a:p>
        </p:txBody>
      </p:sp>
      <p:sp>
        <p:nvSpPr>
          <p:cNvPr id="620" name="Google Shape;620;p39"/>
          <p:cNvSpPr txBox="1"/>
          <p:nvPr/>
        </p:nvSpPr>
        <p:spPr>
          <a:xfrm>
            <a:off x="411480" y="1508760"/>
            <a:ext cx="25419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Docker silently reuses stale cached layers.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suspend/resume does NOT re-pull the image.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Use ALTER SERVICE FROM SPECIFICATION.</a:t>
            </a:r>
            <a:endParaRPr/>
          </a:p>
        </p:txBody>
      </p:sp>
      <p:sp>
        <p:nvSpPr>
          <p:cNvPr id="621" name="Google Shape;621;p39"/>
          <p:cNvSpPr/>
          <p:nvPr/>
        </p:nvSpPr>
        <p:spPr>
          <a:xfrm>
            <a:off x="3218688" y="1005840"/>
            <a:ext cx="281640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39"/>
          <p:cNvSpPr/>
          <p:nvPr/>
        </p:nvSpPr>
        <p:spPr>
          <a:xfrm>
            <a:off x="3218688" y="1005840"/>
            <a:ext cx="2816400" cy="54900"/>
          </a:xfrm>
          <a:prstGeom prst="roundRect">
            <a:avLst>
              <a:gd fmla="val 5000" name="adj"/>
            </a:avLst>
          </a:prstGeom>
          <a:solidFill>
            <a:srgbClr val="FF9F3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9"/>
          <p:cNvSpPr txBox="1"/>
          <p:nvPr/>
        </p:nvSpPr>
        <p:spPr>
          <a:xfrm>
            <a:off x="3355848" y="1115568"/>
            <a:ext cx="2541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📍  nginx exact match</a:t>
            </a:r>
            <a:endParaRPr/>
          </a:p>
        </p:txBody>
      </p:sp>
      <p:sp>
        <p:nvSpPr>
          <p:cNvPr id="624" name="Google Shape;624;p39"/>
          <p:cNvSpPr txBox="1"/>
          <p:nvPr/>
        </p:nvSpPr>
        <p:spPr>
          <a:xfrm>
            <a:off x="3355848" y="1508760"/>
            <a:ext cx="2541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location /telemetry is a prefix match 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it catches /telemetry.js too.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Always use: location = /telemetry</a:t>
            </a:r>
            <a:endParaRPr/>
          </a:p>
        </p:txBody>
      </p:sp>
      <p:sp>
        <p:nvSpPr>
          <p:cNvPr id="625" name="Google Shape;625;p39"/>
          <p:cNvSpPr/>
          <p:nvPr/>
        </p:nvSpPr>
        <p:spPr>
          <a:xfrm>
            <a:off x="6163056" y="1005840"/>
            <a:ext cx="281640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9"/>
          <p:cNvSpPr/>
          <p:nvPr/>
        </p:nvSpPr>
        <p:spPr>
          <a:xfrm>
            <a:off x="6163056" y="1005840"/>
            <a:ext cx="2816400" cy="54900"/>
          </a:xfrm>
          <a:prstGeom prst="roundRect">
            <a:avLst>
              <a:gd fmla="val 5000" name="adj"/>
            </a:avLst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9"/>
          <p:cNvSpPr txBox="1"/>
          <p:nvPr/>
        </p:nvSpPr>
        <p:spPr>
          <a:xfrm>
            <a:off x="6300216" y="1115568"/>
            <a:ext cx="254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👤  Browser must send player_name</a:t>
            </a:r>
            <a:endParaRPr/>
          </a:p>
        </p:txBody>
      </p:sp>
      <p:sp>
        <p:nvSpPr>
          <p:cNvPr id="628" name="Google Shape;628;p39"/>
          <p:cNvSpPr txBox="1"/>
          <p:nvPr/>
        </p:nvSpPr>
        <p:spPr>
          <a:xfrm>
            <a:off x="6300216" y="1508760"/>
            <a:ext cx="2541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Sidecar had header extraction but browser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was calling /whoami for banner only.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Fix: add player_name to every send() call.</a:t>
            </a:r>
            <a:endParaRPr/>
          </a:p>
        </p:txBody>
      </p:sp>
      <p:sp>
        <p:nvSpPr>
          <p:cNvPr id="629" name="Google Shape;629;p39"/>
          <p:cNvSpPr/>
          <p:nvPr/>
        </p:nvSpPr>
        <p:spPr>
          <a:xfrm>
            <a:off x="274320" y="2999232"/>
            <a:ext cx="281640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9"/>
          <p:cNvSpPr/>
          <p:nvPr/>
        </p:nvSpPr>
        <p:spPr>
          <a:xfrm>
            <a:off x="274320" y="2999232"/>
            <a:ext cx="2816400" cy="54900"/>
          </a:xfrm>
          <a:prstGeom prst="roundRect">
            <a:avLst>
              <a:gd fmla="val 5000" name="adj"/>
            </a:avLst>
          </a:prstGeom>
          <a:solidFill>
            <a:srgbClr val="D45B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9"/>
          <p:cNvSpPr txBox="1"/>
          <p:nvPr/>
        </p:nvSpPr>
        <p:spPr>
          <a:xfrm>
            <a:off x="411480" y="3108960"/>
            <a:ext cx="2541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📦  Bundle all dependencies</a:t>
            </a:r>
            <a:endParaRPr/>
          </a:p>
        </p:txBody>
      </p:sp>
      <p:sp>
        <p:nvSpPr>
          <p:cNvPr id="632" name="Google Shape;632;p39"/>
          <p:cNvSpPr txBox="1"/>
          <p:nvPr/>
        </p:nvSpPr>
        <p:spPr>
          <a:xfrm>
            <a:off x="411480" y="3502152"/>
            <a:ext cx="2541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SPCS blocks external egress.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CDN URLs fail silently at runtime.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Bundle jQuery inside the Docker image.</a:t>
            </a:r>
            <a:endParaRPr/>
          </a:p>
        </p:txBody>
      </p:sp>
      <p:sp>
        <p:nvSpPr>
          <p:cNvPr id="633" name="Google Shape;633;p39"/>
          <p:cNvSpPr/>
          <p:nvPr/>
        </p:nvSpPr>
        <p:spPr>
          <a:xfrm>
            <a:off x="3218688" y="2999232"/>
            <a:ext cx="281640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9"/>
          <p:cNvSpPr/>
          <p:nvPr/>
        </p:nvSpPr>
        <p:spPr>
          <a:xfrm>
            <a:off x="3218688" y="2999232"/>
            <a:ext cx="2816400" cy="54900"/>
          </a:xfrm>
          <a:prstGeom prst="roundRect">
            <a:avLst>
              <a:gd fmla="val 5000" name="adj"/>
            </a:avLst>
          </a:prstGeom>
          <a:solidFill>
            <a:srgbClr val="71D3D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9"/>
          <p:cNvSpPr txBox="1"/>
          <p:nvPr/>
        </p:nvSpPr>
        <p:spPr>
          <a:xfrm>
            <a:off x="3355848" y="3108960"/>
            <a:ext cx="2541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🔑  JWT for headless auth</a:t>
            </a:r>
            <a:endParaRPr/>
          </a:p>
        </p:txBody>
      </p:sp>
      <p:sp>
        <p:nvSpPr>
          <p:cNvPr id="636" name="Google Shape;636;p39"/>
          <p:cNvSpPr txBox="1"/>
          <p:nvPr/>
        </p:nvSpPr>
        <p:spPr>
          <a:xfrm>
            <a:off x="3355848" y="3502152"/>
            <a:ext cx="25419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EXTERNALBROWSER fails in Node.js.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Use SNOWFLAKE_JWT keypair auth.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snow spcs image-registry login for MFA.</a:t>
            </a:r>
            <a:endParaRPr/>
          </a:p>
        </p:txBody>
      </p:sp>
      <p:sp>
        <p:nvSpPr>
          <p:cNvPr id="637" name="Google Shape;637;p39"/>
          <p:cNvSpPr txBox="1"/>
          <p:nvPr/>
        </p:nvSpPr>
        <p:spPr>
          <a:xfrm>
            <a:off x="7066705" y="4828027"/>
            <a:ext cx="466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Built with ✨ Cortex Code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5" y="1983519"/>
            <a:ext cx="8969597" cy="1280036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0"/>
          <p:cNvSpPr txBox="1"/>
          <p:nvPr>
            <p:ph idx="4294967295" type="body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</a:pPr>
            <a:r>
              <a:t/>
            </a:r>
            <a:endParaRPr/>
          </a:p>
        </p:txBody>
      </p:sp>
      <p:sp>
        <p:nvSpPr>
          <p:cNvPr id="644" name="Google Shape;644;p40"/>
          <p:cNvSpPr/>
          <p:nvPr/>
        </p:nvSpPr>
        <p:spPr>
          <a:xfrm>
            <a:off x="0" y="0"/>
            <a:ext cx="53034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40"/>
          <p:cNvSpPr/>
          <p:nvPr/>
        </p:nvSpPr>
        <p:spPr>
          <a:xfrm>
            <a:off x="5303520" y="0"/>
            <a:ext cx="54900" cy="5143500"/>
          </a:xfrm>
          <a:prstGeom prst="rect">
            <a:avLst/>
          </a:prstGeom>
          <a:solidFill>
            <a:srgbClr val="29B5E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40"/>
          <p:cNvSpPr txBox="1"/>
          <p:nvPr/>
        </p:nvSpPr>
        <p:spPr>
          <a:xfrm>
            <a:off x="411480" y="502920"/>
            <a:ext cx="466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Thanks for playing! 🍄</a:t>
            </a:r>
            <a:endParaRPr/>
          </a:p>
        </p:txBody>
      </p:sp>
      <p:sp>
        <p:nvSpPr>
          <p:cNvPr id="647" name="Google Shape;647;p40"/>
          <p:cNvSpPr/>
          <p:nvPr/>
        </p:nvSpPr>
        <p:spPr>
          <a:xfrm>
            <a:off x="411480" y="1280160"/>
            <a:ext cx="1828800" cy="45600"/>
          </a:xfrm>
          <a:prstGeom prst="rect">
            <a:avLst/>
          </a:prstGeom>
          <a:solidFill>
            <a:srgbClr val="71D3D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40"/>
          <p:cNvSpPr txBox="1"/>
          <p:nvPr/>
        </p:nvSpPr>
        <p:spPr>
          <a:xfrm>
            <a:off x="411480" y="1417320"/>
            <a:ext cx="46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Questions welcome — let's talk SPCS, Interactive Tables, Cortex AI</a:t>
            </a:r>
            <a:endParaRPr/>
          </a:p>
        </p:txBody>
      </p:sp>
      <p:sp>
        <p:nvSpPr>
          <p:cNvPr id="649" name="Google Shape;649;p40"/>
          <p:cNvSpPr/>
          <p:nvPr/>
        </p:nvSpPr>
        <p:spPr>
          <a:xfrm>
            <a:off x="411480" y="1920240"/>
            <a:ext cx="2286000" cy="1079100"/>
          </a:xfrm>
          <a:prstGeom prst="roundRect">
            <a:avLst>
              <a:gd fmla="val 6000" name="adj"/>
            </a:avLst>
          </a:prstGeom>
          <a:solidFill>
            <a:srgbClr val="71D3D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40"/>
          <p:cNvSpPr txBox="1"/>
          <p:nvPr/>
        </p:nvSpPr>
        <p:spPr>
          <a:xfrm>
            <a:off x="548640" y="2011680"/>
            <a:ext cx="41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🎮</a:t>
            </a:r>
            <a:endParaRPr/>
          </a:p>
        </p:txBody>
      </p:sp>
      <p:sp>
        <p:nvSpPr>
          <p:cNvPr id="651" name="Google Shape;651;p40"/>
          <p:cNvSpPr txBox="1"/>
          <p:nvPr/>
        </p:nvSpPr>
        <p:spPr>
          <a:xfrm>
            <a:off x="1005840" y="2011680"/>
            <a:ext cx="1572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Game URL</a:t>
            </a:r>
            <a:endParaRPr/>
          </a:p>
        </p:txBody>
      </p:sp>
      <p:sp>
        <p:nvSpPr>
          <p:cNvPr id="652" name="Google Shape;652;p40"/>
          <p:cNvSpPr txBox="1"/>
          <p:nvPr/>
        </p:nvSpPr>
        <p:spPr>
          <a:xfrm>
            <a:off x="548640" y="2423160"/>
            <a:ext cx="2030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</a:rPr>
              <a:t>Not Accessible</a:t>
            </a:r>
            <a:endParaRPr/>
          </a:p>
        </p:txBody>
      </p:sp>
      <p:sp>
        <p:nvSpPr>
          <p:cNvPr id="653" name="Google Shape;653;p40"/>
          <p:cNvSpPr/>
          <p:nvPr/>
        </p:nvSpPr>
        <p:spPr>
          <a:xfrm>
            <a:off x="2880360" y="1920240"/>
            <a:ext cx="2286000" cy="1079100"/>
          </a:xfrm>
          <a:prstGeom prst="roundRect">
            <a:avLst>
              <a:gd fmla="val 6000" name="adj"/>
            </a:avLst>
          </a:prstGeom>
          <a:solidFill>
            <a:srgbClr val="FF9F3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40"/>
          <p:cNvSpPr txBox="1"/>
          <p:nvPr/>
        </p:nvSpPr>
        <p:spPr>
          <a:xfrm>
            <a:off x="3017520" y="2011680"/>
            <a:ext cx="41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💻</a:t>
            </a:r>
            <a:endParaRPr/>
          </a:p>
        </p:txBody>
      </p:sp>
      <p:sp>
        <p:nvSpPr>
          <p:cNvPr id="655" name="Google Shape;655;p40"/>
          <p:cNvSpPr txBox="1"/>
          <p:nvPr/>
        </p:nvSpPr>
        <p:spPr>
          <a:xfrm>
            <a:off x="3474720" y="2011680"/>
            <a:ext cx="1572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</p:txBody>
      </p:sp>
      <p:sp>
        <p:nvSpPr>
          <p:cNvPr id="656" name="Google Shape;656;p40"/>
          <p:cNvSpPr txBox="1"/>
          <p:nvPr/>
        </p:nvSpPr>
        <p:spPr>
          <a:xfrm>
            <a:off x="3017520" y="2423160"/>
            <a:ext cx="2030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sfc-gh-tdahlberg/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mario-spcs-telemetry</a:t>
            </a:r>
            <a:endParaRPr/>
          </a:p>
        </p:txBody>
      </p:sp>
      <p:sp>
        <p:nvSpPr>
          <p:cNvPr id="657" name="Google Shape;657;p40"/>
          <p:cNvSpPr/>
          <p:nvPr/>
        </p:nvSpPr>
        <p:spPr>
          <a:xfrm>
            <a:off x="411480" y="3127248"/>
            <a:ext cx="2286000" cy="1079100"/>
          </a:xfrm>
          <a:prstGeom prst="roundRect">
            <a:avLst>
              <a:gd fmla="val 6000" name="adj"/>
            </a:avLst>
          </a:prstGeom>
          <a:solidFill>
            <a:srgbClr val="7D44C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40"/>
          <p:cNvSpPr txBox="1"/>
          <p:nvPr/>
        </p:nvSpPr>
        <p:spPr>
          <a:xfrm>
            <a:off x="548640" y="3218688"/>
            <a:ext cx="41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📖</a:t>
            </a:r>
            <a:endParaRPr/>
          </a:p>
        </p:txBody>
      </p:sp>
      <p:sp>
        <p:nvSpPr>
          <p:cNvPr id="659" name="Google Shape;659;p40"/>
          <p:cNvSpPr txBox="1"/>
          <p:nvPr/>
        </p:nvSpPr>
        <p:spPr>
          <a:xfrm>
            <a:off x="1005840" y="3218688"/>
            <a:ext cx="1572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HTML Docs</a:t>
            </a:r>
            <a:endParaRPr/>
          </a:p>
        </p:txBody>
      </p:sp>
      <p:sp>
        <p:nvSpPr>
          <p:cNvPr id="660" name="Google Shape;660;p40"/>
          <p:cNvSpPr txBox="1"/>
          <p:nvPr/>
        </p:nvSpPr>
        <p:spPr>
          <a:xfrm>
            <a:off x="548640" y="3630168"/>
            <a:ext cx="2030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docs/index.html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full architecture reference</a:t>
            </a:r>
            <a:endParaRPr/>
          </a:p>
        </p:txBody>
      </p:sp>
      <p:sp>
        <p:nvSpPr>
          <p:cNvPr id="661" name="Google Shape;661;p40"/>
          <p:cNvSpPr/>
          <p:nvPr/>
        </p:nvSpPr>
        <p:spPr>
          <a:xfrm>
            <a:off x="2880360" y="3127248"/>
            <a:ext cx="2286000" cy="1079100"/>
          </a:xfrm>
          <a:prstGeom prst="roundRect">
            <a:avLst>
              <a:gd fmla="val 6000" name="adj"/>
            </a:avLst>
          </a:prstGeom>
          <a:solidFill>
            <a:srgbClr val="D45B9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40"/>
          <p:cNvSpPr txBox="1"/>
          <p:nvPr/>
        </p:nvSpPr>
        <p:spPr>
          <a:xfrm>
            <a:off x="3017520" y="3218688"/>
            <a:ext cx="41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🤖</a:t>
            </a:r>
            <a:endParaRPr/>
          </a:p>
        </p:txBody>
      </p:sp>
      <p:sp>
        <p:nvSpPr>
          <p:cNvPr id="663" name="Google Shape;663;p40"/>
          <p:cNvSpPr txBox="1"/>
          <p:nvPr/>
        </p:nvSpPr>
        <p:spPr>
          <a:xfrm>
            <a:off x="3474720" y="3218688"/>
            <a:ext cx="1572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Cortex Agent</a:t>
            </a:r>
            <a:endParaRPr/>
          </a:p>
        </p:txBody>
      </p:sp>
      <p:sp>
        <p:nvSpPr>
          <p:cNvPr id="664" name="Google Shape;664;p40"/>
          <p:cNvSpPr txBox="1"/>
          <p:nvPr/>
        </p:nvSpPr>
        <p:spPr>
          <a:xfrm>
            <a:off x="3017520" y="3630168"/>
            <a:ext cx="2030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DIS_MARIO.PUBLIC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.MARIO_INTELLIGENCE</a:t>
            </a:r>
            <a:endParaRPr/>
          </a:p>
        </p:txBody>
      </p:sp>
      <p:sp>
        <p:nvSpPr>
          <p:cNvPr id="665" name="Google Shape;665;p40"/>
          <p:cNvSpPr txBox="1"/>
          <p:nvPr/>
        </p:nvSpPr>
        <p:spPr>
          <a:xfrm>
            <a:off x="411480" y="4759452"/>
            <a:ext cx="466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11567F"/>
                </a:solidFill>
                <a:latin typeface="Arial"/>
                <a:ea typeface="Arial"/>
                <a:cs typeface="Arial"/>
                <a:sym typeface="Arial"/>
              </a:rPr>
              <a:t>Built with ✨ Cortex Code </a:t>
            </a:r>
            <a:endParaRPr/>
          </a:p>
        </p:txBody>
      </p:sp>
      <p:pic>
        <p:nvPicPr>
          <p:cNvPr id="666" name="Google Shape;66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5302" y="1868148"/>
            <a:ext cx="1756345" cy="175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nowflake 2022">
  <a:themeElements>
    <a:clrScheme name="Snowflake 2018">
      <a:dk1>
        <a:srgbClr val="262626"/>
      </a:dk1>
      <a:lt1>
        <a:srgbClr val="FFFFFF"/>
      </a:lt1>
      <a:dk2>
        <a:srgbClr val="11567F"/>
      </a:dk2>
      <a:lt2>
        <a:srgbClr val="FFFFFF"/>
      </a:lt2>
      <a:accent1>
        <a:srgbClr val="29B5E8"/>
      </a:accent1>
      <a:accent2>
        <a:srgbClr val="11567F"/>
      </a:accent2>
      <a:accent3>
        <a:srgbClr val="71D3DC"/>
      </a:accent3>
      <a:accent4>
        <a:srgbClr val="FF9F36"/>
      </a:accent4>
      <a:accent5>
        <a:srgbClr val="7D44CF"/>
      </a:accent5>
      <a:accent6>
        <a:srgbClr val="D45B90"/>
      </a:accent6>
      <a:hlink>
        <a:srgbClr val="3DA8E5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ustom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