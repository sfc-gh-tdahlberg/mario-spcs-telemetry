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Super Mario SPCS Telemetry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29B6F6"/>
                </a:solidFill>
              </a:defRPr>
            </a:pPr>
            <a:r>
              <a:t>Real-time Game Telemetry on Snowpark Container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BB"/>
                </a:solidFill>
              </a:defRPr>
            </a:pPr>
            <a:r>
              <a:t>OpenTelemetry  |  SPCS Event Table  |  Streamlit in Snowsight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5029200"/>
            <a:ext cx="3931920" cy="54864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486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99"/>
                </a:solidFill>
              </a:defRPr>
            </a:pPr>
            <a:r>
              <a:t>Snowflake Solutions Engineering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What We Built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2651760" cy="3200400"/>
          </a:xfrm>
          <a:prstGeom prst="roundRect">
            <a:avLst>
              <a:gd name="adj" fmla="val 5000"/>
            </a:avLst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2651760" cy="7315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6B"/>
                </a:solidFill>
              </a:defRPr>
            </a:pPr>
            <a:r>
              <a:t>Game Container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2194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</a:defRPr>
            </a:pPr>
            <a:r>
              <a:t>Super Mario Bros HTML5 game</a:t>
            </a:r>
            <a:br/>
            <a:r>
              <a:t>running on SPCS with public</a:t>
            </a:r>
            <a:br/>
            <a:r>
              <a:t>ingress endpoint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463040"/>
            <a:ext cx="2651760" cy="3200400"/>
          </a:xfrm>
          <a:prstGeom prst="roundRect">
            <a:avLst>
              <a:gd name="adj" fmla="val 5000"/>
            </a:avLst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29000" y="1463040"/>
            <a:ext cx="2651760" cy="73152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7830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9B6F6"/>
                </a:solidFill>
              </a:defRPr>
            </a:pPr>
            <a:r>
              <a:t>Telemetry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377440"/>
            <a:ext cx="2194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</a:defRPr>
            </a:pPr>
            <a:r>
              <a:t>Browser JS hooks capture events,</a:t>
            </a:r>
            <a:br/>
            <a:r>
              <a:t>Python sidecar exports via</a:t>
            </a:r>
            <a:br/>
            <a:r>
              <a:t>OpenTelemetry OTLP gRPC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1463040"/>
            <a:ext cx="2651760" cy="3200400"/>
          </a:xfrm>
          <a:prstGeom prst="roundRect">
            <a:avLst>
              <a:gd name="adj" fmla="val 5000"/>
            </a:avLst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59" y="1463040"/>
            <a:ext cx="2651760" cy="73152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59" y="17830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DC4"/>
                </a:solidFill>
              </a:defRPr>
            </a:pPr>
            <a:r>
              <a:t>Event Table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377440"/>
            <a:ext cx="2194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</a:defRPr>
            </a:pPr>
            <a:r>
              <a:t>All spans, metrics, and logs</a:t>
            </a:r>
            <a:br/>
            <a:r>
              <a:t>land in Snowflake's native</a:t>
            </a:r>
            <a:br/>
            <a:r>
              <a:t>event table (90+ metric types)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19" y="1463040"/>
            <a:ext cx="2651760" cy="3200400"/>
          </a:xfrm>
          <a:prstGeom prst="roundRect">
            <a:avLst>
              <a:gd name="adj" fmla="val 5000"/>
            </a:avLst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89719" y="1463040"/>
            <a:ext cx="2651760" cy="73152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19" y="17830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9C46A"/>
                </a:solidFill>
              </a:defRPr>
            </a:pPr>
            <a:r>
              <a:t>Analytics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19" y="2377440"/>
            <a:ext cx="2194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</a:defRPr>
            </a:pPr>
            <a:r>
              <a:t>Streamlit in Snowsight with</a:t>
            </a:r>
            <a:br/>
            <a:r>
              <a:t>5 tabs, KPIs, charts, and</a:t>
            </a:r>
            <a:br/>
            <a:r>
              <a:t>platform monitoring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029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99"/>
                </a:solidFill>
              </a:defRPr>
            </a:pPr>
            <a:r>
              <a:t>End-to-end: from a player pressing keys in the browser to real-time charts in Snowsight,</a:t>
            </a:r>
            <a:br/>
            <a:r>
              <a:t>all running inside Snowflake with zero external infrastructure.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Architecture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286000"/>
            <a:ext cx="2011680" cy="1097280"/>
          </a:xfrm>
          <a:prstGeom prst="roundRect">
            <a:avLst>
              <a:gd name="adj" fmla="val 4000"/>
            </a:avLst>
          </a:prstGeom>
          <a:solidFill>
            <a:srgbClr val="2A2A45"/>
          </a:solidFill>
          <a:ln w="25400">
            <a:solidFill>
              <a:srgbClr val="29B6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4231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Browser</a:t>
            </a:r>
            <a:br/>
            <a:r>
              <a:t>(telemetry.js)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2286000"/>
            <a:ext cx="2011680" cy="1097280"/>
          </a:xfrm>
          <a:prstGeom prst="roundRect">
            <a:avLst>
              <a:gd name="adj" fmla="val 4000"/>
            </a:avLst>
          </a:prstGeom>
          <a:solidFill>
            <a:srgbClr val="2A2A45"/>
          </a:solidFill>
          <a:ln w="254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24231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nginx</a:t>
            </a:r>
            <a:br/>
            <a:r>
              <a:t>(port 8080)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645920"/>
            <a:ext cx="2011680" cy="1097280"/>
          </a:xfrm>
          <a:prstGeom prst="roundRect">
            <a:avLst>
              <a:gd name="adj" fmla="val 4000"/>
            </a:avLst>
          </a:prstGeom>
          <a:solidFill>
            <a:srgbClr val="2A2A45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79" y="17830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Tomcat Game</a:t>
            </a:r>
            <a:br/>
            <a:r>
              <a:t>(port 8888)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77840" y="3108960"/>
            <a:ext cx="2286000" cy="1097280"/>
          </a:xfrm>
          <a:prstGeom prst="roundRect">
            <a:avLst>
              <a:gd name="adj" fmla="val 4000"/>
            </a:avLst>
          </a:prstGeom>
          <a:solidFill>
            <a:srgbClr val="2A2A45"/>
          </a:solidFill>
          <a:ln w="25400">
            <a:solidFill>
              <a:srgbClr val="E9C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79" y="32461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Python Sidecar</a:t>
            </a:r>
            <a:br/>
            <a:r>
              <a:t>OpenTelemetry SDK</a:t>
            </a:r>
            <a:br/>
            <a:r>
              <a:t>(port 9090)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3108960"/>
            <a:ext cx="2286000" cy="1097280"/>
          </a:xfrm>
          <a:prstGeom prst="roundRect">
            <a:avLst>
              <a:gd name="adj" fmla="val 4000"/>
            </a:avLst>
          </a:prstGeom>
          <a:solidFill>
            <a:srgbClr val="2A2A45"/>
          </a:solidFill>
          <a:ln w="254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0" y="32461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SPCS Event Table</a:t>
            </a:r>
            <a:br/>
            <a:r>
              <a:t>event_db.event_sh</a:t>
            </a:r>
            <a:br/>
            <a:r>
              <a:t>.my_events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03920" y="1645920"/>
            <a:ext cx="2286000" cy="1097280"/>
          </a:xfrm>
          <a:prstGeom prst="roundRect">
            <a:avLst>
              <a:gd name="adj" fmla="val 4000"/>
            </a:avLst>
          </a:prstGeom>
          <a:solidFill>
            <a:srgbClr val="2A2A45"/>
          </a:solidFill>
          <a:ln w="25400">
            <a:solidFill>
              <a:srgbClr val="29B6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178308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Streamlit</a:t>
            </a:r>
            <a:br/>
            <a:r>
              <a:t>Dashboard</a:t>
            </a:r>
            <a:br/>
            <a:r>
              <a:t>(Snowsight)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1645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99"/>
                </a:solidFill>
              </a:defRPr>
            </a:pPr>
            <a:r>
              <a:t>GET /telemetry?d=...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1645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99"/>
                </a:solidFill>
              </a:defRPr>
            </a:pPr>
            <a:r>
              <a:t>proxy_pass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1463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99"/>
                </a:solidFill>
              </a:defRPr>
            </a:pPr>
            <a:r>
              <a:t>Game 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3291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99"/>
                </a:solidFill>
              </a:defRPr>
            </a:pPr>
            <a:r>
              <a:t>OTLP gRPC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2377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99"/>
                </a:solidFill>
              </a:defRPr>
            </a:pPr>
            <a:r>
              <a:t>SQL views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8463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BB"/>
                </a:solidFill>
              </a:defRPr>
            </a:pPr>
            <a:r>
              <a:t>Data Flow: Player actions -&gt; JS hooks -&gt; Tracking pixel GET -&gt; nginx -&gt; Python sidecar -&gt; OpenTelemetry OTLP -&gt; Event Table -&gt; Views -&gt; Streamlit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Container Stack (Single SPCS Container)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371600"/>
            <a:ext cx="9144000" cy="822960"/>
          </a:xfrm>
          <a:prstGeom prst="roundRect">
            <a:avLst>
              <a:gd name="adj" fmla="val 3000"/>
            </a:avLst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371600"/>
            <a:ext cx="109728" cy="82296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463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nginx Reverse Proxy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508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99"/>
                </a:solidFill>
              </a:defRPr>
            </a:pPr>
            <a:r>
              <a:t>Port 8080 (public ingress)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2377440"/>
            <a:ext cx="9144000" cy="822960"/>
          </a:xfrm>
          <a:prstGeom prst="roundRect">
            <a:avLst>
              <a:gd name="adj" fmla="val 3000"/>
            </a:avLst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1600" y="2377440"/>
            <a:ext cx="109728" cy="82296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2468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Tomcat 9 + Super Mario HTML5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514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99"/>
                </a:solidFill>
              </a:defRPr>
            </a:pPr>
            <a:r>
              <a:t>Port 8888 (game server)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3383280"/>
            <a:ext cx="9144000" cy="822960"/>
          </a:xfrm>
          <a:prstGeom prst="roundRect">
            <a:avLst>
              <a:gd name="adj" fmla="val 3000"/>
            </a:avLst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71600" y="3383280"/>
            <a:ext cx="109728" cy="82296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0" y="3474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Python Telemetry Sidecar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520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99"/>
                </a:solidFill>
              </a:defRPr>
            </a:pPr>
            <a:r>
              <a:t>Port 9090 (OTel collector)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4389120"/>
            <a:ext cx="9144000" cy="822960"/>
          </a:xfrm>
          <a:prstGeom prst="roundRect">
            <a:avLst>
              <a:gd name="adj" fmla="val 3000"/>
            </a:avLst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71600" y="4389120"/>
            <a:ext cx="109728" cy="82296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0" y="448055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OpenTelemetry SDK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526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99"/>
                </a:solidFill>
              </a:defRPr>
            </a:pPr>
            <a:r>
              <a:t>OTLP gRPC exporter to SPCS event 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486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BB"/>
                </a:solidFill>
              </a:defRPr>
            </a:pPr>
            <a:r>
              <a:t>Resources: 500m-1 CPU  |  512Mi-2Gi RAM  |  Compute Pool: CPU_X64_XS (1 node)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Game Telemetry Events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280160"/>
            <a:ext cx="2286000" cy="4572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08760" y="1325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Event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280160"/>
            <a:ext cx="2560320" cy="4572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94760" y="1325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When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280160"/>
            <a:ext cx="4114800" cy="4572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3258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Key Attributes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1783080"/>
            <a:ext cx="2286000" cy="41148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08760" y="18288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</a:defRPr>
            </a:pPr>
            <a:r>
              <a:t>mario.game_start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0" y="1783080"/>
            <a:ext cx="2560320" cy="41148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</a:defRPr>
            </a:pPr>
            <a:r>
              <a:t>Player starts game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783080"/>
            <a:ext cx="4114800" cy="41148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82880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</a:defRPr>
            </a:pPr>
            <a:r>
              <a:t>lives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2221991"/>
            <a:ext cx="2286000" cy="4114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08760" y="2267711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</a:defRPr>
            </a:pPr>
            <a:r>
              <a:t>mario.level_start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0" y="2221991"/>
            <a:ext cx="2560320" cy="4114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94760" y="2267711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</a:defRPr>
            </a:pPr>
            <a:r>
              <a:t>Level begins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2221991"/>
            <a:ext cx="4114800" cy="4114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2267711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</a:defRPr>
            </a:pPr>
            <a:r>
              <a:t>level, difficulty, type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71600" y="2660904"/>
            <a:ext cx="2286000" cy="41148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08760" y="270662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</a:defRPr>
            </a:pPr>
            <a:r>
              <a:t>mario.death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2660904"/>
            <a:ext cx="2560320" cy="41148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94760" y="270662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</a:defRPr>
            </a:pPr>
            <a:r>
              <a:t>Mario dies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2660904"/>
            <a:ext cx="4114800" cy="41148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2706624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</a:defRPr>
            </a:pPr>
            <a:r>
              <a:t>level, lives, large, fire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71600" y="3099815"/>
            <a:ext cx="2286000" cy="4114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508760" y="3145535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</a:defRPr>
            </a:pPr>
            <a:r>
              <a:t>mario.level_win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0" y="3099815"/>
            <a:ext cx="2560320" cy="4114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94760" y="3145535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</a:defRPr>
            </a:pPr>
            <a:r>
              <a:t>Flag reached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3099815"/>
            <a:ext cx="4114800" cy="4114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3145535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</a:defRPr>
            </a:pPr>
            <a:r>
              <a:t>level, time_left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371600" y="3538728"/>
            <a:ext cx="2286000" cy="41148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508760" y="35844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</a:defRPr>
            </a:pPr>
            <a:r>
              <a:t>mario.game_over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0" y="3538728"/>
            <a:ext cx="2560320" cy="41148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94760" y="35844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</a:defRPr>
            </a:pPr>
            <a:r>
              <a:t>All lives lost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3538728"/>
            <a:ext cx="4114800" cy="41148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55080" y="358444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</a:defRPr>
            </a:pPr>
            <a:r>
              <a:t>level, coins, duration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371600" y="3977639"/>
            <a:ext cx="2286000" cy="4114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508760" y="4023359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</a:defRPr>
            </a:pPr>
            <a:r>
              <a:t>mario.game_win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0" y="3977639"/>
            <a:ext cx="2560320" cy="4114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94760" y="402335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</a:defRPr>
            </a:pPr>
            <a:r>
              <a:t>Final level done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920" y="3977639"/>
            <a:ext cx="4114800" cy="4114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55080" y="4023359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</a:defRPr>
            </a:pPr>
            <a:r>
              <a:t>session_duration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371600" y="4416552"/>
            <a:ext cx="2286000" cy="41148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508760" y="446227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</a:defRPr>
            </a:pPr>
            <a:r>
              <a:t>mario.coin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0" y="4416552"/>
            <a:ext cx="2560320" cy="41148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794760" y="44622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</a:defRPr>
            </a:pPr>
            <a:r>
              <a:t>Coin collected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17920" y="4416552"/>
            <a:ext cx="4114800" cy="41148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55080" y="446227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</a:defRPr>
            </a:pPr>
            <a:r>
              <a:t>total_coins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371600" y="4855464"/>
            <a:ext cx="2286000" cy="4114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508760" y="490118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</a:defRPr>
            </a:pPr>
            <a:r>
              <a:t>mario.powerup_spawn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0" y="4855464"/>
            <a:ext cx="2560320" cy="4114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794760" y="490118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</a:defRPr>
            </a:pPr>
            <a:r>
              <a:t>Block hit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17920" y="4855464"/>
            <a:ext cx="4114800" cy="4114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55080" y="4901184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</a:defRPr>
            </a:pPr>
            <a:r>
              <a:t>type, level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0" y="5294376"/>
            <a:ext cx="2286000" cy="41148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508760" y="534009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</a:defRPr>
            </a:pPr>
            <a:r>
              <a:t>mario.key_press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57600" y="5294376"/>
            <a:ext cx="2560320" cy="41148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794760" y="534009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</a:defRPr>
            </a:pPr>
            <a:r>
              <a:t>Key pressed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17920" y="5294376"/>
            <a:ext cx="4114800" cy="41148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55080" y="5340096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</a:defRPr>
            </a:pPr>
            <a:r>
              <a:t>key (throttled 500ms)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Platform Metrics (SPCS Native + Derived)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DC4"/>
                </a:solidFill>
              </a:defRPr>
            </a:pPr>
            <a:r>
              <a:t>Native SPCS Metrics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029200" cy="457200"/>
          </a:xfrm>
          <a:prstGeom prst="roundRect">
            <a:avLst>
              <a:gd name="adj" fmla="val 2000"/>
            </a:avLst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container.cpu.usage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</a:defRPr>
            </a:pPr>
            <a:r>
              <a:t>CPU cores - Container CPU utilization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40280"/>
            <a:ext cx="5029200" cy="457200"/>
          </a:xfrm>
          <a:prstGeom prst="roundRect">
            <a:avLst>
              <a:gd name="adj" fmla="val 2000"/>
            </a:avLst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container.memory.usage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286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</a:defRPr>
            </a:pPr>
            <a:r>
              <a:t>bytes - Container memory usage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743200"/>
            <a:ext cx="5029200" cy="457200"/>
          </a:xfrm>
          <a:prstGeom prst="roundRect">
            <a:avLst>
              <a:gd name="adj" fmla="val 2000"/>
            </a:avLst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788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storage.used / free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788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</a:defRPr>
            </a:pPr>
            <a:r>
              <a:t>bytes - Disk storage utilization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246120"/>
            <a:ext cx="5029200" cy="457200"/>
          </a:xfrm>
          <a:prstGeom prst="roundRect">
            <a:avLst>
              <a:gd name="adj" fmla="val 2000"/>
            </a:avLst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291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system.network.io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91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</a:defRPr>
            </a:pPr>
            <a:r>
              <a:t>bytes - Network I/O (rx/tx direction)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749039"/>
            <a:ext cx="5029200" cy="457200"/>
          </a:xfrm>
          <a:prstGeom prst="roundRect">
            <a:avLst>
              <a:gd name="adj" fmla="val 2000"/>
            </a:avLst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9475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network.ingress.*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379475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</a:defRPr>
            </a:pPr>
            <a:r>
              <a:t>count - Active connections &amp; CPS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4A261"/>
                </a:solidFill>
              </a:defRPr>
            </a:pPr>
            <a:r>
              <a:t>Derived Metrics (Dashboard)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737360"/>
            <a:ext cx="5029200" cy="548640"/>
          </a:xfrm>
          <a:prstGeom prst="roundRect">
            <a:avLst>
              <a:gd name="adj" fmla="val 2000"/>
            </a:avLst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17556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Disk IOPS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011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</a:defRPr>
            </a:pPr>
            <a:r>
              <a:t>storage delta / elapsed / 4K  -&gt;  Estimated I/O operations/sec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2377439"/>
            <a:ext cx="5029200" cy="548640"/>
          </a:xfrm>
          <a:prstGeom prst="roundRect">
            <a:avLst>
              <a:gd name="adj" fmla="val 2000"/>
            </a:avLst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239572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I/O Throughput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265175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</a:defRPr>
            </a:pPr>
            <a:r>
              <a:t>network delta / elapsed / 1MB  -&gt;  Estimated throughput MB/s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3017520"/>
            <a:ext cx="5029200" cy="548640"/>
          </a:xfrm>
          <a:prstGeom prst="roundRect">
            <a:avLst>
              <a:gd name="adj" fmla="val 2000"/>
            </a:avLst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30358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Avg Latency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3291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</a:defRPr>
            </a:pPr>
            <a:r>
              <a:t>elapsed * 1000 / samples  -&gt;  Estimated I/O latency 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7548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BB"/>
                </a:solidFill>
              </a:defRPr>
            </a:pPr>
            <a:r>
              <a:t>SPCS exposes 90+ distinct metric types via platformMonitor config.</a:t>
            </a:r>
            <a:br/>
            <a:r>
              <a:t>No native IOPS/latency counters — derived from storage and network deltas.</a:t>
            </a:r>
            <a:br/>
            <a:r>
              <a:t>Dashboard includes time range selector: 15m / 1h / 6h / 24h / 7d / all time.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Streamlit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9B6F6"/>
                </a:solidFill>
              </a:defRPr>
            </a:pPr>
            <a:r>
              <a:t>KPI Rows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371600" cy="548640"/>
          </a:xfrm>
          <a:prstGeom prst="roundRect">
            <a:avLst>
              <a:gd name="adj" fmla="val 3000"/>
            </a:avLst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2763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Games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40280" y="1554480"/>
            <a:ext cx="1371600" cy="548640"/>
          </a:xfrm>
          <a:prstGeom prst="roundRect">
            <a:avLst>
              <a:gd name="adj" fmla="val 3000"/>
            </a:avLst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31720" y="162763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Deaths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49039" y="1554480"/>
            <a:ext cx="1371600" cy="548640"/>
          </a:xfrm>
          <a:prstGeom prst="roundRect">
            <a:avLst>
              <a:gd name="adj" fmla="val 3000"/>
            </a:avLst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79" y="162763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Coins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57799" y="1554480"/>
            <a:ext cx="1371600" cy="548640"/>
          </a:xfrm>
          <a:prstGeom prst="roundRect">
            <a:avLst>
              <a:gd name="adj" fmla="val 3000"/>
            </a:avLst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49239" y="162763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Attempts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59" y="1554480"/>
            <a:ext cx="1371600" cy="548640"/>
          </a:xfrm>
          <a:prstGeom prst="roundRect">
            <a:avLst>
              <a:gd name="adj" fmla="val 3000"/>
            </a:avLst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7999" y="162763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Wins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1554480"/>
            <a:ext cx="1371600" cy="548640"/>
          </a:xfrm>
          <a:prstGeom prst="roundRect">
            <a:avLst>
              <a:gd name="adj" fmla="val 3000"/>
            </a:avLst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62763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Powerups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84080" y="1554480"/>
            <a:ext cx="1371600" cy="548640"/>
          </a:xfrm>
          <a:prstGeom prst="roundRect">
            <a:avLst>
              <a:gd name="adj" fmla="val 3000"/>
            </a:avLst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0" y="162763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Keys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2194560"/>
            <a:ext cx="1371600" cy="548640"/>
          </a:xfrm>
          <a:prstGeom prst="roundRect">
            <a:avLst>
              <a:gd name="adj" fmla="val 3000"/>
            </a:avLst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226771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9C46A"/>
                </a:solidFill>
              </a:defRPr>
            </a:pPr>
            <a:r>
              <a:t>Avg Time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40280" y="2194560"/>
            <a:ext cx="1371600" cy="548640"/>
          </a:xfrm>
          <a:prstGeom prst="roundRect">
            <a:avLst>
              <a:gd name="adj" fmla="val 3000"/>
            </a:avLst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31720" y="226771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9C46A"/>
                </a:solidFill>
              </a:defRPr>
            </a:pPr>
            <a:r>
              <a:t>Sec/Death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49039" y="2194560"/>
            <a:ext cx="1371600" cy="548640"/>
          </a:xfrm>
          <a:prstGeom prst="roundRect">
            <a:avLst>
              <a:gd name="adj" fmla="val 3000"/>
            </a:avLst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79" y="226771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9C46A"/>
                </a:solidFill>
              </a:defRPr>
            </a:pPr>
            <a:r>
              <a:t>Coins/Rnd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57799" y="2194560"/>
            <a:ext cx="1371600" cy="548640"/>
          </a:xfrm>
          <a:prstGeom prst="roundRect">
            <a:avLst>
              <a:gd name="adj" fmla="val 3000"/>
            </a:avLst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49239" y="226771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9C46A"/>
                </a:solidFill>
              </a:defRPr>
            </a:pPr>
            <a:r>
              <a:t>Lvl Time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66559" y="2194560"/>
            <a:ext cx="1371600" cy="548640"/>
          </a:xfrm>
          <a:prstGeom prst="roundRect">
            <a:avLst>
              <a:gd name="adj" fmla="val 3000"/>
            </a:avLst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7999" y="226771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9C46A"/>
                </a:solidFill>
              </a:defRPr>
            </a:pPr>
            <a:r>
              <a:t>Attempts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75320" y="2194560"/>
            <a:ext cx="1371600" cy="548640"/>
          </a:xfrm>
          <a:prstGeom prst="roundRect">
            <a:avLst>
              <a:gd name="adj" fmla="val 3000"/>
            </a:avLst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66760" y="226771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9C46A"/>
                </a:solidFill>
              </a:defRPr>
            </a:pPr>
            <a:r>
              <a:t>Win Rate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784080" y="2194560"/>
            <a:ext cx="1371600" cy="548640"/>
          </a:xfrm>
          <a:prstGeom prst="roundRect">
            <a:avLst>
              <a:gd name="adj" fmla="val 3000"/>
            </a:avLst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75520" y="226771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9C46A"/>
                </a:solidFill>
              </a:defRPr>
            </a:pPr>
            <a:r>
              <a:t>Keys/Game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3017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9B6F6"/>
                </a:solidFill>
              </a:defRPr>
            </a:pPr>
            <a:r>
              <a:t>5 Dashboard Tabs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3566160"/>
            <a:ext cx="2194560" cy="1828800"/>
          </a:xfrm>
          <a:prstGeom prst="roundRect">
            <a:avLst>
              <a:gd name="adj" fmla="val 4000"/>
            </a:avLst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3566160"/>
            <a:ext cx="219456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37490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6B"/>
                </a:solidFill>
              </a:defRPr>
            </a:pPr>
            <a:r>
              <a:t>Leaderboard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420624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</a:defRPr>
            </a:pPr>
            <a:r>
              <a:t>Top scores + game sessions</a:t>
            </a:r>
            <a:br/>
            <a:r>
              <a:t>(ranked by coins, latest first)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788920" y="3566160"/>
            <a:ext cx="2194560" cy="1828800"/>
          </a:xfrm>
          <a:prstGeom prst="roundRect">
            <a:avLst>
              <a:gd name="adj" fmla="val 4000"/>
            </a:avLst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788920" y="3566160"/>
            <a:ext cx="2194560" cy="54864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26080" y="37490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9B6F6"/>
                </a:solidFill>
              </a:defRPr>
            </a:pPr>
            <a:r>
              <a:t>Event Timeline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26080" y="420624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</a:defRPr>
            </a:pPr>
            <a:r>
              <a:t>Stacked area chart of all</a:t>
            </a:r>
            <a:br/>
            <a:r>
              <a:t>game events over time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120640" y="3566160"/>
            <a:ext cx="2194560" cy="1828800"/>
          </a:xfrm>
          <a:prstGeom prst="roundRect">
            <a:avLst>
              <a:gd name="adj" fmla="val 4000"/>
            </a:avLst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120640" y="3566160"/>
            <a:ext cx="2194560" cy="54864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257800" y="37490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DC4"/>
                </a:solidFill>
              </a:defRPr>
            </a:pPr>
            <a:r>
              <a:t>Deaths &amp; Levels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57800" y="420624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</a:defRPr>
            </a:pPr>
            <a:r>
              <a:t>Deaths by level + powerups</a:t>
            </a:r>
            <a:br/>
            <a:r>
              <a:t>collected breakdown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452359" y="3566160"/>
            <a:ext cx="2194560" cy="1828800"/>
          </a:xfrm>
          <a:prstGeom prst="roundRect">
            <a:avLst>
              <a:gd name="adj" fmla="val 4000"/>
            </a:avLst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452359" y="3566160"/>
            <a:ext cx="2194560" cy="54864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89519" y="37490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9C46A"/>
                </a:solidFill>
              </a:defRPr>
            </a:pPr>
            <a:r>
              <a:t>Controls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89519" y="420624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</a:defRPr>
            </a:pPr>
            <a:r>
              <a:t>Key press distribution</a:t>
            </a:r>
            <a:br/>
            <a:r>
              <a:t>bar chart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784080" y="3566160"/>
            <a:ext cx="2194560" cy="1828800"/>
          </a:xfrm>
          <a:prstGeom prst="roundRect">
            <a:avLst>
              <a:gd name="adj" fmla="val 4000"/>
            </a:avLst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784080" y="3566160"/>
            <a:ext cx="2194560" cy="54864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921240" y="37490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4A261"/>
                </a:solidFill>
              </a:defRPr>
            </a:pPr>
            <a:r>
              <a:t>Platform Metrics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21240" y="420624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</a:defRPr>
            </a:pPr>
            <a:r>
              <a:t>CPU, memory, disk, IOPS,</a:t>
            </a:r>
            <a:br/>
            <a:r>
              <a:t>network with time picker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" y="5669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99"/>
                </a:solidFill>
              </a:defRPr>
            </a:pPr>
            <a:r>
              <a:t>Deployed as Streamlit in Snowsight (SIS) with container runtime + SYSTEM_COMPUTE_POOL_CPU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Setup Steps (Start to Finish)</a:t>
            </a:r>
          </a:p>
        </p:txBody>
      </p:sp>
      <p:sp>
        <p:nvSpPr>
          <p:cNvPr id="4" name="Oval 3"/>
          <p:cNvSpPr/>
          <p:nvPr/>
        </p:nvSpPr>
        <p:spPr>
          <a:xfrm>
            <a:off x="1097280" y="1371600"/>
            <a:ext cx="640080" cy="640080"/>
          </a:xfrm>
          <a:prstGeom prst="ellipse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1B2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9B6F6"/>
                </a:solidFill>
              </a:defRPr>
            </a:pPr>
            <a:r>
              <a:t>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BB"/>
                </a:solidFill>
              </a:defRPr>
            </a:pPr>
            <a:r>
              <a:t>Run 01_infrastructure.sql</a:t>
            </a:r>
            <a:br/>
            <a:r>
              <a:t>Database, warehouse, compute pool,</a:t>
            </a:r>
            <a:br/>
            <a:r>
              <a:t>event table, image repo</a:t>
            </a:r>
          </a:p>
        </p:txBody>
      </p:sp>
      <p:sp>
        <p:nvSpPr>
          <p:cNvPr id="7" name="Oval 6"/>
          <p:cNvSpPr/>
          <p:nvPr/>
        </p:nvSpPr>
        <p:spPr>
          <a:xfrm>
            <a:off x="3017520" y="1371600"/>
            <a:ext cx="640080" cy="64008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1B2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2194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4ECDC4"/>
                </a:solidFill>
              </a:defRPr>
            </a:pPr>
            <a:r>
              <a:t>Docker 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26517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BB"/>
                </a:solidFill>
              </a:defRPr>
            </a:pPr>
            <a:r>
              <a:t>Build &amp; push container image</a:t>
            </a:r>
            <a:br/>
            <a:r>
              <a:t>to Snowflake image registry</a:t>
            </a:r>
            <a:br/>
            <a:r>
              <a:t>(linux/amd64)</a:t>
            </a:r>
          </a:p>
        </p:txBody>
      </p:sp>
      <p:sp>
        <p:nvSpPr>
          <p:cNvPr id="10" name="Oval 9"/>
          <p:cNvSpPr/>
          <p:nvPr/>
        </p:nvSpPr>
        <p:spPr>
          <a:xfrm>
            <a:off x="4937760" y="1371600"/>
            <a:ext cx="640080" cy="64008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1B2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194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6B6B"/>
                </a:solidFill>
              </a:defRPr>
            </a:pPr>
            <a:r>
              <a:t>SPCS Service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6517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BB"/>
                </a:solidFill>
              </a:defRPr>
            </a:pPr>
            <a:r>
              <a:t>Run 02_service.sql</a:t>
            </a:r>
            <a:br/>
            <a:r>
              <a:t>Create service with platform</a:t>
            </a:r>
            <a:br/>
            <a:r>
              <a:t>monitoring enabled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0" y="1371600"/>
            <a:ext cx="640080" cy="640080"/>
          </a:xfrm>
          <a:prstGeom prst="ellipse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1B2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194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E9C46A"/>
                </a:solidFill>
              </a:defRPr>
            </a:pPr>
            <a:r>
              <a:t>Analytics Views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6517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BB"/>
                </a:solidFill>
              </a:defRPr>
            </a:pPr>
            <a:r>
              <a:t>Run 03_analytics_views.sql</a:t>
            </a:r>
            <a:br/>
            <a:r>
              <a:t>7 views over the event table</a:t>
            </a:r>
            <a:br/>
            <a:r>
              <a:t>for dashboard queries</a:t>
            </a:r>
          </a:p>
        </p:txBody>
      </p:sp>
      <p:sp>
        <p:nvSpPr>
          <p:cNvPr id="16" name="Oval 15"/>
          <p:cNvSpPr/>
          <p:nvPr/>
        </p:nvSpPr>
        <p:spPr>
          <a:xfrm>
            <a:off x="8778240" y="1371600"/>
            <a:ext cx="640080" cy="64008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1B2F"/>
                </a:solidFill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2194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4A261"/>
                </a:solidFill>
              </a:defRPr>
            </a:pPr>
            <a:r>
              <a:t>Streamlit Deploy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6517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BB"/>
                </a:solidFill>
              </a:defRPr>
            </a:pPr>
            <a:r>
              <a:t>Run snow streamlit deploy</a:t>
            </a:r>
            <a:br/>
            <a:r>
              <a:t>or 04_streamlit_dashboard.sql</a:t>
            </a:r>
            <a:br/>
            <a:r>
              <a:t>Dashboard goes live</a:t>
            </a:r>
          </a:p>
        </p:txBody>
      </p:sp>
      <p:sp>
        <p:nvSpPr>
          <p:cNvPr id="19" name="Oval 18"/>
          <p:cNvSpPr/>
          <p:nvPr/>
        </p:nvSpPr>
        <p:spPr>
          <a:xfrm>
            <a:off x="10698480" y="1371600"/>
            <a:ext cx="640080" cy="640080"/>
          </a:xfrm>
          <a:prstGeom prst="ellipse">
            <a:avLst/>
          </a:prstGeom>
          <a:solidFill>
            <a:srgbClr val="96C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1B2F"/>
                </a:solidFill>
              </a:defRPr>
            </a:pPr>
            <a: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2194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96CEB4"/>
                </a:solidFill>
              </a:defRPr>
            </a:pPr>
            <a:r>
              <a:t>Play &amp; Monitor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26517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BB"/>
                </a:solidFill>
              </a:defRPr>
            </a:pPr>
            <a:r>
              <a:t>Open game URL, play Mario</a:t>
            </a:r>
            <a:br/>
            <a:r>
              <a:t>Watch real-time telemetry</a:t>
            </a:r>
            <a:br/>
            <a:r>
              <a:t>in Snowsight 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0292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888899"/>
                </a:solidFill>
              </a:defRPr>
            </a:pPr>
            <a:r>
              <a:t>All SQL scripts are numbered and idempotent (CREATE OR REPLACE / IF NOT EXISTS).</a:t>
            </a:r>
            <a:br/>
            <a:r>
              <a:t>Total setup time: ~15 minutes (excluding Docker build/push).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Snowflake Features Demonstrated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515600" cy="685800"/>
          </a:xfrm>
          <a:prstGeom prst="roundRect">
            <a:avLst>
              <a:gd name="adj" fmla="val 3000"/>
            </a:avLst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91440" cy="6858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325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Snowpark Container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62763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</a:defRPr>
            </a:pPr>
            <a:r>
              <a:t>Run any Docker container with public endpoints, auto-scaling, and built-in monitoring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03120"/>
            <a:ext cx="10515600" cy="685800"/>
          </a:xfrm>
          <a:prstGeom prst="roundRect">
            <a:avLst>
              <a:gd name="adj" fmla="val 3000"/>
            </a:avLst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103120"/>
            <a:ext cx="91440" cy="6858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1488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SPCS Platform Monitor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4505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</a:defRPr>
            </a:pPr>
            <a:r>
              <a:t>Native CPU, memory, storage, and network metrics with zero configuration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926080"/>
            <a:ext cx="10515600" cy="685800"/>
          </a:xfrm>
          <a:prstGeom prst="roundRect">
            <a:avLst>
              <a:gd name="adj" fmla="val 3000"/>
            </a:avLst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926080"/>
            <a:ext cx="91440" cy="6858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971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Event Tables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27355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</a:defRPr>
            </a:pPr>
            <a:r>
              <a:t>Unified telemetry store for spans, metrics, and logs (OpenTelemetry compatible)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749039"/>
            <a:ext cx="10515600" cy="685800"/>
          </a:xfrm>
          <a:prstGeom prst="roundRect">
            <a:avLst>
              <a:gd name="adj" fmla="val 3000"/>
            </a:avLst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749039"/>
            <a:ext cx="91440" cy="6858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379475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Streamlit in Snowsight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096511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</a:defRPr>
            </a:pPr>
            <a:r>
              <a:t>Interactive dashboards with container runtime, compute pools, and pip packages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572000"/>
            <a:ext cx="10515600" cy="685800"/>
          </a:xfrm>
          <a:prstGeom prst="roundRect">
            <a:avLst>
              <a:gd name="adj" fmla="val 3000"/>
            </a:avLst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572000"/>
            <a:ext cx="91440" cy="6858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617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Semi-structured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91947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</a:defRPr>
            </a:pPr>
            <a:r>
              <a:t>JSON parsing with record:name::STRING, record_attributes:key::INT syntax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394960"/>
            <a:ext cx="10515600" cy="685800"/>
          </a:xfrm>
          <a:prstGeom prst="roundRect">
            <a:avLst>
              <a:gd name="adj" fmla="val 3000"/>
            </a:avLst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5394960"/>
            <a:ext cx="91440" cy="6858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54406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Views over Event Tables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74243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</a:defRPr>
            </a:pPr>
            <a:r>
              <a:t>Real-time analytics with SQL views, CTEs, window functions, and pivots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Resources &amp; Links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</a:defRPr>
            </a:pPr>
            <a:r>
              <a:t>SQL Scripts:  sql/01_infrastructure.sql  -&gt;  04_streamlit_dashboard.sql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0175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</a:defRPr>
            </a:pPr>
            <a:r>
              <a:t>Docker Files:  mario-spcs/  (Dockerfile, nginx.conf, telemetry_sidecar.py, telemetry.js)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4747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</a:defRPr>
            </a:pPr>
            <a:r>
              <a:t>Dashboard:     mario-streamlit/  (streamlit_app.py, pyproject.toml, snowflake.yml)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9319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</a:defRPr>
            </a:pPr>
            <a:r>
              <a:t>README:        Full start-to-finish setup guide with troubleshooting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8463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</a:defRPr>
            </a:pPr>
            <a:r>
              <a:t>Game URL:      https://&lt;ingress-hash&gt;.snowflakecomputing.app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3035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</a:defRPr>
            </a:pPr>
            <a:r>
              <a:t>Dashboard:     Snowsight &gt; Streamlit Apps &gt; MARIO_TELEMETRY_DASHBOARD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5760720"/>
            <a:ext cx="3931920" cy="54864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99"/>
                </a:solidFill>
              </a:defRPr>
            </a:pPr>
            <a:r>
              <a:t>Built with Cortex Code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