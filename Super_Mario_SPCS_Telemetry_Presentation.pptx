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  <p:sldMasterId id="2147483683" r:id="rId5"/>
    <p:sldMasterId id="2147483718" r:id="rId6"/>
  </p:sldMasterIdLst>
  <p:notesMasterIdLst>
    <p:notesMasterId r:id="rId7"/>
  </p:notesMasterIdLst>
  <p:sldIdLst>
    <p:sldId id="256" r:id="rId11"/>
    <p:sldId id="257" r:id="rId10"/>
    <p:sldId id="258" r:id="rId9"/>
    <p:sldId id="259" r:id="rId8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</p:sldIdLst>
  <p:sldSz cy="5143500" cx="9144000"/>
  <p:notesSz cx="6858000" cy="9144000"/>
  <p:embeddedFontLst>
    <p:embeddedFont>
      <p:font typeface="Montserrat"/>
      <p:regular r:id="rId12"/>
      <p:bold r:id="rId13"/>
      <p:italic r:id="rId14"/>
      <p:boldItalic r:id="rId15"/>
    </p:embeddedFont>
    <p:embeddedFont>
      <p:font typeface="Lato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hzFayS0AuoOWGqN113lPSblTZc8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font" Target="fonts/Montserrat-regular.fntdata"/><Relationship Id="rId13" Type="http://schemas.openxmlformats.org/officeDocument/2006/relationships/font" Target="fonts/Montserrat-bold.fntdata"/><Relationship Id="rId14" Type="http://schemas.openxmlformats.org/officeDocument/2006/relationships/font" Target="fonts/Montserrat-italic.fntdata"/><Relationship Id="rId15" Type="http://schemas.openxmlformats.org/officeDocument/2006/relationships/font" Target="fonts/Montserrat-boldItalic.fntdata"/><Relationship Id="rId16" Type="http://schemas.openxmlformats.org/officeDocument/2006/relationships/font" Target="fonts/Lato-regular.fntdata"/><Relationship Id="rId17" Type="http://schemas.openxmlformats.org/officeDocument/2006/relationships/font" Target="fonts/Lato-bold.fntdata"/><Relationship Id="rId18" Type="http://schemas.openxmlformats.org/officeDocument/2006/relationships/font" Target="fonts/Lato-italic.fntdata"/><Relationship Id="rId19" Type="http://schemas.openxmlformats.org/officeDocument/2006/relationships/font" Target="fonts/Lato-boldItalic.fntdata"/><Relationship Id="rId20" Type="http://customschemas.google.com/relationships/presentationmetadata" Target="metadata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4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4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Relationship Id="rId3" Type="http://schemas.openxmlformats.org/officeDocument/2006/relationships/image" Target="../media/image4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4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4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2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12" name="Google Shape;1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2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16" name="Google Shape;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8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2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3" name="Google Shape;2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2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" name="Google Shape;2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0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3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3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35" name="Google Shape;3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p3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3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/>
          <p:nvPr>
            <p:ph idx="1" type="body"/>
          </p:nvPr>
        </p:nvSpPr>
        <p:spPr>
          <a:xfrm>
            <a:off x="345196" y="228600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33"/>
          <p:cNvSpPr txBox="1"/>
          <p:nvPr>
            <p:ph idx="2" type="body"/>
          </p:nvPr>
        </p:nvSpPr>
        <p:spPr>
          <a:xfrm>
            <a:off x="345196" y="731520"/>
            <a:ext cx="84537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33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33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33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4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3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3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3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ky Background 1">
  <p:cSld name="Summit22 - Divider1_1_3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37"/>
          <p:cNvSpPr txBox="1"/>
          <p:nvPr>
            <p:ph idx="1" type="body"/>
          </p:nvPr>
        </p:nvSpPr>
        <p:spPr>
          <a:xfrm>
            <a:off x="376225" y="1282900"/>
            <a:ext cx="2267400" cy="30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5pPr>
            <a:lvl6pPr indent="-3048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61" name="Google Shape;61;p3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37"/>
          <p:cNvSpPr txBox="1"/>
          <p:nvPr>
            <p:ph idx="2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38"/>
          <p:cNvPicPr preferRelativeResize="0"/>
          <p:nvPr/>
        </p:nvPicPr>
        <p:blipFill rotWithShape="1">
          <a:blip r:embed="rId2">
            <a:alphaModFix amt="35000"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38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3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8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3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74" name="Google Shape;74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78" name="Google Shape;78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Google Shape;81;p4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82" name="Google Shape;8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5" name="Google Shape;85;p4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86" name="Google Shape;86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9" name="Google Shape;89;p4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4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3" name="Google Shape;93;p4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94" name="Google Shape;94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5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7" name="Google Shape;97;p4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6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cap="none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46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4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4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04" name="Google Shape;104;p4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105" name="Google Shape;105;p46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46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7" name="Google Shape;107;p46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7"/>
          <p:cNvSpPr txBox="1"/>
          <p:nvPr>
            <p:ph idx="12" type="sldNum"/>
          </p:nvPr>
        </p:nvSpPr>
        <p:spPr>
          <a:xfrm>
            <a:off x="8569842" y="4866972"/>
            <a:ext cx="473700" cy="923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(#)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10" name="Google Shape;110;p4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4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14" name="Google Shape;114;p48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sp>
          <p:nvSpPr>
            <p:cNvPr id="115" name="Google Shape;115;p48"/>
            <p:cNvSpPr/>
            <p:nvPr/>
          </p:nvSpPr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48"/>
            <p:cNvSpPr/>
            <p:nvPr/>
          </p:nvSpPr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7" name="Google Shape;117;p4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8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19" name="Google Shape;119;p48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0" name="Google Shape;120;p48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1" name="Google Shape;121;p48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4" name="Google Shape;124;p4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9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6" name="Google Shape;126;p4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7" name="Google Shape;127;p4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8" name="Google Shape;128;p4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9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0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0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3" name="Google Shape;133;p5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0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plash 1">
  <p:cSld name="Summit22 - Splash_1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4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New Cover">
  <p:cSld name="Summit22 - Title 1_4"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9750"/>
            <a:ext cx="9144003" cy="515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52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52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1" name="Google Shape;141;p52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52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52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 2">
  <p:cSld name="Summit22 - Divider1_1_1_1_1_1_2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53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3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3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53"/>
          <p:cNvSpPr/>
          <p:nvPr>
            <p:ph idx="2" type="pic"/>
          </p:nvPr>
        </p:nvSpPr>
        <p:spPr>
          <a:xfrm>
            <a:off x="480450" y="523875"/>
            <a:ext cx="3262200" cy="4029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53"/>
          <p:cNvSpPr txBox="1"/>
          <p:nvPr>
            <p:ph idx="1" type="body"/>
          </p:nvPr>
        </p:nvSpPr>
        <p:spPr>
          <a:xfrm>
            <a:off x="4027950" y="1021491"/>
            <a:ext cx="395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1" sz="2400"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1" name="Google Shape;151;p53"/>
          <p:cNvSpPr txBox="1"/>
          <p:nvPr>
            <p:ph idx="3" type="body"/>
          </p:nvPr>
        </p:nvSpPr>
        <p:spPr>
          <a:xfrm>
            <a:off x="4027950" y="1830025"/>
            <a:ext cx="4146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152" name="Google Shape;152;p53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Divider Slide 2">
  <p:cSld name="Summit22 - Title 1_2_1">
    <p:bg>
      <p:bgPr>
        <a:solidFill>
          <a:schemeClr val="lt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54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54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5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4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55"/>
          <p:cNvSpPr txBox="1"/>
          <p:nvPr>
            <p:ph idx="1" type="body"/>
          </p:nvPr>
        </p:nvSpPr>
        <p:spPr>
          <a:xfrm>
            <a:off x="4819651" y="904875"/>
            <a:ext cx="39789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3" name="Google Shape;163;p55"/>
          <p:cNvSpPr/>
          <p:nvPr/>
        </p:nvSpPr>
        <p:spPr>
          <a:xfrm>
            <a:off x="-17275" y="-9600"/>
            <a:ext cx="4589400" cy="516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5"/>
          <p:cNvSpPr txBox="1"/>
          <p:nvPr>
            <p:ph idx="2" type="body"/>
          </p:nvPr>
        </p:nvSpPr>
        <p:spPr>
          <a:xfrm>
            <a:off x="345195" y="226036"/>
            <a:ext cx="39552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5" name="Google Shape;165;p55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5"/>
          <p:cNvSpPr txBox="1"/>
          <p:nvPr>
            <p:ph idx="3" type="body"/>
          </p:nvPr>
        </p:nvSpPr>
        <p:spPr>
          <a:xfrm>
            <a:off x="345447" y="731520"/>
            <a:ext cx="3955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55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5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Bkg :ight">
  <p:cSld name="Summit22 - Thank You_1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56"/>
          <p:cNvSpPr/>
          <p:nvPr/>
        </p:nvSpPr>
        <p:spPr>
          <a:xfrm>
            <a:off x="-35575" y="-9750"/>
            <a:ext cx="9212100" cy="5163000"/>
          </a:xfrm>
          <a:prstGeom prst="rect">
            <a:avLst/>
          </a:prstGeom>
          <a:gradFill>
            <a:gsLst>
              <a:gs pos="0">
                <a:srgbClr val="98DEFF"/>
              </a:gs>
              <a:gs pos="100000">
                <a:srgbClr val="B2E7FF">
                  <a:alpha val="47843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6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6"/>
          <p:cNvSpPr txBox="1"/>
          <p:nvPr>
            <p:ph idx="1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Vegas with Characters Content Slide">
  <p:cSld name="Summit22 - Title 1_5">
    <p:bg>
      <p:bgPr>
        <a:solidFill>
          <a:schemeClr val="lt1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8867" y="-19512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5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5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57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5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Thank You">
  <p:cSld name="Summit22 - Thank You_2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" y="-13"/>
            <a:ext cx="9143997" cy="514354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5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5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58"/>
          <p:cNvSpPr txBox="1"/>
          <p:nvPr>
            <p:ph idx="1" type="body"/>
          </p:nvPr>
        </p:nvSpPr>
        <p:spPr>
          <a:xfrm>
            <a:off x="2272412" y="2285447"/>
            <a:ext cx="45993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b="1" sz="40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6" name="Google Shape;186;p58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8"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2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198" name="Google Shape;19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1">
  <p:cSld name="Multi-use layout_1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6887431da9_6_32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6887431da9_6_32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9292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6887431da9_6_321"/>
          <p:cNvSpPr txBox="1"/>
          <p:nvPr/>
        </p:nvSpPr>
        <p:spPr>
          <a:xfrm>
            <a:off x="8326876" y="4825493"/>
            <a:ext cx="5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g36887431da9_6_321"/>
          <p:cNvSpPr txBox="1"/>
          <p:nvPr>
            <p:ph type="title"/>
          </p:nvPr>
        </p:nvSpPr>
        <p:spPr>
          <a:xfrm>
            <a:off x="365760" y="274320"/>
            <a:ext cx="8321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i="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g36887431da9_6_321"/>
          <p:cNvSpPr txBox="1"/>
          <p:nvPr>
            <p:ph idx="1" type="subTitle"/>
          </p:nvPr>
        </p:nvSpPr>
        <p:spPr>
          <a:xfrm>
            <a:off x="365760" y="655868"/>
            <a:ext cx="83448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05" name="Google Shape;205;g36887431da9_6_321"/>
          <p:cNvSpPr/>
          <p:nvPr/>
        </p:nvSpPr>
        <p:spPr>
          <a:xfrm>
            <a:off x="0" y="343806"/>
            <a:ext cx="137100" cy="36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2">
  <p:cSld name="Multi-use layout_2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887431da9_6_72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g36887431da9_6_72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9292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g36887431da9_6_729"/>
          <p:cNvSpPr txBox="1"/>
          <p:nvPr/>
        </p:nvSpPr>
        <p:spPr>
          <a:xfrm>
            <a:off x="8326876" y="4825493"/>
            <a:ext cx="5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6887431da9_6_729"/>
          <p:cNvSpPr txBox="1"/>
          <p:nvPr>
            <p:ph type="title"/>
          </p:nvPr>
        </p:nvSpPr>
        <p:spPr>
          <a:xfrm>
            <a:off x="365760" y="274320"/>
            <a:ext cx="8321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i="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g36887431da9_6_729"/>
          <p:cNvSpPr txBox="1"/>
          <p:nvPr>
            <p:ph idx="1" type="subTitle"/>
          </p:nvPr>
        </p:nvSpPr>
        <p:spPr>
          <a:xfrm>
            <a:off x="365760" y="655868"/>
            <a:ext cx="83448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12" name="Google Shape;212;g36887431da9_6_729"/>
          <p:cNvSpPr/>
          <p:nvPr/>
        </p:nvSpPr>
        <p:spPr>
          <a:xfrm>
            <a:off x="0" y="343806"/>
            <a:ext cx="137100" cy="36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26"/>
          <p:cNvPicPr preferRelativeResize="0"/>
          <p:nvPr/>
        </p:nvPicPr>
        <p:blipFill rotWithShape="1">
          <a:blip r:embed="rId2">
            <a:alphaModFix amt="35000"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6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2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6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9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1" name="Google Shape;221;p5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6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25" name="Google Shape;225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6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29" name="Google Shape;229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2" name="Google Shape;232;p6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33" name="Google Shape;233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3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6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37" name="Google Shape;237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6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6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5"/>
          <p:cNvSpPr txBox="1"/>
          <p:nvPr>
            <p:ph idx="1" type="body"/>
          </p:nvPr>
        </p:nvSpPr>
        <p:spPr>
          <a:xfrm>
            <a:off x="345196" y="228600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p65"/>
          <p:cNvSpPr txBox="1"/>
          <p:nvPr>
            <p:ph idx="2" type="body"/>
          </p:nvPr>
        </p:nvSpPr>
        <p:spPr>
          <a:xfrm>
            <a:off x="345196" y="731520"/>
            <a:ext cx="84537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5" name="Google Shape;245;p65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65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7" name="Google Shape;247;p65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6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0" name="Google Shape;250;p6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6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4" name="Google Shape;254;p6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6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8" name="Google Shape;258;p6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6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ky Background 1">
  <p:cSld name="Summit22 - Divider1_1_3">
    <p:bg>
      <p:bgPr>
        <a:solidFill>
          <a:schemeClr val="lt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9"/>
          <p:cNvSpPr txBox="1"/>
          <p:nvPr>
            <p:ph idx="1" type="body"/>
          </p:nvPr>
        </p:nvSpPr>
        <p:spPr>
          <a:xfrm>
            <a:off x="376225" y="1282900"/>
            <a:ext cx="2267400" cy="30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5pPr>
            <a:lvl6pPr indent="-3048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263" name="Google Shape;263;p6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6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69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9"/>
          <p:cNvSpPr txBox="1"/>
          <p:nvPr>
            <p:ph idx="2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9" name="Google Shape;269;p7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0" name="Google Shape;270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7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4" name="Google Shape;274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7" name="Google Shape;277;p7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8" name="Google Shape;278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3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1" name="Google Shape;281;p7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82" name="Google Shape;282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5" name="Google Shape;285;p7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7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5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9" name="Google Shape;289;p7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90" name="Google Shape;290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6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3" name="Google Shape;293;p7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7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7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cap="none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7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7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7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00" name="Google Shape;300;p7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301" name="Google Shape;301;p77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302;p77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3" name="Google Shape;303;p77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78"/>
          <p:cNvSpPr txBox="1"/>
          <p:nvPr>
            <p:ph idx="12" type="sldNum"/>
          </p:nvPr>
        </p:nvSpPr>
        <p:spPr>
          <a:xfrm>
            <a:off x="8569842" y="4866972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(#)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06" name="Google Shape;306;p7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7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10" name="Google Shape;310;p79"/>
          <p:cNvGrpSpPr/>
          <p:nvPr/>
        </p:nvGrpSpPr>
        <p:grpSpPr>
          <a:xfrm rot="-5400000">
            <a:off x="5223331" y="1196311"/>
            <a:ext cx="5164333" cy="2747794"/>
            <a:chOff x="1155183" y="3814094"/>
            <a:chExt cx="3118370" cy="1659196"/>
          </a:xfrm>
        </p:grpSpPr>
        <p:sp>
          <p:nvSpPr>
            <p:cNvPr id="311" name="Google Shape;311;p79"/>
            <p:cNvSpPr/>
            <p:nvPr/>
          </p:nvSpPr>
          <p:spPr>
            <a:xfrm>
              <a:off x="1155183" y="3814094"/>
              <a:ext cx="18912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79"/>
            <p:cNvSpPr/>
            <p:nvPr/>
          </p:nvSpPr>
          <p:spPr>
            <a:xfrm>
              <a:off x="3051053" y="3828390"/>
              <a:ext cx="1222500" cy="164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3" name="Google Shape;313;p7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9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15" name="Google Shape;315;p7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16" name="Google Shape;316;p7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17" name="Google Shape;317;p7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8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0" name="Google Shape;320;p80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80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22" name="Google Shape;322;p80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23" name="Google Shape;323;p80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24" name="Google Shape;324;p80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80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1764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81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81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9" name="Google Shape;329;p81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1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1764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 2">
  <p:cSld name="Summit22 - Divider1_1_1_1_1_1_2">
    <p:bg>
      <p:bgPr>
        <a:solidFill>
          <a:schemeClr val="lt1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8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8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8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84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84"/>
          <p:cNvSpPr/>
          <p:nvPr>
            <p:ph idx="2" type="pic"/>
          </p:nvPr>
        </p:nvSpPr>
        <p:spPr>
          <a:xfrm>
            <a:off x="480450" y="523875"/>
            <a:ext cx="3262200" cy="4029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84"/>
          <p:cNvSpPr txBox="1"/>
          <p:nvPr>
            <p:ph idx="1" type="body"/>
          </p:nvPr>
        </p:nvSpPr>
        <p:spPr>
          <a:xfrm>
            <a:off x="4027950" y="1021491"/>
            <a:ext cx="395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1" sz="2400"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8" name="Google Shape;338;p84"/>
          <p:cNvSpPr txBox="1"/>
          <p:nvPr>
            <p:ph idx="3" type="body"/>
          </p:nvPr>
        </p:nvSpPr>
        <p:spPr>
          <a:xfrm>
            <a:off x="4027950" y="1830025"/>
            <a:ext cx="4146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9" name="Google Shape;339;p84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Divider Slide 2">
  <p:cSld name="Summit22 - Title 1_2_1">
    <p:bg>
      <p:bgPr>
        <a:solidFill>
          <a:schemeClr val="lt1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85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3" name="Google Shape;343;p85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5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85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85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86"/>
          <p:cNvSpPr txBox="1"/>
          <p:nvPr>
            <p:ph idx="1" type="body"/>
          </p:nvPr>
        </p:nvSpPr>
        <p:spPr>
          <a:xfrm>
            <a:off x="4819651" y="904875"/>
            <a:ext cx="39789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86"/>
          <p:cNvSpPr/>
          <p:nvPr/>
        </p:nvSpPr>
        <p:spPr>
          <a:xfrm>
            <a:off x="-17275" y="-9600"/>
            <a:ext cx="4589400" cy="516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86"/>
          <p:cNvSpPr txBox="1"/>
          <p:nvPr>
            <p:ph idx="2" type="body"/>
          </p:nvPr>
        </p:nvSpPr>
        <p:spPr>
          <a:xfrm>
            <a:off x="345195" y="226036"/>
            <a:ext cx="39552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2" name="Google Shape;352;p8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86"/>
          <p:cNvSpPr txBox="1"/>
          <p:nvPr>
            <p:ph idx="3" type="body"/>
          </p:nvPr>
        </p:nvSpPr>
        <p:spPr>
          <a:xfrm>
            <a:off x="345447" y="731520"/>
            <a:ext cx="3955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4" name="Google Shape;354;p8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86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Bkg :ight">
  <p:cSld name="Summit22 - Thank You_1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7"/>
          <p:cNvSpPr/>
          <p:nvPr/>
        </p:nvSpPr>
        <p:spPr>
          <a:xfrm>
            <a:off x="-35575" y="-9750"/>
            <a:ext cx="9212100" cy="5163000"/>
          </a:xfrm>
          <a:prstGeom prst="rect">
            <a:avLst/>
          </a:prstGeom>
          <a:gradFill>
            <a:gsLst>
              <a:gs pos="0">
                <a:srgbClr val="98DEFF"/>
              </a:gs>
              <a:gs pos="100000">
                <a:srgbClr val="B2E7FF">
                  <a:alpha val="48235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8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8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87"/>
          <p:cNvSpPr txBox="1"/>
          <p:nvPr>
            <p:ph idx="1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Vegas with Characters Content Slide">
  <p:cSld name="Summit22 - Title 1_5">
    <p:bg>
      <p:bgPr>
        <a:solidFill>
          <a:schemeClr val="lt1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8867" y="-19512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8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8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88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7" name="Google Shape;367;p88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Thank You">
  <p:cSld name="Summit22 - Thank You_2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" y="-13"/>
            <a:ext cx="9143997" cy="514354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9"/>
          <p:cNvSpPr txBox="1"/>
          <p:nvPr>
            <p:ph idx="1" type="body"/>
          </p:nvPr>
        </p:nvSpPr>
        <p:spPr>
          <a:xfrm>
            <a:off x="2272412" y="2285447"/>
            <a:ext cx="45993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b="1" sz="40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3" name="Google Shape;373;p89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8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27d8e625f7_1_131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0" name="Google Shape;380;g327d8e625f7_1_13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g327d8e625f7_1_13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1">
  <p:cSld name="Multi-use layout_1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d45bd621e8_0_489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4" name="Google Shape;384;g3d45bd621e8_0_48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g3d45bd621e8_0_489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386" name="Google Shape;386;g3d45bd621e8_0_489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g3d45bd621e8_0_48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g3d45bd621e8_0_48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g3d45bd621e8_0_489"/>
          <p:cNvSpPr txBox="1"/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27d8e625f7_1_10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392" name="Google Shape;392;g327d8e625f7_1_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27d8e625f7_1_1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5" name="Google Shape;395;g327d8e625f7_1_1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396" name="Google Shape;396;g327d8e625f7_1_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27d8e625f7_1_115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9" name="Google Shape;399;g327d8e625f7_1_11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00" name="Google Shape;400;g327d8e625f7_1_1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27d8e625f7_1_11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3" name="Google Shape;403;g327d8e625f7_1_11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04" name="Google Shape;404;g327d8e625f7_1_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27d8e625f7_1_12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7" name="Google Shape;407;g327d8e625f7_1_12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g327d8e625f7_1_12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27d8e625f7_1_127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1" name="Google Shape;411;g327d8e625f7_1_12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12" name="Google Shape;412;g327d8e625f7_1_1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27d8e625f7_1_13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5" name="Google Shape;415;g327d8e625f7_1_13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g327d8e625f7_1_13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27d8e625f7_1_139"/>
          <p:cNvSpPr txBox="1"/>
          <p:nvPr>
            <p:ph idx="1" type="body"/>
          </p:nvPr>
        </p:nvSpPr>
        <p:spPr>
          <a:xfrm>
            <a:off x="345196" y="228600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9" name="Google Shape;419;g327d8e625f7_1_139"/>
          <p:cNvSpPr txBox="1"/>
          <p:nvPr>
            <p:ph idx="2" type="body"/>
          </p:nvPr>
        </p:nvSpPr>
        <p:spPr>
          <a:xfrm>
            <a:off x="345196" y="731520"/>
            <a:ext cx="84537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0" name="Google Shape;420;g327d8e625f7_1_13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g327d8e625f7_1_139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2" name="Google Shape;422;g327d8e625f7_1_13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27d8e625f7_1_145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5" name="Google Shape;425;g327d8e625f7_1_14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327d8e625f7_1_14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27d8e625f7_1_149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9" name="Google Shape;429;g327d8e625f7_1_14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g327d8e625f7_1_14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27d8e625f7_1_15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3" name="Google Shape;433;g327d8e625f7_1_15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g327d8e625f7_1_15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ky Background 1">
  <p:cSld name="Summit22 - Divider1_1_3">
    <p:bg>
      <p:bgPr>
        <a:solidFill>
          <a:schemeClr val="lt1"/>
        </a:solidFill>
      </p:bgPr>
    </p:bg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27d8e625f7_1_1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27d8e625f7_1_157"/>
          <p:cNvSpPr txBox="1"/>
          <p:nvPr>
            <p:ph idx="1" type="body"/>
          </p:nvPr>
        </p:nvSpPr>
        <p:spPr>
          <a:xfrm>
            <a:off x="376225" y="1282900"/>
            <a:ext cx="2267400" cy="30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5pPr>
            <a:lvl6pPr indent="-3048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438" name="Google Shape;438;g327d8e625f7_1_15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327d8e625f7_1_15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g327d8e625f7_1_15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g327d8e625f7_1_157"/>
          <p:cNvSpPr txBox="1"/>
          <p:nvPr>
            <p:ph idx="2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" name="Google Shape;443;g327d8e625f7_1_164"/>
          <p:cNvPicPr preferRelativeResize="0"/>
          <p:nvPr/>
        </p:nvPicPr>
        <p:blipFill rotWithShape="1">
          <a:blip r:embed="rId2">
            <a:alphaModFix amt="35000"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g327d8e625f7_1_164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5" name="Google Shape;445;g327d8e625f7_1_16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g327d8e625f7_1_16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327d8e625f7_1_164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27d8e625f7_1_17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0" name="Google Shape;450;g327d8e625f7_1_17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51" name="Google Shape;451;g327d8e625f7_1_1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27d8e625f7_1_17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g327d8e625f7_1_17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55" name="Google Shape;455;g327d8e625f7_1_1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27d8e625f7_1_17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8" name="Google Shape;458;g327d8e625f7_1_17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59" name="Google Shape;459;g327d8e625f7_1_1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27d8e625f7_1_18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2" name="Google Shape;462;g327d8e625f7_1_18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63" name="Google Shape;463;g327d8e625f7_1_1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27d8e625f7_1_18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6" name="Google Shape;466;g327d8e625f7_1_18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g327d8e625f7_1_18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27d8e625f7_1_190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0" name="Google Shape;470;g327d8e625f7_1_19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71" name="Google Shape;471;g327d8e625f7_1_1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27d8e625f7_1_194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4" name="Google Shape;474;g327d8e625f7_1_19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g327d8e625f7_1_19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27d8e625f7_1_198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cap="none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8" name="Google Shape;478;g327d8e625f7_1_19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g327d8e625f7_1_19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g327d8e625f7_1_19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81" name="Google Shape;481;g327d8e625f7_1_198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482" name="Google Shape;482;g327d8e625f7_1_198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g327d8e625f7_1_198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4" name="Google Shape;484;g327d8e625f7_1_198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27d8e625f7_1_207"/>
          <p:cNvSpPr txBox="1"/>
          <p:nvPr>
            <p:ph idx="12" type="sldNum"/>
          </p:nvPr>
        </p:nvSpPr>
        <p:spPr>
          <a:xfrm>
            <a:off x="8569842" y="4866972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(#)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87" name="Google Shape;487;g327d8e625f7_1_20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g327d8e625f7_1_20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27d8e625f7_1_2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91" name="Google Shape;491;g327d8e625f7_1_211"/>
          <p:cNvGrpSpPr/>
          <p:nvPr/>
        </p:nvGrpSpPr>
        <p:grpSpPr>
          <a:xfrm rot="-5400000">
            <a:off x="5223331" y="1196311"/>
            <a:ext cx="5164333" cy="2747794"/>
            <a:chOff x="1155183" y="3814094"/>
            <a:chExt cx="3118370" cy="1659196"/>
          </a:xfrm>
        </p:grpSpPr>
        <p:sp>
          <p:nvSpPr>
            <p:cNvPr id="492" name="Google Shape;492;g327d8e625f7_1_211"/>
            <p:cNvSpPr/>
            <p:nvPr/>
          </p:nvSpPr>
          <p:spPr>
            <a:xfrm>
              <a:off x="1155183" y="3814094"/>
              <a:ext cx="18912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g327d8e625f7_1_211"/>
            <p:cNvSpPr/>
            <p:nvPr/>
          </p:nvSpPr>
          <p:spPr>
            <a:xfrm>
              <a:off x="3051053" y="3828390"/>
              <a:ext cx="1222500" cy="164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4" name="Google Shape;494;g327d8e625f7_1_211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327d8e625f7_1_211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96" name="Google Shape;496;g327d8e625f7_1_211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97" name="Google Shape;497;g327d8e625f7_1_211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98" name="Google Shape;498;g327d8e625f7_1_211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27d8e625f7_1_22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1" name="Google Shape;501;g327d8e625f7_1_221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g327d8e625f7_1_221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03" name="Google Shape;503;g327d8e625f7_1_221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04" name="Google Shape;504;g327d8e625f7_1_221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05" name="Google Shape;505;g327d8e625f7_1_221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g327d8e625f7_1_221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215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27d8e625f7_1_229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g327d8e625f7_1_229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0" name="Google Shape;510;g327d8e625f7_1_2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g327d8e625f7_1_229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215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plash 1">
  <p:cSld name="Summit22 - Splash_1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3" name="Google Shape;513;g327d8e625f7_1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4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New Cover">
  <p:cSld name="Summit22 - Title 1_4">
    <p:bg>
      <p:bgPr>
        <a:solidFill>
          <a:schemeClr val="lt1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" name="Google Shape;515;g327d8e625f7_1_2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9750"/>
            <a:ext cx="9144003" cy="515325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g327d8e625f7_1_236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7" name="Google Shape;517;g327d8e625f7_1_236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8" name="Google Shape;518;g327d8e625f7_1_23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327d8e625f7_1_23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g327d8e625f7_1_236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 2">
  <p:cSld name="Summit22 - Divider1_1_1_1_1_1_2">
    <p:bg>
      <p:bgPr>
        <a:solidFill>
          <a:schemeClr val="lt1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" name="Google Shape;522;g327d8e625f7_1_2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27d8e625f7_1_243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g327d8e625f7_1_243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g327d8e625f7_1_243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g327d8e625f7_1_243"/>
          <p:cNvSpPr/>
          <p:nvPr>
            <p:ph idx="2" type="pic"/>
          </p:nvPr>
        </p:nvSpPr>
        <p:spPr>
          <a:xfrm>
            <a:off x="480450" y="523875"/>
            <a:ext cx="3262200" cy="4029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7" name="Google Shape;527;g327d8e625f7_1_243"/>
          <p:cNvSpPr txBox="1"/>
          <p:nvPr>
            <p:ph idx="1" type="body"/>
          </p:nvPr>
        </p:nvSpPr>
        <p:spPr>
          <a:xfrm>
            <a:off x="4027950" y="1021491"/>
            <a:ext cx="395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1" sz="2400"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8" name="Google Shape;528;g327d8e625f7_1_243"/>
          <p:cNvSpPr txBox="1"/>
          <p:nvPr>
            <p:ph idx="3" type="body"/>
          </p:nvPr>
        </p:nvSpPr>
        <p:spPr>
          <a:xfrm>
            <a:off x="4027950" y="1830025"/>
            <a:ext cx="4146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529" name="Google Shape;529;g327d8e625f7_1_243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Divider Slide 2">
  <p:cSld name="Summit22 - Title 1_2_1">
    <p:bg>
      <p:bgPr>
        <a:solidFill>
          <a:schemeClr val="lt1"/>
        </a:solidFill>
      </p:bgPr>
    </p:bg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531;g327d8e625f7_1_2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g327d8e625f7_1_252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3" name="Google Shape;533;g327d8e625f7_1_252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4" name="Google Shape;534;g327d8e625f7_1_252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g327d8e625f7_1_252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g327d8e625f7_1_252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8" name="Google Shape;538;g327d8e625f7_1_2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g327d8e625f7_1_259"/>
          <p:cNvSpPr txBox="1"/>
          <p:nvPr>
            <p:ph idx="1" type="body"/>
          </p:nvPr>
        </p:nvSpPr>
        <p:spPr>
          <a:xfrm>
            <a:off x="4819651" y="904875"/>
            <a:ext cx="39789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0" name="Google Shape;540;g327d8e625f7_1_259"/>
          <p:cNvSpPr/>
          <p:nvPr/>
        </p:nvSpPr>
        <p:spPr>
          <a:xfrm>
            <a:off x="-17275" y="-9600"/>
            <a:ext cx="4589400" cy="516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g327d8e625f7_1_259"/>
          <p:cNvSpPr txBox="1"/>
          <p:nvPr>
            <p:ph idx="2" type="body"/>
          </p:nvPr>
        </p:nvSpPr>
        <p:spPr>
          <a:xfrm>
            <a:off x="345195" y="226036"/>
            <a:ext cx="39552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2" name="Google Shape;542;g327d8e625f7_1_25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g327d8e625f7_1_259"/>
          <p:cNvSpPr txBox="1"/>
          <p:nvPr>
            <p:ph idx="3" type="body"/>
          </p:nvPr>
        </p:nvSpPr>
        <p:spPr>
          <a:xfrm>
            <a:off x="345447" y="731520"/>
            <a:ext cx="3955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4" name="Google Shape;544;g327d8e625f7_1_25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g327d8e625f7_1_259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Bkg :ight">
  <p:cSld name="Summit22 - Thank You_1"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27d8e625f7_1_268"/>
          <p:cNvSpPr/>
          <p:nvPr/>
        </p:nvSpPr>
        <p:spPr>
          <a:xfrm>
            <a:off x="-35575" y="-9750"/>
            <a:ext cx="9212100" cy="5163000"/>
          </a:xfrm>
          <a:prstGeom prst="rect">
            <a:avLst/>
          </a:prstGeom>
          <a:gradFill>
            <a:gsLst>
              <a:gs pos="0">
                <a:srgbClr val="98DEFF"/>
              </a:gs>
              <a:gs pos="100000">
                <a:srgbClr val="B2E7FF">
                  <a:alpha val="49019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g327d8e625f7_1_26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g327d8e625f7_1_26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g327d8e625f7_1_268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g327d8e625f7_1_268"/>
          <p:cNvSpPr txBox="1"/>
          <p:nvPr>
            <p:ph idx="1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Vegas with Characters Content Slide">
  <p:cSld name="Summit22 - Title 1_5">
    <p:bg>
      <p:bgPr>
        <a:solidFill>
          <a:schemeClr val="lt1"/>
        </a:solidFill>
      </p:bgPr>
    </p:bg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g327d8e625f7_1_2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8867" y="-19512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g327d8e625f7_1_27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g327d8e625f7_1_27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g327d8e625f7_1_274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7" name="Google Shape;557;g327d8e625f7_1_274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Thank You">
  <p:cSld name="Summit22 - Thank You_2"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Google Shape;559;g327d8e625f7_1_2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" y="-13"/>
            <a:ext cx="9143997" cy="5143545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g327d8e625f7_1_280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27d8e625f7_1_280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27d8e625f7_1_280"/>
          <p:cNvSpPr txBox="1"/>
          <p:nvPr>
            <p:ph idx="1" type="body"/>
          </p:nvPr>
        </p:nvSpPr>
        <p:spPr>
          <a:xfrm>
            <a:off x="2272412" y="2285447"/>
            <a:ext cx="45993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b="1" sz="40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3" name="Google Shape;563;g327d8e625f7_1_280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2.xml"/><Relationship Id="rId19" Type="http://schemas.openxmlformats.org/officeDocument/2006/relationships/slideLayout" Target="../slideLayouts/slideLayout53.xml"/><Relationship Id="rId20" Type="http://schemas.openxmlformats.org/officeDocument/2006/relationships/slideLayout" Target="../slideLayouts/slideLayout54.xml"/><Relationship Id="rId21" Type="http://schemas.openxmlformats.org/officeDocument/2006/relationships/slideLayout" Target="../slideLayouts/slideLayout55.xml"/><Relationship Id="rId22" Type="http://schemas.openxmlformats.org/officeDocument/2006/relationships/slideLayout" Target="../slideLayouts/slideLayout56.xml"/><Relationship Id="rId23" Type="http://schemas.openxmlformats.org/officeDocument/2006/relationships/slideLayout" Target="../slideLayouts/slideLayout57.xml"/><Relationship Id="rId24" Type="http://schemas.openxmlformats.org/officeDocument/2006/relationships/slideLayout" Target="../slideLayouts/slideLayout58.xml"/><Relationship Id="rId25" Type="http://schemas.openxmlformats.org/officeDocument/2006/relationships/slideLayout" Target="../slideLayouts/slideLayout59.xml"/><Relationship Id="rId26" Type="http://schemas.openxmlformats.org/officeDocument/2006/relationships/slideLayout" Target="../slideLayouts/slideLayout60.xml"/><Relationship Id="rId27" Type="http://schemas.openxmlformats.org/officeDocument/2006/relationships/slideLayout" Target="../slideLayouts/slideLayout61.xml"/><Relationship Id="rId28" Type="http://schemas.openxmlformats.org/officeDocument/2006/relationships/slideLayout" Target="../slideLayouts/slideLayout62.xml"/><Relationship Id="rId29" Type="http://schemas.openxmlformats.org/officeDocument/2006/relationships/slideLayout" Target="../slideLayouts/slideLayout63.xml"/><Relationship Id="rId30" Type="http://schemas.openxmlformats.org/officeDocument/2006/relationships/slideLayout" Target="../slideLayouts/slideLayout64.xml"/><Relationship Id="rId31" Type="http://schemas.openxmlformats.org/officeDocument/2006/relationships/slideLayout" Target="../slideLayouts/slideLayout65.xml"/><Relationship Id="rId32" Type="http://schemas.openxmlformats.org/officeDocument/2006/relationships/slideLayout" Target="../slideLayouts/slideLayout66.xml"/><Relationship Id="rId33" Type="http://schemas.openxmlformats.org/officeDocument/2006/relationships/slideLayout" Target="../slideLayouts/slideLayout67.xml"/><Relationship Id="rId34" Type="http://schemas.openxmlformats.org/officeDocument/2006/relationships/slideLayout" Target="../slideLayouts/slideLayout68.xml"/><Relationship Id="rId3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9" Type="http://schemas.openxmlformats.org/officeDocument/2006/relationships/slideLayout" Target="../slideLayouts/slideLayout77.xml"/><Relationship Id="rId10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0.xml"/><Relationship Id="rId13" Type="http://schemas.openxmlformats.org/officeDocument/2006/relationships/slideLayout" Target="../slideLayouts/slideLayout81.xml"/><Relationship Id="rId14" Type="http://schemas.openxmlformats.org/officeDocument/2006/relationships/slideLayout" Target="../slideLayouts/slideLayout82.xml"/><Relationship Id="rId15" Type="http://schemas.openxmlformats.org/officeDocument/2006/relationships/slideLayout" Target="../slideLayouts/slideLayout83.xml"/><Relationship Id="rId16" Type="http://schemas.openxmlformats.org/officeDocument/2006/relationships/slideLayout" Target="../slideLayouts/slideLayout84.xml"/><Relationship Id="rId17" Type="http://schemas.openxmlformats.org/officeDocument/2006/relationships/slideLayout" Target="../slideLayouts/slideLayout85.xml"/><Relationship Id="rId18" Type="http://schemas.openxmlformats.org/officeDocument/2006/relationships/slideLayout" Target="../slideLayouts/slideLayout86.xml"/><Relationship Id="rId19" Type="http://schemas.openxmlformats.org/officeDocument/2006/relationships/slideLayout" Target="../slideLayouts/slideLayout87.xml"/><Relationship Id="rId20" Type="http://schemas.openxmlformats.org/officeDocument/2006/relationships/slideLayout" Target="../slideLayouts/slideLayout88.xml"/><Relationship Id="rId21" Type="http://schemas.openxmlformats.org/officeDocument/2006/relationships/slideLayout" Target="../slideLayouts/slideLayout89.xml"/><Relationship Id="rId22" Type="http://schemas.openxmlformats.org/officeDocument/2006/relationships/slideLayout" Target="../slideLayouts/slideLayout90.xml"/><Relationship Id="rId23" Type="http://schemas.openxmlformats.org/officeDocument/2006/relationships/slideLayout" Target="../slideLayouts/slideLayout91.xml"/><Relationship Id="rId24" Type="http://schemas.openxmlformats.org/officeDocument/2006/relationships/slideLayout" Target="../slideLayouts/slideLayout92.xml"/><Relationship Id="rId25" Type="http://schemas.openxmlformats.org/officeDocument/2006/relationships/slideLayout" Target="../slideLayouts/slideLayout93.xml"/><Relationship Id="rId26" Type="http://schemas.openxmlformats.org/officeDocument/2006/relationships/slideLayout" Target="../slideLayouts/slideLayout94.xml"/><Relationship Id="rId27" Type="http://schemas.openxmlformats.org/officeDocument/2006/relationships/slideLayout" Target="../slideLayouts/slideLayout95.xml"/><Relationship Id="rId28" Type="http://schemas.openxmlformats.org/officeDocument/2006/relationships/slideLayout" Target="../slideLayouts/slideLayout96.xml"/><Relationship Id="rId29" Type="http://schemas.openxmlformats.org/officeDocument/2006/relationships/slideLayout" Target="../slideLayouts/slideLayout97.xml"/><Relationship Id="rId30" Type="http://schemas.openxmlformats.org/officeDocument/2006/relationships/slideLayout" Target="../slideLayouts/slideLayout98.xml"/><Relationship Id="rId31" Type="http://schemas.openxmlformats.org/officeDocument/2006/relationships/slideLayout" Target="../slideLayouts/slideLayout99.xml"/><Relationship Id="rId32" Type="http://schemas.openxmlformats.org/officeDocument/2006/relationships/slideLayout" Target="../slideLayouts/slideLayout100.xml"/><Relationship Id="rId33" Type="http://schemas.openxmlformats.org/officeDocument/2006/relationships/slideLayout" Target="../slideLayouts/slideLayout101.xml"/><Relationship Id="rId34" Type="http://schemas.openxmlformats.org/officeDocument/2006/relationships/slideLayout" Target="../slideLayouts/slideLayout102.xml"/><Relationship Id="rId35" Type="http://schemas.openxmlformats.org/officeDocument/2006/relationships/slideLayout" Target="../slideLayouts/slideLayout103.xml"/><Relationship Id="rId36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/>
          <p:nvPr>
            <p:ph type="title"/>
          </p:nvPr>
        </p:nvSpPr>
        <p:spPr>
          <a:xfrm>
            <a:off x="366550" y="228600"/>
            <a:ext cx="832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b="1" i="0" sz="2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20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0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</p:sldLayoutIdLst>
  <mc:AlternateContent>
    <mc:Choice Requires="p14">
      <p:transition spd="med" p14:dur="600">
        <p:fade/>
      </p:transition>
    </mc:Choice>
    <mc:Fallback>
      <p:transition spd="med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3"/>
          <p:cNvSpPr txBox="1"/>
          <p:nvPr>
            <p:ph type="title"/>
          </p:nvPr>
        </p:nvSpPr>
        <p:spPr>
          <a:xfrm>
            <a:off x="366550" y="228600"/>
            <a:ext cx="832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b="1" i="0" sz="2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89" name="Google Shape;189;p23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0" name="Google Shape;190;p2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</p:sldLayoutIdLst>
  <mc:AlternateContent>
    <mc:Choice Requires="p14">
      <p:transition spd="med" p14:dur="600">
        <p:fade/>
      </p:transition>
    </mc:Choice>
    <mc:Fallback>
      <p:transition spd="med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27d8e625f7_1_104"/>
          <p:cNvSpPr txBox="1"/>
          <p:nvPr>
            <p:ph type="title"/>
          </p:nvPr>
        </p:nvSpPr>
        <p:spPr>
          <a:xfrm>
            <a:off x="366550" y="228600"/>
            <a:ext cx="832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b="1" i="0" sz="2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76" name="Google Shape;376;g327d8e625f7_1_104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7" name="Google Shape;377;g327d8e625f7_1_10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  <p:sldLayoutId id="2147483736" r:id="rId18"/>
    <p:sldLayoutId id="2147483737" r:id="rId19"/>
    <p:sldLayoutId id="2147483738" r:id="rId20"/>
    <p:sldLayoutId id="2147483739" r:id="rId21"/>
    <p:sldLayoutId id="2147483740" r:id="rId22"/>
    <p:sldLayoutId id="2147483741" r:id="rId23"/>
    <p:sldLayoutId id="2147483742" r:id="rId24"/>
    <p:sldLayoutId id="2147483743" r:id="rId25"/>
    <p:sldLayoutId id="2147483744" r:id="rId26"/>
    <p:sldLayoutId id="2147483745" r:id="rId27"/>
    <p:sldLayoutId id="2147483746" r:id="rId28"/>
    <p:sldLayoutId id="2147483747" r:id="rId29"/>
    <p:sldLayoutId id="2147483748" r:id="rId30"/>
    <p:sldLayoutId id="2147483749" r:id="rId31"/>
    <p:sldLayoutId id="2147483750" r:id="rId32"/>
    <p:sldLayoutId id="2147483751" r:id="rId33"/>
    <p:sldLayoutId id="2147483752" r:id="rId34"/>
    <p:sldLayoutId id="2147483753" r:id="rId35"/>
  </p:sldLayoutIdLst>
  <mc:AlternateContent>
    <mc:Choice Requires="p14">
      <p:transition spd="med" p14:dur="600">
        <p:fade/>
      </p:transition>
    </mc:Choice>
    <mc:Fallback>
      <p:transition spd="med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0" y="1097280"/>
            <a:ext cx="201168" cy="201168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97280"/>
            <a:ext cx="201168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84464" y="1097280"/>
            <a:ext cx="201168" cy="201168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49056" y="1097280"/>
            <a:ext cx="201168" cy="201168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🍄  SUPER MARIO SPCS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6187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29B5E8"/>
                </a:solidFill>
              </a:rPr>
              <a:t>Real-time Game Analytics · Snowpark Container Services · OpenTelemetry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920240"/>
            <a:ext cx="548640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" y="2148840"/>
            <a:ext cx="1600200" cy="38404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21284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4040"/>
                </a:solidFill>
              </a:rPr>
              <a:t>🐳 SPCS Container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0824" y="2148840"/>
            <a:ext cx="1600200" cy="38404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0552" y="221284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B5E8"/>
                </a:solidFill>
              </a:rPr>
              <a:t>📡 OpenTelemetry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21608" y="2148840"/>
            <a:ext cx="1600200" cy="38404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31336" y="221284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DD68C"/>
                </a:solidFill>
              </a:rPr>
              <a:t>⚡ Interactive Tables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22392" y="2148840"/>
            <a:ext cx="1600200" cy="38404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221284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78BFA"/>
                </a:solidFill>
              </a:rPr>
              <a:t>🤖 Cortex 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23176" y="2148840"/>
            <a:ext cx="1600200" cy="38404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2212848"/>
            <a:ext cx="13898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📊 React + Streamlit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7889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8AB8"/>
                </a:solidFill>
              </a:rPr>
              <a:t>20-Minute Demo Session  ·  Snowflake Solutions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9B5E8"/>
                </a:solidFill>
              </a:rPr>
              <a:t>github.com/sfc-gh-tdahlberg/mario-spcs-telemetry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We'll Cover in 20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4023360" cy="713232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411480" cy="713232"/>
          </a:xfrm>
          <a:prstGeom prst="roundRect">
            <a:avLst>
              <a:gd name="adj" fmla="val 2000"/>
            </a:avLst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0D1A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078992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9B5E8"/>
                </a:solidFill>
              </a:rPr>
              <a:t>What We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40817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The complete project in 90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74519"/>
            <a:ext cx="4023360" cy="713232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874519"/>
            <a:ext cx="411480" cy="713232"/>
          </a:xfrm>
          <a:prstGeom prst="roundRect">
            <a:avLst>
              <a:gd name="adj" fmla="val 2000"/>
            </a:avLst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39111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0D1A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47671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D68C"/>
                </a:solidFill>
              </a:rPr>
              <a:t>Architecture 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27685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Data flow from game to dashboard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43200"/>
            <a:ext cx="4023360" cy="713232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743200"/>
            <a:ext cx="411480" cy="713232"/>
          </a:xfrm>
          <a:prstGeom prst="roundRect">
            <a:avLst>
              <a:gd name="adj" fmla="val 2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0D1A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816352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Player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4553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How SPCS auth flows into telemetry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11880"/>
            <a:ext cx="4023360" cy="713232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411480" cy="713232"/>
          </a:xfrm>
          <a:prstGeom prst="roundRect">
            <a:avLst>
              <a:gd name="adj" fmla="val 2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77647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0D1A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85032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8BFA"/>
                </a:solidFill>
              </a:rPr>
              <a:t>Real-time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0142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Interactive Tables + Cortex AI intelligence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1005840"/>
            <a:ext cx="4023360" cy="713232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1005840"/>
            <a:ext cx="411480" cy="713232"/>
          </a:xfrm>
          <a:prstGeom prst="roundRect">
            <a:avLst>
              <a:gd name="adj" fmla="val 2000"/>
            </a:avLst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117043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0D1A"/>
                </a:solidFill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1078992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4040"/>
                </a:solidFill>
              </a:rPr>
              <a:t>LIVE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140817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Play Mario · watch the dashboard update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1874519"/>
            <a:ext cx="4023360" cy="713232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6B8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54880" y="1874519"/>
            <a:ext cx="411480" cy="713232"/>
          </a:xfrm>
          <a:prstGeom prst="roundRect">
            <a:avLst>
              <a:gd name="adj" fmla="val 2000"/>
            </a:avLst>
          </a:prstGeom>
          <a:solidFill>
            <a:srgbClr val="6B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00600" y="2039111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1947671"/>
            <a:ext cx="3383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8AB8"/>
                </a:solidFill>
              </a:rPr>
              <a:t>Key Learnings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27685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What surprised us building this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Each section ~2 min · Demo ~10 min · Q&amp;A at 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Five Components. One Snowflake Account.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960120"/>
            <a:ext cx="1572768" cy="3154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1572768" cy="5029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67335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4040"/>
                </a:solidFill>
              </a:rPr>
              <a:t>Game on SPCS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130552"/>
            <a:ext cx="133502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HTML5 Super Mario running in a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Snowpark Container with public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ingress and authentication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0824" y="960120"/>
            <a:ext cx="1572768" cy="3154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0824" y="960120"/>
            <a:ext cx="1572768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0824" y="11430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0552" y="167335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9B5E8"/>
                </a:solidFill>
              </a:rPr>
              <a:t>Telemetry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130552"/>
            <a:ext cx="133502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Browser JS → nginx → Python sidecar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→ OpenTelemetry OTLP gRPC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→ SPCS Event 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21608" y="960120"/>
            <a:ext cx="1572768" cy="3154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21608" y="960120"/>
            <a:ext cx="1572768" cy="50292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1608" y="11430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6" y="167335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68C"/>
                </a:solidFill>
              </a:rPr>
              <a:t>Real-time Tables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9624" y="2130552"/>
            <a:ext cx="133502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6 Interactive Tables with 1-min lag,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Interactive Warehouse, player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sessions and events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22392" y="960120"/>
            <a:ext cx="1572768" cy="3154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22392" y="960120"/>
            <a:ext cx="1572768" cy="5029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2392" y="11430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67335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78BFA"/>
                </a:solidFill>
              </a:rPr>
              <a:t>Cortex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2130552"/>
            <a:ext cx="133502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Semantic View over 6 tables,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10 VQRs via FastGen, and a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Cortex Agent for NL queries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6" y="960120"/>
            <a:ext cx="1572768" cy="3154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23176" y="960120"/>
            <a:ext cx="1572768" cy="502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3176" y="11430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2904" y="167335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700"/>
                </a:solidFill>
              </a:rPr>
              <a:t>Dashboards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2130552"/>
            <a:ext cx="133502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Streamlit SiS + React Next.js app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with live charts, leaderboard,</a:t>
            </a:r>
          </a:p>
          <a:p>
            <a:pPr algn="ctr"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and platform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All components run inside a single Snowflake account · Zero external infrastructure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End-to-End Data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371600"/>
            <a:ext cx="137160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1371600" cy="41148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4630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" y="1874520"/>
            <a:ext cx="12252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Browser</a:t>
            </a:r>
            <a:br/>
            <a:r>
              <a:t>Player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371600"/>
            <a:ext cx="137160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4519" y="1371600"/>
            <a:ext cx="1371600" cy="41148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4630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7671" y="1874520"/>
            <a:ext cx="12252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SPCS Ingress</a:t>
            </a:r>
            <a:br/>
            <a:r>
              <a:t>+ Auth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371600"/>
            <a:ext cx="137160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371600"/>
            <a:ext cx="1371600" cy="41148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4630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1874520"/>
            <a:ext cx="12252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nginx</a:t>
            </a:r>
            <a:br/>
            <a:r>
              <a:t>:8080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2834640"/>
            <a:ext cx="137160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2834640"/>
            <a:ext cx="1371600" cy="41148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92608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3337560"/>
            <a:ext cx="12252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Tomcat</a:t>
            </a:r>
            <a:br/>
            <a:r>
              <a:t>Game :8888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6360" y="1371600"/>
            <a:ext cx="146304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1371600"/>
            <a:ext cx="1463040" cy="4114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146304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9512" y="1874520"/>
            <a:ext cx="13167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Python Sidecar</a:t>
            </a:r>
            <a:br/>
            <a:r>
              <a:t>OTel :9090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1371600"/>
            <a:ext cx="155448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371600"/>
            <a:ext cx="1554480" cy="41148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146304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1874520"/>
            <a:ext cx="14081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Event Table</a:t>
            </a:r>
            <a:br/>
            <a:r>
              <a:t>event_db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2834640"/>
            <a:ext cx="1554480" cy="105156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2834640"/>
            <a:ext cx="1554480" cy="4114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29260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6872" y="3337560"/>
            <a:ext cx="14081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Interactive</a:t>
            </a:r>
            <a:br/>
            <a:r>
              <a:t>Tables 6x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03720" y="3931920"/>
            <a:ext cx="1554480" cy="7772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03720" y="3931920"/>
            <a:ext cx="1554480" cy="41148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0233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6872" y="4434840"/>
            <a:ext cx="14081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9EE"/>
                </a:solidFill>
              </a:rPr>
              <a:t>Cortex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18488" y="1600200"/>
            <a:ext cx="2011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9B5E8"/>
                </a:solidFill>
              </a:rPr>
              <a:t>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8760" y="1801368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8AB8"/>
                </a:solidFill>
              </a:rPr>
              <a:t>GET pixel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1600200"/>
            <a:ext cx="2011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9B5E8"/>
                </a:solidFill>
              </a:rPr>
              <a:t>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63824" y="1801368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8AB8"/>
                </a:solidFill>
              </a:rPr>
              <a:t>header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0328" y="1600200"/>
            <a:ext cx="2011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9B5E8"/>
                </a:solidFill>
              </a:rPr>
              <a:t>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1801368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8AB8"/>
                </a:solidFill>
              </a:rPr>
              <a:t>OTLP gRPC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4528" y="2267712"/>
            <a:ext cx="2011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9B5E8"/>
                </a:solidFill>
              </a:rPr>
              <a:t>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2468880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8AB8"/>
                </a:solidFill>
              </a:rPr>
              <a:t>proxy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2267712"/>
            <a:ext cx="2011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9B5E8"/>
                </a:solidFill>
              </a:rPr>
              <a:t>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2468880"/>
            <a:ext cx="4206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8AB8"/>
                </a:solidFill>
              </a:rPr>
              <a:t>1-min lag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4688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▼  SQL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4645152"/>
            <a:ext cx="1463040" cy="2560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0" y="46634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9B5E8"/>
                </a:solidFill>
              </a:rPr>
              <a:t>📊 Streamlit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9440" y="4645152"/>
            <a:ext cx="1463040" cy="2560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0" y="46634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9B5E8"/>
                </a:solidFill>
              </a:rPr>
              <a:t>⚛️ React App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9440" y="4645152"/>
            <a:ext cx="1463040" cy="2560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0" y="46634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9B5E8"/>
                </a:solidFill>
              </a:rPr>
              <a:t>🤖 Cortex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Single Docker container: nginx (8080) → Tomcat (8888) + Python sidecar (9090) · All inside SPCS · event_db.event_sh.my_events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CONTAINER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What's Inside the Docker Image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57200"/>
            <a:ext cx="8229600" cy="804672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109728" cy="804672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303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DD68C"/>
                </a:solidFill>
              </a:rPr>
              <a:t>🌐  nginx  :8080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14400"/>
            <a:ext cx="7863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9EE"/>
                </a:solidFill>
              </a:rPr>
              <a:t>Public SPCS ingress · exact location = /telemetry match · Forwards Sf-Context-Current-User header to sidecar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8229600" cy="804672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09728" cy="80467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9047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4040"/>
                </a:solidFill>
              </a:rPr>
              <a:t>🐱  Tomcat 9  :8888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74520"/>
            <a:ext cx="7863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9EE"/>
                </a:solidFill>
              </a:rPr>
              <a:t>HTML5 Super Mario game · telemetry.js injected at build time · jQuery bundled locally (CDN blocked by SPCS egress)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77440"/>
            <a:ext cx="8229600" cy="804672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77440"/>
            <a:ext cx="109728" cy="8046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5059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🐍  Python Sidecar  :9090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34640"/>
            <a:ext cx="7863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9EE"/>
                </a:solidFill>
              </a:rPr>
              <a:t>OTel TracerProvider + MeterProvider · GET tracking pixel /telemetry?d=... · /whoami endpoint · BatchSpanProcessor 5s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37560"/>
            <a:ext cx="8229600" cy="804672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09728" cy="80467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1071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9B5E8"/>
                </a:solidFill>
              </a:rPr>
              <a:t>📡  OpenTelemetry OTLP gRPC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94760"/>
            <a:ext cx="7863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9EE"/>
                </a:solidFill>
              </a:rPr>
              <a:t>Spans → record_attributes · Metrics → 90+ platform types · Logs → service messages · all → event_db.event_sh.my_events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Resources: 500m–1 vCPU  ·  512Mi–2Gi RAM  ·  CPU_X64_XS  ·  1 node  ·  AUTO_RESUME = 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PLAYER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From Login to Leaderboard: How We Track Players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" y="1024128"/>
            <a:ext cx="1097280" cy="41148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152144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9B5E8"/>
                </a:solidFill>
              </a:rPr>
              <a:t>SPCS Ingress Auth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Browser auth cookie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99616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616" y="1024128"/>
            <a:ext cx="1097280" cy="41148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47088" y="1152144"/>
            <a:ext cx="411480" cy="411480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DD68C"/>
                </a:solidFill>
              </a:rPr>
              <a:t>Header 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Sf-Context-Current-User: THOMAS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06624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1024128"/>
            <a:ext cx="1097280" cy="4114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54096" y="1152144"/>
            <a:ext cx="411480" cy="41148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D700"/>
                </a:solidFill>
              </a:rPr>
              <a:t>nginx 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proxy_set_header Sf-Context-Current-User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3632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3632" y="1024128"/>
            <a:ext cx="1097280" cy="41148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61104" y="1152144"/>
            <a:ext cx="411480" cy="411480"/>
          </a:xfrm>
          <a:prstGeom prst="ellipse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8496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84040"/>
                </a:solidFill>
              </a:rPr>
              <a:t>Sidecar /whoami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68496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_get_player_name() extracts header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1024128"/>
            <a:ext cx="1097280" cy="4114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68112" y="1152144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78BFA"/>
                </a:solidFill>
              </a:rPr>
              <a:t>Browser Fetch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telemetry.js calls /whoami at init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1024128"/>
            <a:ext cx="1097280" cy="41148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0" y="1152144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9B5E8"/>
                </a:solidFill>
              </a:rPr>
              <a:t>Event Payload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player_name in every send() call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34656" y="1024128"/>
            <a:ext cx="1097280" cy="118872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34656" y="1024128"/>
            <a:ext cx="1097280" cy="41148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82128" y="1152144"/>
            <a:ext cx="411480" cy="411480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0D1A"/>
                </a:solidFill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16459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DD68C"/>
                </a:solidFill>
              </a:rPr>
              <a:t>OTel Span Attr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record_attributes:player_name::STRING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2514600"/>
            <a:ext cx="8229600" cy="132588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26243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D9EE"/>
                </a:solidFill>
              </a:rPr>
              <a:t>Player Name Priority Chain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30175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D68C"/>
                </a:solidFill>
              </a:rPr>
              <a:t>1  Header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301752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Sf-Context-Current-User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3017520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Most reliable — injected by SPCS ingress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27355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</a:rPr>
              <a:t>2  Browser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27355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data.player_name from /whoami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327355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Fallback — fetched at game init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5295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040"/>
                </a:solidFill>
              </a:rPr>
              <a:t>3  Default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352958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"unknown"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3529584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Last resort if both sources fail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Key fix: telemetry.js was calling /whoami for the banner but NOT including player_name in event payloads — fixed by adding it to every send()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DIS_MARIO REAL-TIME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Interactive Tables: Near-Realtime at Query Speed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87552"/>
            <a:ext cx="5029200" cy="566928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91440" cy="5669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4241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GAME_EVENTS_LIVE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All game spans + player_name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115568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1115568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9B5E8"/>
                </a:solidFill>
              </a:rPr>
              <a:t>⚡ EVENT_TIME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52144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DD68C"/>
                </a:solidFill>
              </a:rPr>
              <a:t>1 min 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36776"/>
            <a:ext cx="5029200" cy="566928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636776"/>
            <a:ext cx="91440" cy="5669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916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EVENT_TIMELINE_LIVE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94767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Event counts per minute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1764792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176479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9B5E8"/>
                </a:solidFill>
              </a:rPr>
              <a:t>⚡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80136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DD68C"/>
                </a:solidFill>
              </a:rPr>
              <a:t>1 min lag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286000"/>
            <a:ext cx="5029200" cy="566928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286000"/>
            <a:ext cx="91440" cy="5669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4086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KEY_PRESSES_LIVE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596896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Key press aggregates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2414016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5808" y="2414016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9B5E8"/>
                </a:solidFill>
              </a:rPr>
              <a:t>⚡ KEY_NAME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450592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DD68C"/>
                </a:solidFill>
              </a:rPr>
              <a:t>1 min lag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35224"/>
            <a:ext cx="5029200" cy="566928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35224"/>
            <a:ext cx="91440" cy="5669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900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DEATHS_BY_LEVEL_LIVE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24612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Deaths by level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17520" y="3063240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35808" y="3063240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9B5E8"/>
                </a:solidFill>
              </a:rPr>
              <a:t>⚡ LEVEL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099816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DD68C"/>
                </a:solidFill>
              </a:rPr>
              <a:t>1 min lag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3584448"/>
            <a:ext cx="5029200" cy="566928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3584448"/>
            <a:ext cx="91440" cy="5669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639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POWERUPS_LIVE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Powerup spawn counts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17520" y="3712464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35808" y="3712464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9B5E8"/>
                </a:solidFill>
              </a:rPr>
              <a:t>⚡ POWERUP_TYPE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3749040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DD68C"/>
                </a:solidFill>
              </a:rPr>
              <a:t>1 min lag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233672"/>
            <a:ext cx="5029200" cy="566928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233672"/>
            <a:ext cx="91440" cy="5669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885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PLAYER_SESSIONS_LIVE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54456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8AB8"/>
                </a:solidFill>
              </a:rPr>
              <a:t>Per-player session summaries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017520" y="4361688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35808" y="4361688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9B5E8"/>
                </a:solidFill>
              </a:rPr>
              <a:t>⚡ SESSION_START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4398264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DD68C"/>
                </a:solidFill>
              </a:rPr>
              <a:t>1 min lag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0" y="987552"/>
            <a:ext cx="3200400" cy="123444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0" y="987552"/>
            <a:ext cx="32004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33872" y="1097280"/>
            <a:ext cx="2871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B5E8"/>
                </a:solidFill>
              </a:rPr>
              <a:t>⚡  Interactive Warehouse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33872" y="1490472"/>
            <a:ext cx="28712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DIS_MARIO_IWH</a:t>
            </a:r>
          </a:p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XSMALL · 24h auto-suspend</a:t>
            </a:r>
          </a:p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Sub-second query latency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0" y="2340864"/>
            <a:ext cx="3200400" cy="123444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0" y="2340864"/>
            <a:ext cx="32004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450592"/>
            <a:ext cx="2871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B5E8"/>
                </a:solidFill>
              </a:rPr>
              <a:t>🔄  Refresh Warehouse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33872" y="2843784"/>
            <a:ext cx="28712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DIS_MARIO_WH</a:t>
            </a:r>
          </a:p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XSMALL · 60s auto-suspend</a:t>
            </a:r>
          </a:p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For background refreshes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0" y="3694176"/>
            <a:ext cx="3200400" cy="123444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0" y="3694176"/>
            <a:ext cx="32004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33872" y="3803904"/>
            <a:ext cx="2871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B5E8"/>
                </a:solidFill>
              </a:rPr>
              <a:t>🤖  Cortex Intelligence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33872" y="4197096"/>
            <a:ext cx="28712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Semantic View MARIO_TELEMETRY</a:t>
            </a:r>
          </a:p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10 VQRs via FastGen</a:t>
            </a:r>
          </a:p>
          <a:p>
            <a:pPr>
              <a:spcAft>
                <a:spcPts val="300"/>
              </a:spcAft>
              <a:defRPr sz="1100">
                <a:solidFill>
                  <a:srgbClr val="CCD9EE"/>
                </a:solidFill>
              </a:defRPr>
            </a:pPr>
            <a:r>
              <a:t>Cortex Agent: MARIO_INTELLIGENCE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CREATE INTERACTIVE TABLE syntax (not DYNAMIC) · ALTER INTERACTIVE TABLE … SET WAREHOUSE = DIS_MARIO_IWH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DASHBOARDS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Four Ways to Consume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4069080" cy="12344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406908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0972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972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4040"/>
                </a:solidFill>
              </a:rPr>
              <a:t>Streamlit — Legacy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389888"/>
            <a:ext cx="3337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8AB8"/>
                </a:solidFill>
              </a:rPr>
              <a:t>MARIO_DB.PUBLIC.MARIO_TELEMETRY_DASHBOARD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164592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CD9EE"/>
                </a:solidFill>
              </a:defRPr>
            </a:pPr>
            <a:r>
              <a:t>Event table views · Leaderboard filtered to last 24h · 5 tabs: Leaderboard, Events, Deaths, Controls, Platform 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395728"/>
            <a:ext cx="4069080" cy="12344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4069080" cy="45720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487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DD68C"/>
                </a:solidFill>
              </a:rPr>
              <a:t>Streamlit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79776"/>
            <a:ext cx="3337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8AB8"/>
                </a:solidFill>
              </a:rPr>
              <a:t>DIS_MARIO.PUBLIC.DIS_MARIO_TELEMETRY_DASHBOARD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303580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CD9EE"/>
                </a:solidFill>
              </a:defRPr>
            </a:pPr>
            <a:r>
              <a:t>Interactive Tables · 10s cache TTL · Player dropdown filter · 6 KPI cards · Real-time event streaming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1005840"/>
            <a:ext cx="4069080" cy="12344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09160" y="1005840"/>
            <a:ext cx="406908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7176" y="10972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⚛️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0972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B5E8"/>
                </a:solidFill>
              </a:rPr>
              <a:t>React 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389888"/>
            <a:ext cx="3337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8AB8"/>
                </a:solidFill>
              </a:rPr>
              <a:t>Next.js 16.2.3 · Port 3456 locally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7176" y="164592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CD9EE"/>
                </a:solidFill>
              </a:defRPr>
            </a:pPr>
            <a:r>
              <a:t>JWT auth locally · OAuth token in SPCS · 5s polling · Animated Data Pipeline tab · Recharts visualizations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2395728"/>
            <a:ext cx="4069080" cy="12344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09160" y="2395728"/>
            <a:ext cx="4069080" cy="457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7176" y="2487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48716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Cortex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779776"/>
            <a:ext cx="3337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8AB8"/>
                </a:solidFill>
              </a:rPr>
              <a:t>DIS_MARIO.PUBLIC.MARIO_INTELLIGENCE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37176" y="303580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CD9EE"/>
                </a:solidFill>
              </a:defRPr>
            </a:pPr>
            <a:r>
              <a:t>Natural language → SQL via Semantic View MARIO_TELEMETRY · 10 VQRs · model: auto · 900s / 400k token budget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Branding: Snowflake logotype SVG · 'Powered by Cortex Code' badge · Animated polar bear 🐻‍❄️ on all dashboards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SNOWFLAKE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Snowflake Platform Features in This 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91440" cy="5120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149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040"/>
                </a:solidFill>
              </a:rPr>
              <a:t>Snowpark Container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Docker container with public ingress, auto-resume, platform monitoring, ingress header injection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45336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45336"/>
            <a:ext cx="91440" cy="5120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B5E8"/>
                </a:solidFill>
              </a:rPr>
              <a:t>SPCS Event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Unified OTel store for spans, metrics, and logs — OTLP gRPC exporter from Python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130552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30552"/>
            <a:ext cx="91440" cy="512064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854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D68C"/>
                </a:solidFill>
              </a:rPr>
              <a:t>Interactive 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404872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Sub-second latency, 1-min target lag, cluster keys, Interactive Warehouse — real-time dashboards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715768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15768"/>
            <a:ext cx="91440" cy="5120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7706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Cortex AI — Analyst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990088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Semantic View with 6 tables, FastGen-generated VQRs, natural language to SQL 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300984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300984"/>
            <a:ext cx="91440" cy="5120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558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B5E8"/>
                </a:solidFill>
              </a:rPr>
              <a:t>Cortex AI —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575304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Custom orchestration tool, response instructions, MARIO_INTELLIGENCE agent over MARIO_TELEMETRY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886200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886200"/>
            <a:ext cx="91440" cy="5120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410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Streamlit in Snowsight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60520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Container runtime, SYSTEM_COMPUTE_POOL_CPU, pip packages, snow CLI deployment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471416"/>
            <a:ext cx="8412480" cy="512064"/>
          </a:xfrm>
          <a:prstGeom prst="roundRect">
            <a:avLst>
              <a:gd name="adj" fmla="val 3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471416"/>
            <a:ext cx="91440" cy="512064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5262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D68C"/>
                </a:solidFill>
              </a:rPr>
              <a:t>Semi-structured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8046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8AB8"/>
                </a:solidFill>
              </a:rPr>
              <a:t>record:name::STRING, record_attributes:player_name::STRING — variant extraction at query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Zero external infrastructure · No extra accounts · All data stays in Snowflake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84040"/>
                </a:solidFill>
              </a:rPr>
              <a:t>🎮  LIVE 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463040"/>
            <a:ext cx="54864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1691640"/>
            <a:ext cx="6400800" cy="5486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7190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4040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783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Open game URL · Press S to start · Play Mario 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50008"/>
            <a:ext cx="6400800" cy="5486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37743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4040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414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Watch events flow → telemetry.js → sidecar → event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008376"/>
            <a:ext cx="6400800" cy="5486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0358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404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099815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Refresh Streamlit dashboard · see your name in the leaderboard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3666744"/>
            <a:ext cx="6400800" cy="54864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36941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404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75818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Ask Cortex Agent: 'Who died the most on level 1-1?'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9B5E8"/>
                </a:solidFill>
              </a:rPr>
              <a:t>ei53mb-sfseeurope-eu-demo200.snowflakecomputing.app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B5E8"/>
                </a:solidFill>
              </a:rPr>
              <a:t>KEY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Surprised Us Building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2743200" cy="148132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E8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097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040"/>
                </a:solidFill>
              </a:rPr>
              <a:t>Always --no-cache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1517904"/>
            <a:ext cx="25146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D9EE"/>
                </a:solidFill>
              </a:defRPr>
            </a:pPr>
            <a:r>
              <a:t>Docker silently reuses stale cached layers even when files change. suspend/resume does NOT re-pull the image — use ALTER SERVICE FROM SPECIFICATION.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27832" y="1005840"/>
            <a:ext cx="2743200" cy="148132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005840"/>
            <a:ext cx="2743200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1097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nginx exact match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517904"/>
            <a:ext cx="25146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D9EE"/>
                </a:solidFill>
              </a:defRPr>
            </a:pPr>
            <a:r>
              <a:t>location /telemetry is a prefix match — it catches /telemetry.js, routing your JS file to the Python sidecar. Always use location = /telemetry.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005840"/>
            <a:ext cx="2743200" cy="148132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35624" y="1005840"/>
            <a:ext cx="27432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1097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B5E8"/>
                </a:solidFill>
              </a:rPr>
              <a:t>Browser must send player_name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17904"/>
            <a:ext cx="25146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D9EE"/>
                </a:solidFill>
              </a:defRPr>
            </a:pPr>
            <a:r>
              <a:t>The sidecar reads Sf-Context-Current-User but the browser JS was calling /whoami only for the banner — not including player_name in event payloads.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2606040"/>
            <a:ext cx="2743200" cy="148132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606040"/>
            <a:ext cx="2743200" cy="45720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26974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26974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D68C"/>
                </a:solidFill>
              </a:rPr>
              <a:t>Bundle all dependencies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3118104"/>
            <a:ext cx="25146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D9EE"/>
                </a:solidFill>
              </a:defRPr>
            </a:pPr>
            <a:r>
              <a:t>SPCS blocks external egress. CDN URLs fail silently at runtime. Bundle jQuery and all JS libs inside the Docker image during build.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27832" y="2606040"/>
            <a:ext cx="2743200" cy="148132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27832" y="2606040"/>
            <a:ext cx="2743200" cy="457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26974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9896" y="26974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JWT for headless auth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3118104"/>
            <a:ext cx="25146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D9EE"/>
                </a:solidFill>
              </a:defRPr>
            </a:pPr>
            <a:r>
              <a:t>EXTERNALBROWSER auth doesn't work in headless Node.js (React API routes). Use SNOWFLAKE_JWT keypair. snow spcs image-registry login handles MFA.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960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8AB8"/>
                </a:solidFill>
              </a:rPr>
              <a:t>Full learnings documented in README.md and docs/index.html · github.com/sfc-gh-tdahlberg/mario-spcs-telemetry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Thanks for playing 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1556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8AB8"/>
                </a:solidFill>
              </a:rPr>
              <a:t>Questions? Let's talk about SPCS, Interactive Tables, Cortex AI, or anything else.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27632"/>
            <a:ext cx="548640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874519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B5E8"/>
                </a:solidFill>
              </a:rPr>
              <a:t>Game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ei53mb-sfseeurope-eu-demo200.snowflakecomputing.app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96312" y="1874519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96312" y="19659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3957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DD68C"/>
                </a:solidFill>
              </a:rP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github.com/sfc-gh-tdahlberg/mario-spcs-telemetry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81144" y="1874519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19659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3957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</a:rPr>
              <a:t>HTML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docs/index.html — full architecture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5976" y="1874519"/>
            <a:ext cx="1920240" cy="10972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19659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7416" y="23957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8BFA"/>
                </a:solidFill>
              </a:rPr>
              <a:t>Cortex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8AB8"/>
                </a:solidFill>
              </a:rPr>
              <a:t>DIS_MARIO.PUBLIC.MARIO_INTELLIGENCE in Snowsight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8AB8"/>
                </a:solidFill>
              </a:rPr>
              <a:t>Built entirely with ✨ Cortex Code · Snowflake Solutions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nowflake 2022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3DA8E5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nowflake 2022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3DA8E5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nowflake 2022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3DA8E5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