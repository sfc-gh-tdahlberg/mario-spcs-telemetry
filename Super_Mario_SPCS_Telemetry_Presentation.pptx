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83" r:id="rId5"/>
    <p:sldMasterId id="2147483718" r:id="rId6"/>
  </p:sldMasterIdLst>
  <p:notesMasterIdLst>
    <p:notesMasterId r:id="rId7"/>
  </p:notesMasterIdLst>
  <p:sldIdLst>
    <p:sldId id="256" r:id="rId11"/>
    <p:sldId id="257" r:id="rId10"/>
    <p:sldId id="258" r:id="rId9"/>
    <p:sldId id="259" r:id="rId8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zFayS0AuoOWGqN113lPSblTZc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Montserrat-regular.fntdata"/><Relationship Id="rId13" Type="http://schemas.openxmlformats.org/officeDocument/2006/relationships/font" Target="fonts/Montserrat-bold.fntdata"/><Relationship Id="rId14" Type="http://schemas.openxmlformats.org/officeDocument/2006/relationships/font" Target="fonts/Montserrat-italic.fntdata"/><Relationship Id="rId15" Type="http://schemas.openxmlformats.org/officeDocument/2006/relationships/font" Target="fonts/Montserrat-boldItalic.fntdata"/><Relationship Id="rId16" Type="http://schemas.openxmlformats.org/officeDocument/2006/relationships/font" Target="fonts/Lato-regular.fntdata"/><Relationship Id="rId17" Type="http://schemas.openxmlformats.org/officeDocument/2006/relationships/font" Target="fonts/Lato-bold.fntdata"/><Relationship Id="rId18" Type="http://schemas.openxmlformats.org/officeDocument/2006/relationships/font" Target="fonts/Lato-italic.fntdata"/><Relationship Id="rId19" Type="http://schemas.openxmlformats.org/officeDocument/2006/relationships/font" Target="fonts/Lato-boldItalic.fntdata"/><Relationship Id="rId20" Type="http://customschemas.google.com/relationships/presentationmetadata" Target="metadata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4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jp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9.png"/><Relationship Id="rId3" Type="http://schemas.openxmlformats.org/officeDocument/2006/relationships/image" Target="../media/image4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1.png"/><Relationship Id="rId3" Type="http://schemas.openxmlformats.org/officeDocument/2006/relationships/image" Target="../media/image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16" name="Google Shape;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8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3" name="Google Shape;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7" name="Google Shape;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35" name="Google Shape;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32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idx="1" type="body"/>
          </p:nvPr>
        </p:nvSpPr>
        <p:spPr>
          <a:xfrm>
            <a:off x="345196" y="228600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2" type="body"/>
          </p:nvPr>
        </p:nvSpPr>
        <p:spPr>
          <a:xfrm>
            <a:off x="345196" y="731520"/>
            <a:ext cx="8453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3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3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3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3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Sky Background 1">
  <p:cSld name="Summit22 - Divider1_1_3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376225" y="1282900"/>
            <a:ext cx="22674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5pPr>
            <a:lvl6pPr indent="-3048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61" name="Google Shape;61;p37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7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7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7"/>
          <p:cNvSpPr txBox="1"/>
          <p:nvPr>
            <p:ph idx="2" type="body"/>
          </p:nvPr>
        </p:nvSpPr>
        <p:spPr>
          <a:xfrm>
            <a:off x="345195" y="228600"/>
            <a:ext cx="84537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8"/>
          <p:cNvPicPr preferRelativeResize="0"/>
          <p:nvPr/>
        </p:nvPicPr>
        <p:blipFill rotWithShape="1">
          <a:blip r:embed="rId2">
            <a:alphaModFix amt="35000"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8"/>
          <p:cNvSpPr txBox="1"/>
          <p:nvPr>
            <p:ph idx="1" type="body"/>
          </p:nvPr>
        </p:nvSpPr>
        <p:spPr>
          <a:xfrm>
            <a:off x="345196" y="231569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8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8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8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3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74" name="Google Shape;7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0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78" name="Google Shape;7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4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82" name="Google Shape;8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4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86" name="Google Shape;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4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4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4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94" name="Google Shape;9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5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4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6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46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4" name="Google Shape;104;p4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105" name="Google Shape;105;p46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6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46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7"/>
          <p:cNvSpPr txBox="1"/>
          <p:nvPr>
            <p:ph idx="12" type="sldNum"/>
          </p:nvPr>
        </p:nvSpPr>
        <p:spPr>
          <a:xfrm>
            <a:off x="8569842" y="4866972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4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8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4" name="Google Shape;114;p48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sp>
          <p:nvSpPr>
            <p:cNvPr id="115" name="Google Shape;115;p48"/>
            <p:cNvSpPr/>
            <p:nvPr/>
          </p:nvSpPr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8"/>
            <p:cNvSpPr/>
            <p:nvPr/>
          </p:nvSpPr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4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8"/>
          <p:cNvSpPr txBox="1"/>
          <p:nvPr>
            <p:ph type="title"/>
          </p:nvPr>
        </p:nvSpPr>
        <p:spPr>
          <a:xfrm>
            <a:off x="366600" y="1188720"/>
            <a:ext cx="5394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9" name="Google Shape;119;p48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0" name="Google Shape;120;p48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1" name="Google Shape;121;p48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4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9"/>
          <p:cNvSpPr txBox="1"/>
          <p:nvPr>
            <p:ph type="title"/>
          </p:nvPr>
        </p:nvSpPr>
        <p:spPr>
          <a:xfrm>
            <a:off x="366600" y="1188720"/>
            <a:ext cx="5394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6" name="Google Shape;126;p49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7" name="Google Shape;127;p49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8" name="Google Shape;128;p49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9"/>
          <p:cNvSpPr/>
          <p:nvPr/>
        </p:nvSpPr>
        <p:spPr>
          <a:xfrm>
            <a:off x="5917776" y="1776875"/>
            <a:ext cx="4395610" cy="4179094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>
              <a:alpha val="1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0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0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5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0"/>
          <p:cNvSpPr/>
          <p:nvPr/>
        </p:nvSpPr>
        <p:spPr>
          <a:xfrm>
            <a:off x="5917776" y="1776875"/>
            <a:ext cx="4395610" cy="4179094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>
              <a:alpha val="1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Splash 1">
  <p:cSld name="Summit22 - Splash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New Cover">
  <p:cSld name="Summit22 - Title 1_4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750"/>
            <a:ext cx="9144003" cy="51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2"/>
          <p:cNvSpPr txBox="1"/>
          <p:nvPr>
            <p:ph idx="1" type="body"/>
          </p:nvPr>
        </p:nvSpPr>
        <p:spPr>
          <a:xfrm>
            <a:off x="648546" y="2824478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52"/>
          <p:cNvSpPr txBox="1"/>
          <p:nvPr>
            <p:ph idx="2" type="body"/>
          </p:nvPr>
        </p:nvSpPr>
        <p:spPr>
          <a:xfrm>
            <a:off x="645160" y="3655727"/>
            <a:ext cx="787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52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2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2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Bio 2">
  <p:cSld name="Summit22 - Divider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3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3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3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3"/>
          <p:cNvSpPr/>
          <p:nvPr>
            <p:ph idx="2" type="pic"/>
          </p:nvPr>
        </p:nvSpPr>
        <p:spPr>
          <a:xfrm>
            <a:off x="480450" y="523875"/>
            <a:ext cx="3262200" cy="40293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3"/>
          <p:cNvSpPr txBox="1"/>
          <p:nvPr>
            <p:ph idx="1" type="body"/>
          </p:nvPr>
        </p:nvSpPr>
        <p:spPr>
          <a:xfrm>
            <a:off x="4027950" y="1021491"/>
            <a:ext cx="3955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b="1" sz="2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53"/>
          <p:cNvSpPr txBox="1"/>
          <p:nvPr>
            <p:ph idx="3" type="body"/>
          </p:nvPr>
        </p:nvSpPr>
        <p:spPr>
          <a:xfrm>
            <a:off x="4027950" y="1830025"/>
            <a:ext cx="4146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53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Divider Slide 2">
  <p:cSld name="Summit22 - Title 1_2_1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4"/>
          <p:cNvSpPr txBox="1"/>
          <p:nvPr>
            <p:ph idx="1" type="body"/>
          </p:nvPr>
        </p:nvSpPr>
        <p:spPr>
          <a:xfrm>
            <a:off x="648546" y="2824478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54"/>
          <p:cNvSpPr txBox="1"/>
          <p:nvPr>
            <p:ph idx="2" type="body"/>
          </p:nvPr>
        </p:nvSpPr>
        <p:spPr>
          <a:xfrm>
            <a:off x="645160" y="3655727"/>
            <a:ext cx="787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54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4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5"/>
          <p:cNvSpPr txBox="1"/>
          <p:nvPr>
            <p:ph idx="1" type="body"/>
          </p:nvPr>
        </p:nvSpPr>
        <p:spPr>
          <a:xfrm>
            <a:off x="4819651" y="904875"/>
            <a:ext cx="39789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55"/>
          <p:cNvSpPr/>
          <p:nvPr/>
        </p:nvSpPr>
        <p:spPr>
          <a:xfrm>
            <a:off x="-17275" y="-9600"/>
            <a:ext cx="4589400" cy="516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5"/>
          <p:cNvSpPr txBox="1"/>
          <p:nvPr>
            <p:ph idx="2" type="body"/>
          </p:nvPr>
        </p:nvSpPr>
        <p:spPr>
          <a:xfrm>
            <a:off x="345195" y="226036"/>
            <a:ext cx="39552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55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5"/>
          <p:cNvSpPr txBox="1"/>
          <p:nvPr>
            <p:ph idx="3" type="body"/>
          </p:nvPr>
        </p:nvSpPr>
        <p:spPr>
          <a:xfrm>
            <a:off x="345447" y="731520"/>
            <a:ext cx="3955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55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5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Bkg :ight">
  <p:cSld name="Summit22 - Thank You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6"/>
          <p:cNvSpPr/>
          <p:nvPr/>
        </p:nvSpPr>
        <p:spPr>
          <a:xfrm>
            <a:off x="-35575" y="-9750"/>
            <a:ext cx="9212100" cy="5163000"/>
          </a:xfrm>
          <a:prstGeom prst="rect">
            <a:avLst/>
          </a:prstGeom>
          <a:gradFill>
            <a:gsLst>
              <a:gs pos="0">
                <a:srgbClr val="98DEFF"/>
              </a:gs>
              <a:gs pos="100000">
                <a:srgbClr val="B2E7FF">
                  <a:alpha val="47843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6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6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6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6"/>
          <p:cNvSpPr txBox="1"/>
          <p:nvPr>
            <p:ph idx="1" type="body"/>
          </p:nvPr>
        </p:nvSpPr>
        <p:spPr>
          <a:xfrm>
            <a:off x="345195" y="228600"/>
            <a:ext cx="84537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Vegas with Characters Content Slide">
  <p:cSld name="Summit22 - Title 1_5"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8867" y="-19512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7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7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7"/>
          <p:cNvSpPr txBox="1"/>
          <p:nvPr>
            <p:ph idx="1" type="body"/>
          </p:nvPr>
        </p:nvSpPr>
        <p:spPr>
          <a:xfrm>
            <a:off x="345196" y="231569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57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Thank You">
  <p:cSld name="Summit22 - Thank You_2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" y="-13"/>
            <a:ext cx="9143997" cy="514354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8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8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8"/>
          <p:cNvSpPr txBox="1"/>
          <p:nvPr>
            <p:ph idx="1" type="body"/>
          </p:nvPr>
        </p:nvSpPr>
        <p:spPr>
          <a:xfrm>
            <a:off x="2272412" y="2285447"/>
            <a:ext cx="4599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58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8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2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198" name="Google Shape;19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1">
  <p:cSld name="Multi-use layout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887431da9_6_32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6887431da9_6_32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6887431da9_6_321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6887431da9_6_321"/>
          <p:cNvSpPr txBox="1"/>
          <p:nvPr>
            <p:ph type="title"/>
          </p:nvPr>
        </p:nvSpPr>
        <p:spPr>
          <a:xfrm>
            <a:off x="365760" y="27432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g36887431da9_6_321"/>
          <p:cNvSpPr txBox="1"/>
          <p:nvPr>
            <p:ph idx="1" type="subTitle"/>
          </p:nvPr>
        </p:nvSpPr>
        <p:spPr>
          <a:xfrm>
            <a:off x="365760" y="655868"/>
            <a:ext cx="8344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05" name="Google Shape;205;g36887431da9_6_321"/>
          <p:cNvSpPr/>
          <p:nvPr/>
        </p:nvSpPr>
        <p:spPr>
          <a:xfrm>
            <a:off x="0" y="343806"/>
            <a:ext cx="137100" cy="3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2">
  <p:cSld name="Multi-use layout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887431da9_6_72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6887431da9_6_72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887431da9_6_729"/>
          <p:cNvSpPr txBox="1"/>
          <p:nvPr/>
        </p:nvSpPr>
        <p:spPr>
          <a:xfrm>
            <a:off x="8326876" y="4825493"/>
            <a:ext cx="5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6887431da9_6_729"/>
          <p:cNvSpPr txBox="1"/>
          <p:nvPr>
            <p:ph type="title"/>
          </p:nvPr>
        </p:nvSpPr>
        <p:spPr>
          <a:xfrm>
            <a:off x="365760" y="274320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i="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6887431da9_6_729"/>
          <p:cNvSpPr txBox="1"/>
          <p:nvPr>
            <p:ph idx="1" type="subTitle"/>
          </p:nvPr>
        </p:nvSpPr>
        <p:spPr>
          <a:xfrm>
            <a:off x="365760" y="655868"/>
            <a:ext cx="83448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12" name="Google Shape;212;g36887431da9_6_729"/>
          <p:cNvSpPr/>
          <p:nvPr/>
        </p:nvSpPr>
        <p:spPr>
          <a:xfrm>
            <a:off x="0" y="343806"/>
            <a:ext cx="137100" cy="3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6"/>
          <p:cNvPicPr preferRelativeResize="0"/>
          <p:nvPr/>
        </p:nvPicPr>
        <p:blipFill rotWithShape="1">
          <a:blip r:embed="rId2">
            <a:alphaModFix amt="35000"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345196" y="231569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26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9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5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25" name="Google Shape;22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6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29" name="Google Shape;22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6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33" name="Google Shape;23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3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6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37" name="Google Shape;23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6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5"/>
          <p:cNvSpPr txBox="1"/>
          <p:nvPr>
            <p:ph idx="1" type="body"/>
          </p:nvPr>
        </p:nvSpPr>
        <p:spPr>
          <a:xfrm>
            <a:off x="345196" y="228600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p65"/>
          <p:cNvSpPr txBox="1"/>
          <p:nvPr>
            <p:ph idx="2" type="body"/>
          </p:nvPr>
        </p:nvSpPr>
        <p:spPr>
          <a:xfrm>
            <a:off x="345196" y="731520"/>
            <a:ext cx="8453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65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5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65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6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6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6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6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Sky Background 1">
  <p:cSld name="Summit22 - Divider1_1_3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9"/>
          <p:cNvSpPr txBox="1"/>
          <p:nvPr>
            <p:ph idx="1" type="body"/>
          </p:nvPr>
        </p:nvSpPr>
        <p:spPr>
          <a:xfrm>
            <a:off x="376225" y="1282900"/>
            <a:ext cx="22674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5pPr>
            <a:lvl6pPr indent="-3048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263" name="Google Shape;263;p69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9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9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9"/>
          <p:cNvSpPr txBox="1"/>
          <p:nvPr>
            <p:ph idx="2" type="body"/>
          </p:nvPr>
        </p:nvSpPr>
        <p:spPr>
          <a:xfrm>
            <a:off x="345195" y="228600"/>
            <a:ext cx="84537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7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70" name="Google Shape;27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74" name="Google Shape;27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7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78" name="Google Shape;27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3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7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82" name="Google Shape;28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7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5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p7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290" name="Google Shape;29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6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7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7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7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7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0" name="Google Shape;300;p7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301" name="Google Shape;301;p77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77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77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8"/>
          <p:cNvSpPr txBox="1"/>
          <p:nvPr>
            <p:ph idx="12" type="sldNum"/>
          </p:nvPr>
        </p:nvSpPr>
        <p:spPr>
          <a:xfrm>
            <a:off x="8569842" y="4866972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6" name="Google Shape;306;p7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0" name="Google Shape;310;p79"/>
          <p:cNvGrpSpPr/>
          <p:nvPr/>
        </p:nvGrpSpPr>
        <p:grpSpPr>
          <a:xfrm rot="-5400000">
            <a:off x="5223331" y="1196311"/>
            <a:ext cx="5164333" cy="2747794"/>
            <a:chOff x="1155183" y="3814094"/>
            <a:chExt cx="3118370" cy="1659196"/>
          </a:xfrm>
        </p:grpSpPr>
        <p:sp>
          <p:nvSpPr>
            <p:cNvPr id="311" name="Google Shape;311;p79"/>
            <p:cNvSpPr/>
            <p:nvPr/>
          </p:nvSpPr>
          <p:spPr>
            <a:xfrm>
              <a:off x="1155183" y="3814094"/>
              <a:ext cx="1891200" cy="16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79"/>
            <p:cNvSpPr/>
            <p:nvPr/>
          </p:nvSpPr>
          <p:spPr>
            <a:xfrm>
              <a:off x="3051053" y="3828390"/>
              <a:ext cx="1222500" cy="164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7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9"/>
          <p:cNvSpPr txBox="1"/>
          <p:nvPr>
            <p:ph type="title"/>
          </p:nvPr>
        </p:nvSpPr>
        <p:spPr>
          <a:xfrm>
            <a:off x="366600" y="1188720"/>
            <a:ext cx="5394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15" name="Google Shape;315;p79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16" name="Google Shape;316;p79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17" name="Google Shape;317;p79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80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0"/>
          <p:cNvSpPr txBox="1"/>
          <p:nvPr>
            <p:ph type="title"/>
          </p:nvPr>
        </p:nvSpPr>
        <p:spPr>
          <a:xfrm>
            <a:off x="366600" y="1188720"/>
            <a:ext cx="5394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22" name="Google Shape;322;p80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23" name="Google Shape;323;p80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24" name="Google Shape;324;p80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0"/>
          <p:cNvSpPr/>
          <p:nvPr/>
        </p:nvSpPr>
        <p:spPr>
          <a:xfrm>
            <a:off x="5917776" y="1776875"/>
            <a:ext cx="4395610" cy="4179094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1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1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81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1"/>
          <p:cNvSpPr/>
          <p:nvPr/>
        </p:nvSpPr>
        <p:spPr>
          <a:xfrm>
            <a:off x="5917776" y="1776875"/>
            <a:ext cx="4395610" cy="4179094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Bio 2">
  <p:cSld name="Summit22 - Divider1_1_1_1_1_1_2"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84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4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4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4"/>
          <p:cNvSpPr/>
          <p:nvPr>
            <p:ph idx="2" type="pic"/>
          </p:nvPr>
        </p:nvSpPr>
        <p:spPr>
          <a:xfrm>
            <a:off x="480450" y="523875"/>
            <a:ext cx="3262200" cy="40293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84"/>
          <p:cNvSpPr txBox="1"/>
          <p:nvPr>
            <p:ph idx="1" type="body"/>
          </p:nvPr>
        </p:nvSpPr>
        <p:spPr>
          <a:xfrm>
            <a:off x="4027950" y="1021491"/>
            <a:ext cx="3955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b="1" sz="2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84"/>
          <p:cNvSpPr txBox="1"/>
          <p:nvPr>
            <p:ph idx="3" type="body"/>
          </p:nvPr>
        </p:nvSpPr>
        <p:spPr>
          <a:xfrm>
            <a:off x="4027950" y="1830025"/>
            <a:ext cx="4146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9" name="Google Shape;339;p84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Divider Slide 2">
  <p:cSld name="Summit22 - Title 1_2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85"/>
          <p:cNvSpPr txBox="1"/>
          <p:nvPr>
            <p:ph idx="1" type="body"/>
          </p:nvPr>
        </p:nvSpPr>
        <p:spPr>
          <a:xfrm>
            <a:off x="648546" y="2824478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3" name="Google Shape;343;p85"/>
          <p:cNvSpPr txBox="1"/>
          <p:nvPr>
            <p:ph idx="2" type="body"/>
          </p:nvPr>
        </p:nvSpPr>
        <p:spPr>
          <a:xfrm>
            <a:off x="645160" y="3655727"/>
            <a:ext cx="787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4" name="Google Shape;344;p85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5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5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6"/>
          <p:cNvSpPr txBox="1"/>
          <p:nvPr>
            <p:ph idx="1" type="body"/>
          </p:nvPr>
        </p:nvSpPr>
        <p:spPr>
          <a:xfrm>
            <a:off x="4819651" y="904875"/>
            <a:ext cx="39789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p86"/>
          <p:cNvSpPr/>
          <p:nvPr/>
        </p:nvSpPr>
        <p:spPr>
          <a:xfrm>
            <a:off x="-17275" y="-9600"/>
            <a:ext cx="4589400" cy="516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86"/>
          <p:cNvSpPr txBox="1"/>
          <p:nvPr>
            <p:ph idx="2" type="body"/>
          </p:nvPr>
        </p:nvSpPr>
        <p:spPr>
          <a:xfrm>
            <a:off x="345195" y="226036"/>
            <a:ext cx="39552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2" name="Google Shape;352;p86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6"/>
          <p:cNvSpPr txBox="1"/>
          <p:nvPr>
            <p:ph idx="3" type="body"/>
          </p:nvPr>
        </p:nvSpPr>
        <p:spPr>
          <a:xfrm>
            <a:off x="345447" y="731520"/>
            <a:ext cx="3955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4" name="Google Shape;354;p86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6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Bkg :ight">
  <p:cSld name="Summit22 - Thank You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7"/>
          <p:cNvSpPr/>
          <p:nvPr/>
        </p:nvSpPr>
        <p:spPr>
          <a:xfrm>
            <a:off x="-35575" y="-9750"/>
            <a:ext cx="9212100" cy="5163000"/>
          </a:xfrm>
          <a:prstGeom prst="rect">
            <a:avLst/>
          </a:prstGeom>
          <a:gradFill>
            <a:gsLst>
              <a:gs pos="0">
                <a:srgbClr val="98DEFF"/>
              </a:gs>
              <a:gs pos="100000">
                <a:srgbClr val="B2E7FF">
                  <a:alpha val="48235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7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7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7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7"/>
          <p:cNvSpPr txBox="1"/>
          <p:nvPr>
            <p:ph idx="1" type="body"/>
          </p:nvPr>
        </p:nvSpPr>
        <p:spPr>
          <a:xfrm>
            <a:off x="345195" y="228600"/>
            <a:ext cx="84537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Vegas with Characters Content Slide">
  <p:cSld name="Summit22 - Title 1_5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8867" y="-19512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88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8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8"/>
          <p:cNvSpPr txBox="1"/>
          <p:nvPr>
            <p:ph idx="1" type="body"/>
          </p:nvPr>
        </p:nvSpPr>
        <p:spPr>
          <a:xfrm>
            <a:off x="345196" y="231569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p88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Thank You">
  <p:cSld name="Summit22 - Thank You_2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" y="-13"/>
            <a:ext cx="9143997" cy="514354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89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9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2024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9"/>
          <p:cNvSpPr txBox="1"/>
          <p:nvPr>
            <p:ph idx="1" type="body"/>
          </p:nvPr>
        </p:nvSpPr>
        <p:spPr>
          <a:xfrm>
            <a:off x="2272412" y="2285447"/>
            <a:ext cx="4599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3" name="Google Shape;373;p89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8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27d8e625f7_1_131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g327d8e625f7_1_131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27d8e625f7_1_13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1">
  <p:cSld name="Multi-use layout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45bd621e8_0_489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g3d45bd621e8_0_48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d45bd621e8_0_489"/>
          <p:cNvSpPr txBox="1"/>
          <p:nvPr>
            <p:ph idx="1" type="subTitle"/>
          </p:nvPr>
        </p:nvSpPr>
        <p:spPr>
          <a:xfrm>
            <a:off x="365760" y="655285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386" name="Google Shape;386;g3d45bd621e8_0_489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d45bd621e8_0_48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d45bd621e8_0_48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d45bd621e8_0_489"/>
          <p:cNvSpPr txBox="1"/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Data Cloud_1_1_3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27d8e625f7_1_10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392" name="Google Shape;392;g327d8e625f7_1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27d8e625f7_1_11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5" name="Google Shape;395;g327d8e625f7_1_1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396" name="Google Shape;396;g327d8e625f7_1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27d8e625f7_1_115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" name="Google Shape;399;g327d8e625f7_1_11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400" name="Google Shape;400;g327d8e625f7_1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d8e625f7_1_119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g327d8e625f7_1_11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404" name="Google Shape;404;g327d8e625f7_1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27d8e625f7_1_12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g327d8e625f7_1_12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27d8e625f7_1_12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27d8e625f7_1_127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g327d8e625f7_1_12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412" name="Google Shape;412;g327d8e625f7_1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27d8e625f7_1_135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5" name="Google Shape;415;g327d8e625f7_1_13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27d8e625f7_1_13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27d8e625f7_1_139"/>
          <p:cNvSpPr txBox="1"/>
          <p:nvPr>
            <p:ph idx="1" type="body"/>
          </p:nvPr>
        </p:nvSpPr>
        <p:spPr>
          <a:xfrm>
            <a:off x="345196" y="228600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9" name="Google Shape;419;g327d8e625f7_1_139"/>
          <p:cNvSpPr txBox="1"/>
          <p:nvPr>
            <p:ph idx="2" type="body"/>
          </p:nvPr>
        </p:nvSpPr>
        <p:spPr>
          <a:xfrm>
            <a:off x="345196" y="731520"/>
            <a:ext cx="84537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g327d8e625f7_1_139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27d8e625f7_1_139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" name="Google Shape;422;g327d8e625f7_1_139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27d8e625f7_1_145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g327d8e625f7_1_145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27d8e625f7_1_14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27d8e625f7_1_149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g327d8e625f7_1_149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27d8e625f7_1_14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7d8e625f7_1_15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g327d8e625f7_1_153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27d8e625f7_1_15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Sky Background 1">
  <p:cSld name="Summit22 - Divider1_1_3">
    <p:bg>
      <p:bgPr>
        <a:solidFill>
          <a:schemeClr val="lt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g327d8e625f7_1_1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27d8e625f7_1_157"/>
          <p:cNvSpPr txBox="1"/>
          <p:nvPr>
            <p:ph idx="1" type="body"/>
          </p:nvPr>
        </p:nvSpPr>
        <p:spPr>
          <a:xfrm>
            <a:off x="376225" y="1282900"/>
            <a:ext cx="22674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/>
            </a:lvl5pPr>
            <a:lvl6pPr indent="-3048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438" name="Google Shape;438;g327d8e625f7_1_157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27d8e625f7_1_157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27d8e625f7_1_157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27d8e625f7_1_157"/>
          <p:cNvSpPr txBox="1"/>
          <p:nvPr>
            <p:ph idx="2" type="body"/>
          </p:nvPr>
        </p:nvSpPr>
        <p:spPr>
          <a:xfrm>
            <a:off x="345195" y="228600"/>
            <a:ext cx="84537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g327d8e625f7_1_164"/>
          <p:cNvPicPr preferRelativeResize="0"/>
          <p:nvPr/>
        </p:nvPicPr>
        <p:blipFill rotWithShape="1">
          <a:blip r:embed="rId2">
            <a:alphaModFix amt="35000"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327d8e625f7_1_164"/>
          <p:cNvSpPr txBox="1"/>
          <p:nvPr>
            <p:ph idx="1" type="body"/>
          </p:nvPr>
        </p:nvSpPr>
        <p:spPr>
          <a:xfrm>
            <a:off x="345196" y="231569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5" name="Google Shape;445;g327d8e625f7_1_164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27d8e625f7_1_164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27d8e625f7_1_164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27d8e625f7_1_170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0" name="Google Shape;450;g327d8e625f7_1_17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451" name="Google Shape;451;g327d8e625f7_1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Data Cloud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27d8e625f7_1_17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27d8e625f7_1_17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455" name="Google Shape;455;g327d8e625f7_1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27d8e625f7_1_178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8" name="Google Shape;458;g327d8e625f7_1_17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459" name="Google Shape;459;g327d8e625f7_1_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27d8e625f7_1_182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2" name="Google Shape;462;g327d8e625f7_1_18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463" name="Google Shape;463;g327d8e625f7_1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7d8e625f7_1_186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6" name="Google Shape;466;g327d8e625f7_1_186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27d8e625f7_1_18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27d8e625f7_1_190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0" name="Google Shape;470;g327d8e625f7_1_190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&#10;&#10;Description automatically generated" id="471" name="Google Shape;471;g327d8e625f7_1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" y="4848629"/>
            <a:ext cx="140380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1_Blank (footer only) 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27d8e625f7_1_194"/>
          <p:cNvSpPr txBox="1"/>
          <p:nvPr>
            <p:ph idx="12" type="sldNum"/>
          </p:nvPr>
        </p:nvSpPr>
        <p:spPr>
          <a:xfrm>
            <a:off x="8569842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g327d8e625f7_1_194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27d8e625f7_1_19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Violet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27d8e625f7_1_198"/>
          <p:cNvSpPr txBox="1"/>
          <p:nvPr>
            <p:ph idx="1" type="body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8" name="Google Shape;478;g327d8e625f7_1_19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27d8e625f7_1_198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27d8e625f7_1_198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1" name="Google Shape;481;g327d8e625f7_1_198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482" name="Google Shape;482;g327d8e625f7_1_198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g327d8e625f7_1_198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g327d8e625f7_1_198"/>
          <p:cNvSpPr txBox="1"/>
          <p:nvPr>
            <p:ph idx="2" type="subTitle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1_Cover 02 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27d8e625f7_1_207"/>
          <p:cNvSpPr txBox="1"/>
          <p:nvPr>
            <p:ph idx="12" type="sldNum"/>
          </p:nvPr>
        </p:nvSpPr>
        <p:spPr>
          <a:xfrm>
            <a:off x="8569842" y="4866972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7" name="Google Shape;487;g327d8e625f7_1_207"/>
          <p:cNvSpPr/>
          <p:nvPr/>
        </p:nvSpPr>
        <p:spPr>
          <a:xfrm>
            <a:off x="457195" y="4846320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27d8e625f7_1_20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Data Cloud_1_1_3_1">
    <p:bg>
      <p:bgPr>
        <a:solidFill>
          <a:schemeClr val="accen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27d8e625f7_1_21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91" name="Google Shape;491;g327d8e625f7_1_211"/>
          <p:cNvGrpSpPr/>
          <p:nvPr/>
        </p:nvGrpSpPr>
        <p:grpSpPr>
          <a:xfrm rot="-5400000">
            <a:off x="5223331" y="1196311"/>
            <a:ext cx="5164333" cy="2747794"/>
            <a:chOff x="1155183" y="3814094"/>
            <a:chExt cx="3118370" cy="1659196"/>
          </a:xfrm>
        </p:grpSpPr>
        <p:sp>
          <p:nvSpPr>
            <p:cNvPr id="492" name="Google Shape;492;g327d8e625f7_1_211"/>
            <p:cNvSpPr/>
            <p:nvPr/>
          </p:nvSpPr>
          <p:spPr>
            <a:xfrm>
              <a:off x="1155183" y="3814094"/>
              <a:ext cx="1891200" cy="16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27d8e625f7_1_211"/>
            <p:cNvSpPr/>
            <p:nvPr/>
          </p:nvSpPr>
          <p:spPr>
            <a:xfrm>
              <a:off x="3051053" y="3828390"/>
              <a:ext cx="1222500" cy="164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4" name="Google Shape;494;g327d8e625f7_1_211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27d8e625f7_1_211"/>
          <p:cNvSpPr txBox="1"/>
          <p:nvPr>
            <p:ph type="title"/>
          </p:nvPr>
        </p:nvSpPr>
        <p:spPr>
          <a:xfrm>
            <a:off x="366600" y="1188720"/>
            <a:ext cx="5394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96" name="Google Shape;496;g327d8e625f7_1_211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97" name="Google Shape;497;g327d8e625f7_1_211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98" name="Google Shape;498;g327d8e625f7_1_211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Data Cloud_1_1_2">
    <p:bg>
      <p:bgPr>
        <a:solidFill>
          <a:schemeClr val="accent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27d8e625f7_1_221"/>
          <p:cNvSpPr txBox="1"/>
          <p:nvPr>
            <p:ph idx="12" type="sldNum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1" name="Google Shape;501;g327d8e625f7_1_221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27d8e625f7_1_221"/>
          <p:cNvSpPr txBox="1"/>
          <p:nvPr>
            <p:ph type="title"/>
          </p:nvPr>
        </p:nvSpPr>
        <p:spPr>
          <a:xfrm>
            <a:off x="366600" y="1188720"/>
            <a:ext cx="5394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i="0" sz="4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03" name="Google Shape;503;g327d8e625f7_1_221"/>
          <p:cNvSpPr txBox="1"/>
          <p:nvPr>
            <p:ph idx="2"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04" name="Google Shape;504;g327d8e625f7_1_221"/>
          <p:cNvSpPr txBox="1"/>
          <p:nvPr>
            <p:ph idx="3" type="title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05" name="Google Shape;505;g327d8e625f7_1_221"/>
          <p:cNvSpPr/>
          <p:nvPr/>
        </p:nvSpPr>
        <p:spPr>
          <a:xfrm>
            <a:off x="457200" y="548640"/>
            <a:ext cx="1828808" cy="418012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27d8e625f7_1_221"/>
          <p:cNvSpPr/>
          <p:nvPr/>
        </p:nvSpPr>
        <p:spPr>
          <a:xfrm>
            <a:off x="5917776" y="1776875"/>
            <a:ext cx="4395610" cy="4179094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">
    <p:bg>
      <p:bgPr>
        <a:solidFill>
          <a:schemeClr val="accen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27d8e625f7_1_229"/>
          <p:cNvSpPr/>
          <p:nvPr/>
        </p:nvSpPr>
        <p:spPr>
          <a:xfrm>
            <a:off x="457200" y="4444162"/>
            <a:ext cx="1444930" cy="33045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27d8e625f7_1_229"/>
          <p:cNvSpPr txBox="1"/>
          <p:nvPr>
            <p:ph idx="1" type="body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g327d8e625f7_1_2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2023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27d8e625f7_1_229"/>
          <p:cNvSpPr/>
          <p:nvPr/>
        </p:nvSpPr>
        <p:spPr>
          <a:xfrm>
            <a:off x="5917776" y="1776875"/>
            <a:ext cx="4395610" cy="4179094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Splash 1">
  <p:cSld name="Summit22 - Splash_1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g327d8e625f7_1_2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New Cover">
  <p:cSld name="Summit22 - Title 1_4">
    <p:bg>
      <p:bgPr>
        <a:solidFill>
          <a:schemeClr val="lt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g327d8e625f7_1_2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750"/>
            <a:ext cx="9144003" cy="515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27d8e625f7_1_236"/>
          <p:cNvSpPr txBox="1"/>
          <p:nvPr>
            <p:ph idx="1" type="body"/>
          </p:nvPr>
        </p:nvSpPr>
        <p:spPr>
          <a:xfrm>
            <a:off x="648546" y="2824478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7" name="Google Shape;517;g327d8e625f7_1_236"/>
          <p:cNvSpPr txBox="1"/>
          <p:nvPr>
            <p:ph idx="2" type="body"/>
          </p:nvPr>
        </p:nvSpPr>
        <p:spPr>
          <a:xfrm>
            <a:off x="645160" y="3655727"/>
            <a:ext cx="787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8" name="Google Shape;518;g327d8e625f7_1_236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27d8e625f7_1_236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327d8e625f7_1_236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Bio 2">
  <p:cSld name="Summit22 - Divider1_1_1_1_1_1_2">
    <p:bg>
      <p:bgPr>
        <a:solidFill>
          <a:schemeClr val="lt1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27d8e625f7_1_2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27d8e625f7_1_243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27d8e625f7_1_243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27d8e625f7_1_243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27d8e625f7_1_243"/>
          <p:cNvSpPr/>
          <p:nvPr>
            <p:ph idx="2" type="pic"/>
          </p:nvPr>
        </p:nvSpPr>
        <p:spPr>
          <a:xfrm>
            <a:off x="480450" y="523875"/>
            <a:ext cx="3262200" cy="40293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27d8e625f7_1_243"/>
          <p:cNvSpPr txBox="1"/>
          <p:nvPr>
            <p:ph idx="1" type="body"/>
          </p:nvPr>
        </p:nvSpPr>
        <p:spPr>
          <a:xfrm>
            <a:off x="4027950" y="1021491"/>
            <a:ext cx="3955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b="1" sz="2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8" name="Google Shape;528;g327d8e625f7_1_243"/>
          <p:cNvSpPr txBox="1"/>
          <p:nvPr>
            <p:ph idx="3" type="body"/>
          </p:nvPr>
        </p:nvSpPr>
        <p:spPr>
          <a:xfrm>
            <a:off x="4027950" y="1830025"/>
            <a:ext cx="4146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29" name="Google Shape;529;g327d8e625f7_1_243"/>
          <p:cNvSpPr txBox="1"/>
          <p:nvPr>
            <p:ph idx="12" type="sldNum"/>
          </p:nvPr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Divider Slide 2">
  <p:cSld name="Summit22 - Title 1_2_1"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g327d8e625f7_1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27d8e625f7_1_252"/>
          <p:cNvSpPr txBox="1"/>
          <p:nvPr>
            <p:ph idx="1" type="body"/>
          </p:nvPr>
        </p:nvSpPr>
        <p:spPr>
          <a:xfrm>
            <a:off x="648546" y="2824478"/>
            <a:ext cx="7863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None/>
              <a:defRPr b="1" sz="27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3" name="Google Shape;533;g327d8e625f7_1_252"/>
          <p:cNvSpPr txBox="1"/>
          <p:nvPr>
            <p:ph idx="2" type="body"/>
          </p:nvPr>
        </p:nvSpPr>
        <p:spPr>
          <a:xfrm>
            <a:off x="645160" y="3655727"/>
            <a:ext cx="787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 sz="11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4" name="Google Shape;534;g327d8e625f7_1_252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327d8e625f7_1_252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27d8e625f7_1_252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g327d8e625f7_1_2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279" y="-9750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27d8e625f7_1_259"/>
          <p:cNvSpPr txBox="1"/>
          <p:nvPr>
            <p:ph idx="1" type="body"/>
          </p:nvPr>
        </p:nvSpPr>
        <p:spPr>
          <a:xfrm>
            <a:off x="4819651" y="904875"/>
            <a:ext cx="39789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0" name="Google Shape;540;g327d8e625f7_1_259"/>
          <p:cNvSpPr/>
          <p:nvPr/>
        </p:nvSpPr>
        <p:spPr>
          <a:xfrm>
            <a:off x="-17275" y="-9600"/>
            <a:ext cx="4589400" cy="516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27d8e625f7_1_259"/>
          <p:cNvSpPr txBox="1"/>
          <p:nvPr>
            <p:ph idx="2" type="body"/>
          </p:nvPr>
        </p:nvSpPr>
        <p:spPr>
          <a:xfrm>
            <a:off x="345195" y="226036"/>
            <a:ext cx="39552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2" name="Google Shape;542;g327d8e625f7_1_259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g327d8e625f7_1_259"/>
          <p:cNvSpPr txBox="1"/>
          <p:nvPr>
            <p:ph idx="3" type="body"/>
          </p:nvPr>
        </p:nvSpPr>
        <p:spPr>
          <a:xfrm>
            <a:off x="345447" y="731520"/>
            <a:ext cx="3955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4" name="Google Shape;544;g327d8e625f7_1_259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27d8e625f7_1_259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Bkg :ight">
  <p:cSld name="Summit22 - Thank You_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27d8e625f7_1_268"/>
          <p:cNvSpPr/>
          <p:nvPr/>
        </p:nvSpPr>
        <p:spPr>
          <a:xfrm>
            <a:off x="-35575" y="-9750"/>
            <a:ext cx="9212100" cy="5163000"/>
          </a:xfrm>
          <a:prstGeom prst="rect">
            <a:avLst/>
          </a:prstGeom>
          <a:gradFill>
            <a:gsLst>
              <a:gs pos="0">
                <a:srgbClr val="98DEFF"/>
              </a:gs>
              <a:gs pos="100000">
                <a:srgbClr val="B2E7FF">
                  <a:alpha val="49019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27d8e625f7_1_268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27d8e625f7_1_268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27d8e625f7_1_268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27d8e625f7_1_268"/>
          <p:cNvSpPr txBox="1"/>
          <p:nvPr>
            <p:ph idx="1" type="body"/>
          </p:nvPr>
        </p:nvSpPr>
        <p:spPr>
          <a:xfrm>
            <a:off x="345195" y="228600"/>
            <a:ext cx="84537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Vegas with Characters Content Slide">
  <p:cSld name="Summit22 - Title 1_5"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g327d8e625f7_1_2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8867" y="-19512"/>
            <a:ext cx="9178665" cy="5162999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27d8e625f7_1_274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g327d8e625f7_1_274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327d8e625f7_1_274"/>
          <p:cNvSpPr txBox="1"/>
          <p:nvPr>
            <p:ph idx="1" type="body"/>
          </p:nvPr>
        </p:nvSpPr>
        <p:spPr>
          <a:xfrm>
            <a:off x="345196" y="231569"/>
            <a:ext cx="845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i="0" sz="27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7" name="Google Shape;557;g327d8e625f7_1_274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it22 - Thank You">
  <p:cSld name="Summit22 - Thank You_2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g327d8e625f7_1_2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" y="-13"/>
            <a:ext cx="9143997" cy="514354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327d8e625f7_1_280"/>
          <p:cNvSpPr/>
          <p:nvPr/>
        </p:nvSpPr>
        <p:spPr>
          <a:xfrm>
            <a:off x="345195" y="4878329"/>
            <a:ext cx="135250" cy="128588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27d8e625f7_1_280"/>
          <p:cNvSpPr/>
          <p:nvPr/>
        </p:nvSpPr>
        <p:spPr>
          <a:xfrm>
            <a:off x="557784" y="4898914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2022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27d8e625f7_1_280"/>
          <p:cNvSpPr txBox="1"/>
          <p:nvPr>
            <p:ph idx="1" type="body"/>
          </p:nvPr>
        </p:nvSpPr>
        <p:spPr>
          <a:xfrm>
            <a:off x="2272412" y="2285447"/>
            <a:ext cx="4599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3" name="Google Shape;563;g327d8e625f7_1_280"/>
          <p:cNvSpPr txBox="1"/>
          <p:nvPr/>
        </p:nvSpPr>
        <p:spPr>
          <a:xfrm>
            <a:off x="8325201" y="4898914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68.xml"/><Relationship Id="rId3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87.xml"/><Relationship Id="rId20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1.xml"/><Relationship Id="rId24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98.xml"/><Relationship Id="rId31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0.xml"/><Relationship Id="rId33" Type="http://schemas.openxmlformats.org/officeDocument/2006/relationships/slideLayout" Target="../slideLayouts/slideLayout101.xml"/><Relationship Id="rId34" Type="http://schemas.openxmlformats.org/officeDocument/2006/relationships/slideLayout" Target="../slideLayouts/slideLayout102.xml"/><Relationship Id="rId35" Type="http://schemas.openxmlformats.org/officeDocument/2006/relationships/slideLayout" Target="../slideLayouts/slideLayout103.xml"/><Relationship Id="rId3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66550" y="228600"/>
            <a:ext cx="832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>
            <p:ph type="title"/>
          </p:nvPr>
        </p:nvSpPr>
        <p:spPr>
          <a:xfrm>
            <a:off x="366550" y="228600"/>
            <a:ext cx="832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7d8e625f7_1_104"/>
          <p:cNvSpPr txBox="1"/>
          <p:nvPr>
            <p:ph type="title"/>
          </p:nvPr>
        </p:nvSpPr>
        <p:spPr>
          <a:xfrm>
            <a:off x="366550" y="228600"/>
            <a:ext cx="832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Montserrat"/>
              <a:buNone/>
              <a:defRPr b="1" i="0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6" name="Google Shape;376;g327d8e625f7_1_104"/>
          <p:cNvSpPr txBox="1"/>
          <p:nvPr>
            <p:ph idx="1" type="body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7" name="Google Shape;377;g327d8e625f7_1_104"/>
          <p:cNvSpPr txBox="1"/>
          <p:nvPr>
            <p:ph idx="12" type="sldNum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  <p:sldLayoutId id="2147483747" r:id="rId29"/>
    <p:sldLayoutId id="2147483748" r:id="rId30"/>
    <p:sldLayoutId id="2147483749" r:id="rId31"/>
    <p:sldLayoutId id="2147483750" r:id="rId32"/>
    <p:sldLayoutId id="2147483751" r:id="rId33"/>
    <p:sldLayoutId id="2147483752" r:id="rId34"/>
    <p:sldLayoutId id="2147483753" r:id="rId35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SUPER MARIO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1567F"/>
                </a:solidFill>
              </a:rPr>
              <a:t>SPCS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93392"/>
            <a:ext cx="1371600" cy="45720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567F"/>
                </a:solidFill>
              </a:rPr>
              <a:t>Real-time Game Analytics on Snowflake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Snowpark Container Services  ·  OpenTelemetry  ·  Interactive Tables  ·  Cortex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46120"/>
            <a:ext cx="1078992" cy="347472"/>
          </a:xfrm>
          <a:prstGeom prst="roundRect">
            <a:avLst>
              <a:gd name="adj" fmla="val 10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🐳 SPCS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246120"/>
            <a:ext cx="1078992" cy="347472"/>
          </a:xfrm>
          <a:prstGeom prst="roundRect">
            <a:avLst>
              <a:gd name="adj" fmla="val 10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📡 OTel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246120"/>
            <a:ext cx="1078992" cy="347472"/>
          </a:xfrm>
          <a:prstGeom prst="roundRect">
            <a:avLst>
              <a:gd name="adj" fmla="val 10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246120"/>
            <a:ext cx="1078992" cy="347472"/>
          </a:xfrm>
          <a:prstGeom prst="roundRect">
            <a:avLst>
              <a:gd name="adj" fmla="val 10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291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🤖 Cortex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94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1567F"/>
                </a:solidFill>
              </a:rPr>
              <a:t>Solutions Engineering Demo  ·  20 min including 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60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9B5E8"/>
                </a:solidFill>
              </a:rPr>
              <a:t>github.com/mario-spcs-telemetry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20 minutes · architecture + live demo + learnings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24128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024128"/>
            <a:ext cx="4206240" cy="54864"/>
          </a:xfrm>
          <a:prstGeom prst="roundRect">
            <a:avLst>
              <a:gd name="adj" fmla="val 5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252728"/>
            <a:ext cx="457200" cy="45720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2529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9105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Five components overview · 2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76856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276856"/>
            <a:ext cx="4206240" cy="54864"/>
          </a:xfrm>
          <a:prstGeom prst="roundRect">
            <a:avLst>
              <a:gd name="adj" fmla="val 5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2505456"/>
            <a:ext cx="457200" cy="45720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7802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</a:rPr>
              <a:t>Architecture Deep Dive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4378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Full data flow from browser to dashboard · 3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529584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3529584"/>
            <a:ext cx="4206240" cy="54864"/>
          </a:xfrm>
          <a:prstGeom prst="roundRect">
            <a:avLst>
              <a:gd name="adj" fmla="val 5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3075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</a:rPr>
              <a:t>Player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9651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How SPCS auth flows into telemetry · 2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1024128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1024128"/>
            <a:ext cx="4206240" cy="54864"/>
          </a:xfrm>
          <a:prstGeom prst="roundRect">
            <a:avLst>
              <a:gd name="adj" fmla="val 5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20640" y="1252728"/>
            <a:ext cx="457200" cy="457200"/>
          </a:xfrm>
          <a:prstGeom prst="ellipse">
            <a:avLst/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225296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</a:rPr>
              <a:t>Real-time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1591056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Interactive Tables + Cortex AI · 2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2276856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3480" y="2276856"/>
            <a:ext cx="4206240" cy="54864"/>
          </a:xfrm>
          <a:prstGeom prst="roundRect">
            <a:avLst>
              <a:gd name="adj" fmla="val 5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20640" y="2505456"/>
            <a:ext cx="457200" cy="45720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2478024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</a:rPr>
              <a:t>LIVE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84378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Play · watch · ask Cortex · 10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3529584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83480" y="3529584"/>
            <a:ext cx="4206240" cy="54864"/>
          </a:xfrm>
          <a:prstGeom prst="roundRect">
            <a:avLst>
              <a:gd name="adj" fmla="val 5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0640" y="3758184"/>
            <a:ext cx="457200" cy="45720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730752"/>
            <a:ext cx="3337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567F"/>
                </a:solidFill>
              </a:rPr>
              <a:t>Key Learnings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09651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What surprised us building this · 1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Five components · one Snowflake account · zero external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24128"/>
            <a:ext cx="1627632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24128"/>
            <a:ext cx="1627632" cy="54864"/>
          </a:xfrm>
          <a:prstGeom prst="roundRect">
            <a:avLst>
              <a:gd name="adj" fmla="val 5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3385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🎮  Game on SPCS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27048"/>
            <a:ext cx="135331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HTML5 Super Mario in a Docker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container with public ingress,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authentication, and auto-resume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93391" y="1024128"/>
            <a:ext cx="1627632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93391" y="1024128"/>
            <a:ext cx="1627632" cy="54864"/>
          </a:xfrm>
          <a:prstGeom prst="roundRect">
            <a:avLst>
              <a:gd name="adj" fmla="val 5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1" y="113385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📡  Telemetry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1" y="1527048"/>
            <a:ext cx="135331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Browser JS → nginx → Python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sidecar → OpenTelemetry OTLP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gRPC → SPCS Event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2463" y="1024128"/>
            <a:ext cx="1627632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12463" y="1024128"/>
            <a:ext cx="1627632" cy="54864"/>
          </a:xfrm>
          <a:prstGeom prst="roundRect">
            <a:avLst>
              <a:gd name="adj" fmla="val 5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9623" y="113385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⚡  Interactive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3" y="1527048"/>
            <a:ext cx="135331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6 live tables at 1-min lag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Interactive Warehouse (IWH)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sub-second query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1024128"/>
            <a:ext cx="1627632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31536" y="1024128"/>
            <a:ext cx="1627632" cy="54864"/>
          </a:xfrm>
          <a:prstGeom prst="roundRect">
            <a:avLst>
              <a:gd name="adj" fmla="val 5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8696" y="113385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🤖  Cortex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8696" y="1527048"/>
            <a:ext cx="135331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Semantic View + 10 VQRs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FastGen-generated queries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Cortex Agent for NL analytics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7" y="1024128"/>
            <a:ext cx="1627632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50607" y="1024128"/>
            <a:ext cx="1627632" cy="54864"/>
          </a:xfrm>
          <a:prstGeom prst="roundRect">
            <a:avLst>
              <a:gd name="adj" fmla="val 5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7" y="1133856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📊 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7" y="1527048"/>
            <a:ext cx="1353312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Streamlit SiS + React Next.js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Leaderboard, metrics, events,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animated data pipeline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F4FB"/>
                </a:solidFill>
              </a:rPr>
              <a:t>All data stays in Snowflake · No external APIs · No extra accounts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Browser → SPCS Container → Event Table → Interactive Tables →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" y="1097280"/>
            <a:ext cx="14173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" y="1097280"/>
            <a:ext cx="1417320" cy="45720"/>
          </a:xfrm>
          <a:prstGeom prst="roundRect">
            <a:avLst>
              <a:gd name="adj" fmla="val 4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18872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🌐 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53619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telemetry.js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097280"/>
            <a:ext cx="14173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1097280"/>
            <a:ext cx="1417320" cy="45720"/>
          </a:xfrm>
          <a:prstGeom prst="roundRect">
            <a:avLst>
              <a:gd name="adj" fmla="val 4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18872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🔐  SPCS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3619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injects user header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097280"/>
            <a:ext cx="141732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1097280"/>
            <a:ext cx="1417320" cy="45720"/>
          </a:xfrm>
          <a:prstGeom prst="roundRect">
            <a:avLst>
              <a:gd name="adj" fmla="val 4000"/>
            </a:avLst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18872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⚙️  nginx :8080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53619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routes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2468880"/>
            <a:ext cx="14173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93008" y="2468880"/>
            <a:ext cx="1417320" cy="45720"/>
          </a:xfrm>
          <a:prstGeom prst="roundRect">
            <a:avLst>
              <a:gd name="adj" fmla="val 4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560320"/>
            <a:ext cx="1234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🐱  Tomcat :8888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290779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game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1097280"/>
            <a:ext cx="1481328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93792" y="1097280"/>
            <a:ext cx="1481328" cy="45720"/>
          </a:xfrm>
          <a:prstGeom prst="roundRect">
            <a:avLst>
              <a:gd name="adj" fmla="val 4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5232" y="1188720"/>
            <a:ext cx="1298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🐍  Python Sidecar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1536192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OTel :9090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1097280"/>
            <a:ext cx="1938528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0" y="1097280"/>
            <a:ext cx="1938528" cy="45720"/>
          </a:xfrm>
          <a:prstGeom prst="roundRect">
            <a:avLst>
              <a:gd name="adj" fmla="val 4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118872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📋  Event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536192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event_db.event_sh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2468880"/>
            <a:ext cx="193852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49440" y="2468880"/>
            <a:ext cx="1938528" cy="45720"/>
          </a:xfrm>
          <a:prstGeom prst="roundRect">
            <a:avLst>
              <a:gd name="adj" fmla="val 4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256032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⚡  Interactive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907792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DIS_MARIO 6×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3749039"/>
            <a:ext cx="1938528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949440" y="3749039"/>
            <a:ext cx="1938528" cy="45720"/>
          </a:xfrm>
          <a:prstGeom prst="roundRect">
            <a:avLst>
              <a:gd name="adj" fmla="val 4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0" y="3840479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🤖  Cortex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187951"/>
            <a:ext cx="1755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Agent + Semantic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134416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15453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E8F4FB"/>
                </a:solidFill>
              </a:rPr>
              <a:t>GET pixel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3552" y="134416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2112" y="15453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E8F4FB"/>
                </a:solidFill>
              </a:rPr>
              <a:t>header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2624" y="134416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1184" y="154533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E8F4FB"/>
                </a:solidFill>
              </a:rPr>
              <a:t>OTLP gRPC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19842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18541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E8F4FB"/>
                </a:solidFill>
              </a:rPr>
              <a:t>1-min 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26440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465576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E8F4FB"/>
                </a:solidFill>
              </a:rPr>
              <a:t>SQL views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4528" y="186537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33088" y="2066544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E8F4FB"/>
                </a:solidFill>
              </a:rPr>
              <a:t>proxy 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F4FB"/>
                </a:solidFill>
              </a:rPr>
              <a:t>Single SPCS container: nginx → Tomcat (game) + Python sidecar (OTel) · Compute Pool: CPU_X64_XS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Container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One Docker image · three processes · everything Snowflake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78992"/>
            <a:ext cx="841248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73152" cy="841248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567F"/>
                </a:solidFill>
              </a:rPr>
              <a:t>🌐  nginx  ·  Port 8080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Public SPCS ingress endpoint. Exact location = /telemetry (avoids catching /telemetry.js). Forwards Sf-Context-Current-User header to sidecar.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48256"/>
            <a:ext cx="841248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48256"/>
            <a:ext cx="73152" cy="841248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567F"/>
                </a:solidFill>
              </a:rPr>
              <a:t>🐱  Tomcat 9  ·  Port 8888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23744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HTML5 Super Mario game. telemetry.js injected at Docker build time. jQuery bundled locally — SPCS egress blocks external CDN URLs.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17520"/>
            <a:ext cx="841248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73152" cy="841248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567F"/>
                </a:solidFill>
              </a:rPr>
              <a:t>🐍  Python Sidecar  ·  Port 9090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93008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OpenTelemetry TracerProvider + MeterProvider. GET tracking pixel /telemetry?d=... · /whoami endpoint. BatchSpanProcessor exports every 5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86784"/>
            <a:ext cx="8412480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86784"/>
            <a:ext cx="73152" cy="841248"/>
          </a:xfrm>
          <a:prstGeom prst="rect">
            <a:avLst/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782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567F"/>
                </a:solidFill>
              </a:rPr>
              <a:t>📡  OpenTelemetry OTLP gRPC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62272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</a:rPr>
              <a:t>Spans → record_attributes · Metrics → 90+ platform types · Logs → service messages. All land in event_db.event_sh.my_events automatically.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F4FB"/>
                </a:solidFill>
              </a:rPr>
              <a:t>Resources: 500m–1 vCPU · 512Mi–2Gi RAM · AUTO_RESUME = TRUE · platformMonitor: system, network,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Player Identity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From SPCS login to named leaderboard 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005840"/>
            <a:ext cx="11612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" y="1005840"/>
            <a:ext cx="1161288" cy="50292"/>
          </a:xfrm>
          <a:prstGeom prst="roundRect">
            <a:avLst>
              <a:gd name="adj" fmla="val 4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2648" y="1097280"/>
            <a:ext cx="438912" cy="438912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6276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567F"/>
                </a:solidFill>
              </a:rPr>
              <a:t>Ingress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993392"/>
            <a:ext cx="1014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</a:rPr>
              <a:t>Cookie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6420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99616" y="1005840"/>
            <a:ext cx="11612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99616" y="1005840"/>
            <a:ext cx="1161288" cy="50292"/>
          </a:xfrm>
          <a:prstGeom prst="roundRect">
            <a:avLst>
              <a:gd name="adj" fmla="val 4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56232" y="1097280"/>
            <a:ext cx="438912" cy="438912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6276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567F"/>
                </a:solidFill>
              </a:rPr>
              <a:t>Inject Header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1993392"/>
            <a:ext cx="1014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</a:rPr>
              <a:t>Sf-Context-</a:t>
            </a:r>
            <a:br/>
            <a:r>
              <a:t>Current-User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4" y="166420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1005840"/>
            <a:ext cx="11612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1005840"/>
            <a:ext cx="1161288" cy="50292"/>
          </a:xfrm>
          <a:prstGeom prst="roundRect">
            <a:avLst>
              <a:gd name="adj" fmla="val 4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9816" y="1097280"/>
            <a:ext cx="438912" cy="438912"/>
          </a:xfrm>
          <a:prstGeom prst="ellipse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16276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567F"/>
                </a:solidFill>
              </a:rPr>
              <a:t>nginx Forward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1993392"/>
            <a:ext cx="1014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</a:rPr>
              <a:t>proxy_set_</a:t>
            </a:r>
            <a:br/>
            <a:r>
              <a:t>header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166420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86784" y="1005840"/>
            <a:ext cx="11612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86784" y="1005840"/>
            <a:ext cx="1161288" cy="50292"/>
          </a:xfrm>
          <a:prstGeom prst="roundRect">
            <a:avLst>
              <a:gd name="adj" fmla="val 4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43400" y="1097280"/>
            <a:ext cx="438912" cy="438912"/>
          </a:xfrm>
          <a:prstGeom prst="ellipse">
            <a:avLst/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9936" y="16276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567F"/>
                </a:solidFill>
              </a:rPr>
              <a:t>/whoami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9936" y="1993392"/>
            <a:ext cx="1014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</a:rPr>
              <a:t>_get_player_</a:t>
            </a:r>
            <a:br/>
            <a:r>
              <a:t>name()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166420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0368" y="1005840"/>
            <a:ext cx="11612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30368" y="1005840"/>
            <a:ext cx="1161288" cy="50292"/>
          </a:xfrm>
          <a:prstGeom prst="roundRect">
            <a:avLst>
              <a:gd name="adj" fmla="val 4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86984" y="1097280"/>
            <a:ext cx="438912" cy="438912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16276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567F"/>
                </a:solidFill>
              </a:rPr>
              <a:t>Browser Fetch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1993392"/>
            <a:ext cx="1014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</a:rPr>
              <a:t>XHR on</a:t>
            </a:r>
            <a:br/>
            <a:r>
              <a:t>game init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166420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1005840"/>
            <a:ext cx="11612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73952" y="1005840"/>
            <a:ext cx="1161288" cy="50292"/>
          </a:xfrm>
          <a:prstGeom prst="roundRect">
            <a:avLst>
              <a:gd name="adj" fmla="val 4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30568" y="1097280"/>
            <a:ext cx="438912" cy="438912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16276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567F"/>
                </a:solidFill>
              </a:rPr>
              <a:t>Event Payload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1993392"/>
            <a:ext cx="1014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</a:rPr>
              <a:t>player_name</a:t>
            </a:r>
            <a:br/>
            <a:r>
              <a:t>in send()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166420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17536" y="1005840"/>
            <a:ext cx="11612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17536" y="1005840"/>
            <a:ext cx="1161288" cy="50292"/>
          </a:xfrm>
          <a:prstGeom prst="roundRect">
            <a:avLst>
              <a:gd name="adj" fmla="val 4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74152" y="1097280"/>
            <a:ext cx="438912" cy="438912"/>
          </a:xfrm>
          <a:prstGeom prst="ellipse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0688" y="1627632"/>
            <a:ext cx="1014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567F"/>
                </a:solidFill>
              </a:rPr>
              <a:t>OTel Span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90688" y="1993392"/>
            <a:ext cx="10149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</a:rPr>
              <a:t>record_</a:t>
            </a:r>
            <a:br/>
            <a:r>
              <a:t>attributes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2697480"/>
            <a:ext cx="8412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65760" y="2697480"/>
            <a:ext cx="8412480" cy="50292"/>
          </a:xfrm>
          <a:prstGeom prst="roundRect">
            <a:avLst>
              <a:gd name="adj" fmla="val 4000"/>
            </a:avLst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278892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Priority Chain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200400"/>
            <a:ext cx="256032" cy="237744"/>
          </a:xfrm>
          <a:prstGeom prst="roundRect">
            <a:avLst>
              <a:gd name="adj" fmla="val 5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3236976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32369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567F"/>
                </a:solidFill>
              </a:rPr>
              <a:t>Sf-Context-Current-User header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0" y="323697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Injected by SPCS ingress — most reliable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502152"/>
            <a:ext cx="256032" cy="237744"/>
          </a:xfrm>
          <a:prstGeom prst="roundRect">
            <a:avLst>
              <a:gd name="adj" fmla="val 5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3538728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35387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567F"/>
                </a:solidFill>
              </a:rPr>
              <a:t>player_name in event payload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35387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Sent by browser after /whoami fetch — reliable fallback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3803904"/>
            <a:ext cx="256032" cy="237744"/>
          </a:xfrm>
          <a:prstGeom prst="roundRect">
            <a:avLst>
              <a:gd name="adj" fmla="val 5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" y="3840480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38404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1567F"/>
                </a:solidFill>
              </a:rPr>
              <a:t>"unknown"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9000" y="38404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Last resort if both header and browser sources are empty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F4FB"/>
                </a:solidFill>
              </a:rPr>
              <a:t>Root cause: telemetry.js fetched /whoami for the banner but never included player_name in event payloads — fixed by adding it to every send()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Real-time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DIS_MARIO: Interactive Tables + IWH + Semantic View + Cortex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1005840"/>
            <a:ext cx="5120640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005840"/>
            <a:ext cx="64008" cy="585216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GAME_EVENTS_LIVE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5331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All game spans + player_name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143000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143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⚡ EVENT_TIME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18872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D3DC"/>
                </a:solidFill>
              </a:rPr>
              <a:t>lag: 1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664208"/>
            <a:ext cx="5120640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664208"/>
            <a:ext cx="64008" cy="585216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73736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EVENT_TIMELINE_LIVE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0116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Event counts per minute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1801368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8013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⚡ MINUTE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8470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D3DC"/>
                </a:solidFill>
              </a:rPr>
              <a:t>lag: 1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2322576"/>
            <a:ext cx="5120640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2322576"/>
            <a:ext cx="64008" cy="585216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3957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KEY_PRESSES_LIVE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670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Key press aggregates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2459736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24597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⚡ KEY_NAME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50545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D3DC"/>
                </a:solidFill>
              </a:rPr>
              <a:t>lag: 1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" y="2980944"/>
            <a:ext cx="5120640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" y="2980944"/>
            <a:ext cx="64008" cy="585216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0540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DEATHS_BY_LEVEL_LIVE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3284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Deaths per level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3118104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31181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⚡ 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16382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D3DC"/>
                </a:solidFill>
              </a:rPr>
              <a:t>lag: 1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" y="3639312"/>
            <a:ext cx="5120640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7472" y="3639312"/>
            <a:ext cx="64008" cy="585216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71246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POWERUPS_LIVE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398678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Powerup spawn counts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3776472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37764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⚡ POWERUP_TYPE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82219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D3DC"/>
                </a:solidFill>
              </a:rPr>
              <a:t>lag: 1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" y="4297679"/>
            <a:ext cx="5120640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7472" y="4297679"/>
            <a:ext cx="64008" cy="585216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37083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PLAYER_SESSIONS_LIVE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4645151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Per-player session summaries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4434839"/>
            <a:ext cx="1005840" cy="274320"/>
          </a:xfrm>
          <a:prstGeom prst="roundRect">
            <a:avLst>
              <a:gd name="adj" fmla="val 6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434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⚡ SESSION_START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480559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1D3DC"/>
                </a:solidFill>
              </a:rPr>
              <a:t>lag: 1 min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0" y="1005840"/>
            <a:ext cx="320040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69280" y="1005840"/>
            <a:ext cx="3200400" cy="54864"/>
          </a:xfrm>
          <a:prstGeom prst="roundRect">
            <a:avLst>
              <a:gd name="adj" fmla="val 5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6440" y="11155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⚡ Interactive Warehouse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1508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DIS_MARIO_IWH · XSMALL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24h auto-suspend · sub-second latency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For all 6 tables (ALTER INTERACTIVE TABLE … SET WAREHOUSE)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0" y="2304288"/>
            <a:ext cx="320040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669280" y="2304288"/>
            <a:ext cx="3200400" cy="54864"/>
          </a:xfrm>
          <a:prstGeom prst="roundRect">
            <a:avLst>
              <a:gd name="adj" fmla="val 5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06440" y="24140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🧠 Semantic 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280720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DIS_MARIO.PUBLIC.MARIO_TELEMETRY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6 tables · 2 joins · 10 VQRs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Created via SYSTEM$CORTEX_ANALYST_FAST_GENERATION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0" y="3602736"/>
            <a:ext cx="32004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669280" y="3602736"/>
            <a:ext cx="3200400" cy="54864"/>
          </a:xfrm>
          <a:prstGeom prst="roundRect">
            <a:avLst>
              <a:gd name="adj" fmla="val 5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06440" y="37124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🤖 Cortex 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410565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DIS_MARIO.PUBLIC.MARIO_INTELLIGENCE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model: auto · 900s / 400k tokens</a:t>
            </a:r>
          </a:p>
          <a:p>
            <a:pPr>
              <a:spcAft>
                <a:spcPts val="300"/>
              </a:spcAft>
              <a:defRPr sz="1000">
                <a:solidFill>
                  <a:srgbClr val="262626"/>
                </a:solidFill>
              </a:defRPr>
            </a:pPr>
            <a:r>
              <a:t>NL → SQL via MARIO_TELEMETRY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F4FB"/>
                </a:solidFill>
              </a:rPr>
              <a:t>CREATE INTERACTIVE TABLE (not DYNAMIC) · ALTER INTERACTIVE TABLE … SET WAREHOUSE = DIS_MARIO_IWH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Dashboards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Four ways to consume the real-time telemetry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416052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4160520" cy="54864"/>
          </a:xfrm>
          <a:prstGeom prst="roundRect">
            <a:avLst>
              <a:gd name="adj" fmla="val 4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1155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Streamlit — Legacy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08176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567F"/>
                </a:solidFill>
              </a:rPr>
              <a:t>MARIO_DB.PUBLIC.MARIO_TELEMETRY_DASHBOARD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700784"/>
            <a:ext cx="3904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Event table views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Leaderboard: last 24h only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5 tabs: Leaderboard, Events,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Deaths, Controls, Platform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907792"/>
            <a:ext cx="416052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2907792"/>
            <a:ext cx="4160520" cy="54864"/>
          </a:xfrm>
          <a:prstGeom prst="roundRect">
            <a:avLst>
              <a:gd name="adj" fmla="val 4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30175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9923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Streamlit —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567F"/>
                </a:solidFill>
              </a:rPr>
              <a:t>DIS_MARIO.PUBLIC.DIS_MARIO_TELEMETRY_DASHBOARD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3602736"/>
            <a:ext cx="3904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Interactive Tables backend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10s cache TTL · near-realtime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Player dropdown filter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6 KPI cards + Snowflake branding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005840"/>
            <a:ext cx="416052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1005840"/>
            <a:ext cx="4160520" cy="54864"/>
          </a:xfrm>
          <a:prstGeom prst="roundRect">
            <a:avLst>
              <a:gd name="adj" fmla="val 4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91456" y="11155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09728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React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408176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567F"/>
                </a:solidFill>
              </a:rPr>
              <a:t>Next.js 16.2.3 · port 3456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456" y="1700784"/>
            <a:ext cx="3904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JWT auth locally, OAuth in SPCS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5s polling · Recharts charts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Animated Data Pipeline tab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Snowflake logo + Cortex Code badge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907792"/>
            <a:ext cx="416052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2907792"/>
            <a:ext cx="4160520" cy="54864"/>
          </a:xfrm>
          <a:prstGeom prst="roundRect">
            <a:avLst>
              <a:gd name="adj" fmla="val 4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1456" y="30175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99923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Cortex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31012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1567F"/>
                </a:solidFill>
              </a:rPr>
              <a:t>DIS_MARIO.PUBLIC.MARIO_INTELLIGENCE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3602736"/>
            <a:ext cx="3904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NL → SQL via MARIO_TELEMETRY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model: auto · 900s budget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Try: 'Who died most on 1-1?'</a:t>
            </a:r>
          </a:p>
          <a:p>
            <a:pPr>
              <a:spcAft>
                <a:spcPts val="200"/>
              </a:spcAft>
              <a:defRPr sz="1000">
                <a:solidFill>
                  <a:srgbClr val="262626"/>
                </a:solidFill>
              </a:defRPr>
            </a:pPr>
            <a:r>
              <a:t>'What's the avg session time?'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F4FB"/>
                </a:solidFill>
              </a:rPr>
              <a:t>All dashboards: Snowflake logotype SVG · Powered by Cortex Code badge · Animated polar bear 🐻‍❄️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Snowflake Features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Every component in this demo is a production Snowflake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1005840"/>
            <a:ext cx="8449056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005840"/>
            <a:ext cx="64008" cy="5120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Snowpark Container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98448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Docker container · public ingress · platform monitoring · Sf-Context-Current-User header injection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581912"/>
            <a:ext cx="8449056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81912"/>
            <a:ext cx="64008" cy="5120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550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SPCS Event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74520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Native OTel store for spans, metrics, logs · OTLP gRPC exporter · 90+ built-in platform metric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2157984"/>
            <a:ext cx="8449056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2157984"/>
            <a:ext cx="64008" cy="512064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2311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Interactive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50592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Sub-second query latency · 1-min target lag · cluster keys · Interactive Warehouse · near-realtime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734056"/>
            <a:ext cx="8449056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" y="2734056"/>
            <a:ext cx="64008" cy="512064"/>
          </a:xfrm>
          <a:prstGeom prst="rect">
            <a:avLst/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8072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Cortex 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026664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Semantic View over 6 tables · FastGen VQR generation · SYSTEM$CREATE_SEMANTIC_VIEW_FROM_YAML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" y="3310128"/>
            <a:ext cx="8449056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" y="3310128"/>
            <a:ext cx="64008" cy="5120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3832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Cortex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602736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Custom orchestration + response instructions · MARIO_INTELLIGENCE agent · cortex_analyst_text_to_sql tool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3886200"/>
            <a:ext cx="8449056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" y="3886200"/>
            <a:ext cx="64008" cy="5120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9593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Streamlit in Snowsight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178808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Container runtime · SYSTEM_COMPUTE_POOL_CPU · pip packages · snow CLI deploy · player filter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" y="4462272"/>
            <a:ext cx="8449056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" y="4462272"/>
            <a:ext cx="64008" cy="512064"/>
          </a:xfrm>
          <a:prstGeom prst="rect">
            <a:avLst/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5354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567F"/>
                </a:solidFill>
              </a:rPr>
              <a:t>Semi-structured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754880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</a:rPr>
              <a:t>record:name::STRING · record_attributes:player_name::STRING · VARIANT extraction at query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F4FB"/>
                </a:solidFill>
              </a:rPr>
              <a:t>Zero external infrastructure · All data stays in Snowflake · Everything demos in a single account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11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567F"/>
                </a:solidFill>
              </a:rPr>
              <a:t>🎮  LIVE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24128"/>
            <a:ext cx="2011680" cy="45720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1567F"/>
                </a:solidFill>
              </a:rPr>
              <a:t>10 minutes · play · watch · ask Cortex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64208"/>
            <a:ext cx="4389120" cy="658368"/>
          </a:xfrm>
          <a:prstGeom prst="roundRect">
            <a:avLst>
              <a:gd name="adj" fmla="val 5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556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Open game · press S to start · play Mario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50592"/>
            <a:ext cx="4389120" cy="658368"/>
          </a:xfrm>
          <a:prstGeom prst="roundRect">
            <a:avLst>
              <a:gd name="adj" fmla="val 5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420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42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Watch events → sidecar → event table in logs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236976"/>
            <a:ext cx="4389120" cy="658368"/>
          </a:xfrm>
          <a:prstGeom prst="roundRect">
            <a:avLst>
              <a:gd name="adj" fmla="val 5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284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284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Refresh Streamlit · see name in leaderboard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23360"/>
            <a:ext cx="4389120" cy="658368"/>
          </a:xfrm>
          <a:prstGeom prst="roundRect">
            <a:avLst>
              <a:gd name="adj" fmla="val 5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Ask Cortex Agent: 'Who died most on 1-1?'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320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9B5E8"/>
                </a:solidFill>
              </a:rPr>
              <a:t>&lt;YOUR_ACCOUNT&gt;.snowflakecomputing.app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B"/>
                </a:solidFill>
              </a:rPr>
              <a:t>Five things that surprised us building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8163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816352" cy="54864"/>
          </a:xfrm>
          <a:prstGeom prst="roundRect">
            <a:avLst>
              <a:gd name="adj" fmla="val 5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🐳  Always use --no-cache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25420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Docker silently reuses stale cached layers.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suspend/resume does NOT re-pull the image.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Use ALTER SERVICE FROM SPECIFICATION.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8688" y="1005840"/>
            <a:ext cx="28163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18688" y="1005840"/>
            <a:ext cx="2816352" cy="54864"/>
          </a:xfrm>
          <a:prstGeom prst="roundRect">
            <a:avLst>
              <a:gd name="adj" fmla="val 5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11556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📍  nginx exact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508760"/>
            <a:ext cx="25420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location /telemetry is a prefix match —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it catches /telemetry.js too.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Always use: location = /telemetry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005840"/>
            <a:ext cx="28163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1005840"/>
            <a:ext cx="2816352" cy="54864"/>
          </a:xfrm>
          <a:prstGeom prst="roundRect">
            <a:avLst>
              <a:gd name="adj" fmla="val 5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115568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👤  Browser must send player_name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508760"/>
            <a:ext cx="25420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Sidecar had header extraction but browser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was calling /whoami for banner only.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Fix: add player_name to every send() call.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999232"/>
            <a:ext cx="28163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2999232"/>
            <a:ext cx="2816352" cy="54864"/>
          </a:xfrm>
          <a:prstGeom prst="roundRect">
            <a:avLst>
              <a:gd name="adj" fmla="val 5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0896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📦  Bundle all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502152"/>
            <a:ext cx="25420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SPCS blocks external egress.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CDN URLs fail silently at runtime.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Bundle jQuery inside the Docker image.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18688" y="2999232"/>
            <a:ext cx="28163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18688" y="2999232"/>
            <a:ext cx="2816352" cy="54864"/>
          </a:xfrm>
          <a:prstGeom prst="roundRect">
            <a:avLst>
              <a:gd name="adj" fmla="val 5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3108960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67F"/>
                </a:solidFill>
              </a:rPr>
              <a:t>🔑  JWT for headless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3502152"/>
            <a:ext cx="25420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EXTERNALBROWSER fails in Node.js.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Use SNOWFLAKE_JWT keypair auth.</a:t>
            </a:r>
          </a:p>
          <a:p>
            <a:pPr>
              <a:spcAft>
                <a:spcPts val="300"/>
              </a:spcAft>
              <a:defRPr sz="1100">
                <a:solidFill>
                  <a:srgbClr val="262626"/>
                </a:solidFill>
              </a:defRPr>
            </a:pPr>
            <a:r>
              <a:t>snow spcs image-registry login for MFA.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960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F4FB"/>
                </a:solidFill>
              </a:rPr>
              <a:t>Full details in README.md and docs/index.html · github.com/mario-spcs-telemetry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567F"/>
                </a:solidFill>
              </a:rPr>
              <a:t>Thanks for playing! 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828800" cy="45720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2626"/>
                </a:solidFill>
              </a:rPr>
              <a:t>Questions welcome — let's talk SPCS, Interactive Tables, Cortex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20240"/>
            <a:ext cx="2286000" cy="1078992"/>
          </a:xfrm>
          <a:prstGeom prst="roundRect">
            <a:avLst>
              <a:gd name="adj" fmla="val 6000"/>
            </a:avLst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Game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FFFFFF"/>
                </a:solidFill>
              </a:defRPr>
            </a:pPr>
            <a:r>
              <a:t>&lt;INGRESS_HASH&gt;-&lt;YOUR_ACCOUNT&gt;</a:t>
            </a:r>
          </a:p>
          <a:p>
            <a:pPr>
              <a:spcAft>
                <a:spcPts val="100"/>
              </a:spcAft>
              <a:defRPr sz="900">
                <a:solidFill>
                  <a:srgbClr val="FFFFFF"/>
                </a:solidFill>
              </a:defRPr>
            </a:pPr>
            <a:r>
              <a:t>.snowflakecomputing.app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920240"/>
            <a:ext cx="2286000" cy="1078992"/>
          </a:xfrm>
          <a:prstGeom prst="roundRect">
            <a:avLst>
              <a:gd name="adj" fmla="val 6000"/>
            </a:avLst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0116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11680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23160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FFFFFF"/>
                </a:solidFill>
              </a:defRPr>
            </a:pPr>
            <a:r>
              <a:t>github.com/</a:t>
            </a:r>
          </a:p>
          <a:p>
            <a:pPr>
              <a:spcAft>
                <a:spcPts val="100"/>
              </a:spcAft>
              <a:defRPr sz="900">
                <a:solidFill>
                  <a:srgbClr val="FFFFFF"/>
                </a:solidFill>
              </a:defRPr>
            </a:pPr>
            <a:r>
              <a:t>mario-spcs-telemetry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27248"/>
            <a:ext cx="2286000" cy="1078992"/>
          </a:xfrm>
          <a:prstGeom prst="roundRect">
            <a:avLst>
              <a:gd name="adj" fmla="val 6000"/>
            </a:avLst>
          </a:prstGeom>
          <a:solidFill>
            <a:srgbClr val="7D4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186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1868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HTML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FFFFFF"/>
                </a:solidFill>
              </a:defRPr>
            </a:pPr>
            <a:r>
              <a:t>docs/index.html</a:t>
            </a:r>
          </a:p>
          <a:p>
            <a:pPr>
              <a:spcAft>
                <a:spcPts val="100"/>
              </a:spcAft>
              <a:defRPr sz="900">
                <a:solidFill>
                  <a:srgbClr val="FFFFFF"/>
                </a:solidFill>
              </a:defRPr>
            </a:pPr>
            <a:r>
              <a:t>full architecture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127248"/>
            <a:ext cx="2286000" cy="1078992"/>
          </a:xfrm>
          <a:prstGeom prst="roundRect">
            <a:avLst>
              <a:gd name="adj" fmla="val 6000"/>
            </a:avLst>
          </a:prstGeom>
          <a:solidFill>
            <a:srgbClr val="D45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32186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21868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Cortex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630168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FFFFFF"/>
                </a:solidFill>
              </a:defRPr>
            </a:pPr>
            <a:r>
              <a:t>DIS_MARIO.PUBLIC</a:t>
            </a:r>
          </a:p>
          <a:p>
            <a:pPr>
              <a:spcAft>
                <a:spcPts val="100"/>
              </a:spcAft>
              <a:defRPr sz="900">
                <a:solidFill>
                  <a:srgbClr val="FFFFFF"/>
                </a:solidFill>
              </a:defRPr>
            </a:pPr>
            <a:r>
              <a:t>.MARIO_INTELLIGENCE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75945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1567F"/>
                </a:solidFill>
              </a:rPr>
              <a:t>Built with ✨ Cortex Code · Snowflake Solutions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nowflake 2022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3DA8E5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nowflake 2022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3DA8E5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nowflake 2022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3DA8E5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